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6" r:id="rId1"/>
  </p:sldMasterIdLst>
  <p:notesMasterIdLst>
    <p:notesMasterId r:id="rId89"/>
  </p:notesMasterIdLst>
  <p:handoutMasterIdLst>
    <p:handoutMasterId r:id="rId90"/>
  </p:handoutMasterIdLst>
  <p:sldIdLst>
    <p:sldId id="673" r:id="rId2"/>
    <p:sldId id="776" r:id="rId3"/>
    <p:sldId id="800" r:id="rId4"/>
    <p:sldId id="804" r:id="rId5"/>
    <p:sldId id="801" r:id="rId6"/>
    <p:sldId id="802" r:id="rId7"/>
    <p:sldId id="803" r:id="rId8"/>
    <p:sldId id="805" r:id="rId9"/>
    <p:sldId id="806" r:id="rId10"/>
    <p:sldId id="807" r:id="rId11"/>
    <p:sldId id="808" r:id="rId12"/>
    <p:sldId id="809" r:id="rId13"/>
    <p:sldId id="810" r:id="rId14"/>
    <p:sldId id="868" r:id="rId15"/>
    <p:sldId id="811" r:id="rId16"/>
    <p:sldId id="812" r:id="rId17"/>
    <p:sldId id="815" r:id="rId18"/>
    <p:sldId id="867" r:id="rId19"/>
    <p:sldId id="813" r:id="rId20"/>
    <p:sldId id="866" r:id="rId21"/>
    <p:sldId id="885" r:id="rId22"/>
    <p:sldId id="823" r:id="rId23"/>
    <p:sldId id="820" r:id="rId24"/>
    <p:sldId id="821" r:id="rId25"/>
    <p:sldId id="767" r:id="rId26"/>
    <p:sldId id="769" r:id="rId27"/>
    <p:sldId id="816" r:id="rId28"/>
    <p:sldId id="817" r:id="rId29"/>
    <p:sldId id="818" r:id="rId30"/>
    <p:sldId id="828" r:id="rId31"/>
    <p:sldId id="824" r:id="rId32"/>
    <p:sldId id="819" r:id="rId33"/>
    <p:sldId id="825" r:id="rId34"/>
    <p:sldId id="826" r:id="rId35"/>
    <p:sldId id="827" r:id="rId36"/>
    <p:sldId id="829" r:id="rId37"/>
    <p:sldId id="830" r:id="rId38"/>
    <p:sldId id="831" r:id="rId39"/>
    <p:sldId id="832" r:id="rId40"/>
    <p:sldId id="836" r:id="rId41"/>
    <p:sldId id="837" r:id="rId42"/>
    <p:sldId id="838" r:id="rId43"/>
    <p:sldId id="869" r:id="rId44"/>
    <p:sldId id="870" r:id="rId45"/>
    <p:sldId id="871" r:id="rId46"/>
    <p:sldId id="872" r:id="rId47"/>
    <p:sldId id="883" r:id="rId48"/>
    <p:sldId id="839" r:id="rId49"/>
    <p:sldId id="843" r:id="rId50"/>
    <p:sldId id="841" r:id="rId51"/>
    <p:sldId id="842" r:id="rId52"/>
    <p:sldId id="840" r:id="rId53"/>
    <p:sldId id="844" r:id="rId54"/>
    <p:sldId id="845" r:id="rId55"/>
    <p:sldId id="846" r:id="rId56"/>
    <p:sldId id="847" r:id="rId57"/>
    <p:sldId id="873" r:id="rId58"/>
    <p:sldId id="874" r:id="rId59"/>
    <p:sldId id="875" r:id="rId60"/>
    <p:sldId id="876" r:id="rId61"/>
    <p:sldId id="877" r:id="rId62"/>
    <p:sldId id="878" r:id="rId63"/>
    <p:sldId id="879" r:id="rId64"/>
    <p:sldId id="880" r:id="rId65"/>
    <p:sldId id="881" r:id="rId66"/>
    <p:sldId id="882" r:id="rId67"/>
    <p:sldId id="884" r:id="rId68"/>
    <p:sldId id="770" r:id="rId69"/>
    <p:sldId id="771" r:id="rId70"/>
    <p:sldId id="773" r:id="rId71"/>
    <p:sldId id="852" r:id="rId72"/>
    <p:sldId id="853" r:id="rId73"/>
    <p:sldId id="854" r:id="rId74"/>
    <p:sldId id="855" r:id="rId75"/>
    <p:sldId id="848" r:id="rId76"/>
    <p:sldId id="851" r:id="rId77"/>
    <p:sldId id="849" r:id="rId78"/>
    <p:sldId id="850" r:id="rId79"/>
    <p:sldId id="856" r:id="rId80"/>
    <p:sldId id="857" r:id="rId81"/>
    <p:sldId id="861" r:id="rId82"/>
    <p:sldId id="858" r:id="rId83"/>
    <p:sldId id="859" r:id="rId84"/>
    <p:sldId id="862" r:id="rId85"/>
    <p:sldId id="863" r:id="rId86"/>
    <p:sldId id="864" r:id="rId87"/>
    <p:sldId id="860" r:id="rId88"/>
  </p:sldIdLst>
  <p:sldSz cx="12192000" cy="6858000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214" userDrawn="1">
          <p15:clr>
            <a:srgbClr val="A4A3A4"/>
          </p15:clr>
        </p15:guide>
        <p15:guide id="3" orient="horz" pos="596" userDrawn="1">
          <p15:clr>
            <a:srgbClr val="A4A3A4"/>
          </p15:clr>
        </p15:guide>
        <p15:guide id="4" orient="horz" pos="754" userDrawn="1">
          <p15:clr>
            <a:srgbClr val="A4A3A4"/>
          </p15:clr>
        </p15:guide>
        <p15:guide id="5" orient="horz" pos="3974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pos="7408" userDrawn="1">
          <p15:clr>
            <a:srgbClr val="A4A3A4"/>
          </p15:clr>
        </p15:guide>
        <p15:guide id="8" pos="272" userDrawn="1">
          <p15:clr>
            <a:srgbClr val="A4A3A4"/>
          </p15:clr>
        </p15:guide>
        <p15:guide id="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422">
          <p15:clr>
            <a:srgbClr val="A4A3A4"/>
          </p15:clr>
        </p15:guide>
        <p15:guide id="2" orient="horz" pos="5859">
          <p15:clr>
            <a:srgbClr val="A4A3A4"/>
          </p15:clr>
        </p15:guide>
        <p15:guide id="3" orient="horz" pos="591">
          <p15:clr>
            <a:srgbClr val="A4A3A4"/>
          </p15:clr>
        </p15:guide>
        <p15:guide id="4" orient="horz" pos="492">
          <p15:clr>
            <a:srgbClr val="A4A3A4"/>
          </p15:clr>
        </p15:guide>
        <p15:guide id="5" orient="horz" pos="3546">
          <p15:clr>
            <a:srgbClr val="A4A3A4"/>
          </p15:clr>
        </p15:guide>
        <p15:guide id="6" orient="horz" pos="1294">
          <p15:clr>
            <a:srgbClr val="A4A3A4"/>
          </p15:clr>
        </p15:guide>
        <p15:guide id="7" orient="horz">
          <p15:clr>
            <a:srgbClr val="A4A3A4"/>
          </p15:clr>
        </p15:guide>
        <p15:guide id="8" pos="432">
          <p15:clr>
            <a:srgbClr val="A4A3A4"/>
          </p15:clr>
        </p15:guide>
        <p15:guide id="9" pos="2142">
          <p15:clr>
            <a:srgbClr val="A4A3A4"/>
          </p15:clr>
        </p15:guide>
        <p15:guide id="10" pos="387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ephen Won" initials="SW" lastIdx="1" clrIdx="0">
    <p:extLst>
      <p:ext uri="{19B8F6BF-5375-455C-9EA6-DF929625EA0E}">
        <p15:presenceInfo xmlns:p15="http://schemas.microsoft.com/office/powerpoint/2012/main" userId="Stephen W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EDFD"/>
    <a:srgbClr val="66CCFF"/>
    <a:srgbClr val="FF0000"/>
    <a:srgbClr val="48AEF0"/>
    <a:srgbClr val="FFCCFF"/>
    <a:srgbClr val="E4E4E4"/>
    <a:srgbClr val="DDDDDD"/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21" autoAdjust="0"/>
    <p:restoredTop sz="90307" autoAdjust="0"/>
  </p:normalViewPr>
  <p:slideViewPr>
    <p:cSldViewPr>
      <p:cViewPr varScale="1">
        <p:scale>
          <a:sx n="84" d="100"/>
          <a:sy n="84" d="100"/>
        </p:scale>
        <p:origin x="102" y="354"/>
      </p:cViewPr>
      <p:guideLst>
        <p:guide orient="horz" pos="2160"/>
        <p:guide orient="horz" pos="214"/>
        <p:guide orient="horz" pos="596"/>
        <p:guide orient="horz" pos="754"/>
        <p:guide orient="horz" pos="3974"/>
        <p:guide pos="3840"/>
        <p:guide pos="7408"/>
        <p:guide pos="272"/>
        <p:guide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2958" y="90"/>
      </p:cViewPr>
      <p:guideLst>
        <p:guide orient="horz" pos="3422"/>
        <p:guide orient="horz" pos="5859"/>
        <p:guide orient="horz" pos="591"/>
        <p:guide orient="horz" pos="492"/>
        <p:guide orient="horz" pos="3546"/>
        <p:guide orient="horz" pos="1294"/>
        <p:guide orient="horz"/>
        <p:guide pos="432"/>
        <p:guide pos="2142"/>
        <p:guide pos="3872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handoutMaster" Target="handoutMasters/handoutMaster1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E1D627D-E5BE-4432-85F0-DB084F4CCF5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1A62DA-F140-4B88-8159-3D3D0170CA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30B13C93-A8DA-469A-97FB-D08B4F8C0901}" type="datetimeFigureOut">
              <a:rPr lang="ko-KR" altLang="en-US"/>
              <a:pPr>
                <a:defRPr/>
              </a:pPr>
              <a:t>2025-06-06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2516E7B-7D7A-4178-BCE9-5BF1C76FCD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7AD4DC-6C4B-4DE0-8D6B-0E20610D7CC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57B512B2-2723-42A5-856B-4C05824CA38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CDAA71DD-ABB1-4723-B7FE-26C18422517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518517" y="625272"/>
            <a:ext cx="5790073" cy="325792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0D1F1364-E433-4EA3-830E-7A498D42D97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18517" y="4171231"/>
            <a:ext cx="5790073" cy="4824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endParaRPr lang="en-US" altLang="ko-KR" noProof="0" dirty="0"/>
          </a:p>
        </p:txBody>
      </p:sp>
      <p:sp>
        <p:nvSpPr>
          <p:cNvPr id="3112" name="Rectangle 40">
            <a:extLst>
              <a:ext uri="{FF2B5EF4-FFF2-40B4-BE49-F238E27FC236}">
                <a16:creationId xmlns:a16="http://schemas.microsoft.com/office/drawing/2014/main" id="{EEE19562-EBD8-4B52-9F6F-9CE41C48D5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927225" y="9301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900">
                <a:latin typeface="나눔고딕" pitchFamily="2" charset="-127"/>
                <a:ea typeface="나눔고딕" pitchFamily="2" charset="-127"/>
              </a:defRPr>
            </a:lvl1pPr>
          </a:lstStyle>
          <a:p>
            <a:pPr>
              <a:defRPr/>
            </a:pPr>
            <a:fld id="{B3914529-BBB9-412B-AF9C-0B460D05AC7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165100" indent="-165100" algn="l" rtl="0" eaLnBrk="0" fontAlgn="base" hangingPunct="0">
      <a:lnSpc>
        <a:spcPct val="120000"/>
      </a:lnSpc>
      <a:spcBef>
        <a:spcPct val="50000"/>
      </a:spcBef>
      <a:spcAft>
        <a:spcPct val="0"/>
      </a:spcAft>
      <a:buFont typeface="나눔고딕" pitchFamily="2" charset="-127"/>
      <a:buChar char="■"/>
      <a:defRPr kumimoji="1" sz="1000" kern="1200">
        <a:solidFill>
          <a:schemeClr val="tx1"/>
        </a:solidFill>
        <a:latin typeface="나눔고딕" pitchFamily="50" charset="-127"/>
        <a:ea typeface="나눔고딕" pitchFamily="50" charset="-127"/>
        <a:cs typeface="+mn-cs"/>
      </a:defRPr>
    </a:lvl1pPr>
    <a:lvl2pPr marL="304800" indent="-138113" algn="l" rtl="0" eaLnBrk="0" fontAlgn="base" hangingPunct="0">
      <a:lnSpc>
        <a:spcPct val="120000"/>
      </a:lnSpc>
      <a:spcBef>
        <a:spcPct val="50000"/>
      </a:spcBef>
      <a:spcAft>
        <a:spcPct val="0"/>
      </a:spcAft>
      <a:buFont typeface="Wingdings" panose="05000000000000000000" pitchFamily="2" charset="2"/>
      <a:buChar char="§"/>
      <a:defRPr kumimoji="1" sz="900" kern="1200">
        <a:solidFill>
          <a:schemeClr val="tx1"/>
        </a:solidFill>
        <a:latin typeface="나눔고딕" pitchFamily="50" charset="-127"/>
        <a:ea typeface="나눔고딕" pitchFamily="50" charset="-127"/>
        <a:cs typeface="+mn-cs"/>
      </a:defRPr>
    </a:lvl2pPr>
    <a:lvl3pPr marL="419100" indent="-112713" algn="l" rtl="0" eaLnBrk="0" fontAlgn="base" hangingPunct="0">
      <a:lnSpc>
        <a:spcPct val="120000"/>
      </a:lnSpc>
      <a:spcBef>
        <a:spcPct val="50000"/>
      </a:spcBef>
      <a:spcAft>
        <a:spcPct val="0"/>
      </a:spcAft>
      <a:buFont typeface="맑은 고딕" panose="020B0503020000020004" pitchFamily="50" charset="-127"/>
      <a:buChar char="–"/>
      <a:defRPr kumimoji="1" sz="900" kern="1200">
        <a:solidFill>
          <a:schemeClr val="tx1"/>
        </a:solidFill>
        <a:latin typeface="나눔고딕" pitchFamily="50" charset="-127"/>
        <a:ea typeface="나눔고딕" pitchFamily="50" charset="-127"/>
        <a:cs typeface="+mn-cs"/>
      </a:defRPr>
    </a:lvl3pPr>
    <a:lvl4pPr marL="1600200" indent="-228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나눔고딕" pitchFamily="50" charset="-127"/>
        <a:ea typeface="나눔고딕" pitchFamily="50" charset="-127"/>
        <a:cs typeface="+mn-cs"/>
      </a:defRPr>
    </a:lvl4pPr>
    <a:lvl5pPr marL="2057400" indent="-228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나눔고딕" pitchFamily="50" charset="-127"/>
        <a:ea typeface="나눔고딕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19113" y="625475"/>
            <a:ext cx="5789612" cy="32575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C9527A2-B90E-4F2B-9E69-D3D0B1A2FB05}" type="slidenum">
              <a:rPr lang="en-US" altLang="ko-KR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24445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19113" y="625475"/>
            <a:ext cx="5789612" cy="32575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3914529-BBB9-412B-AF9C-0B460D05AC7F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49128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19113" y="625475"/>
            <a:ext cx="5789612" cy="32575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3914529-BBB9-412B-AF9C-0B460D05AC7F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91383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19113" y="625475"/>
            <a:ext cx="5789612" cy="32575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3914529-BBB9-412B-AF9C-0B460D05AC7F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903430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19113" y="625475"/>
            <a:ext cx="5789612" cy="32575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3914529-BBB9-412B-AF9C-0B460D05AC7F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97642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19113" y="625475"/>
            <a:ext cx="5789612" cy="32575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3914529-BBB9-412B-AF9C-0B460D05AC7F}" type="slidenum">
              <a:rPr lang="en-US" altLang="ko-KR" smtClean="0"/>
              <a:pPr>
                <a:defRPr/>
              </a:pPr>
              <a:t>23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18862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19113" y="625475"/>
            <a:ext cx="5789612" cy="32575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3914529-BBB9-412B-AF9C-0B460D05AC7F}" type="slidenum">
              <a:rPr lang="en-US" altLang="ko-KR" smtClean="0"/>
              <a:pPr>
                <a:defRPr/>
              </a:pPr>
              <a:t>25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063823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19113" y="625475"/>
            <a:ext cx="5789612" cy="32575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3914529-BBB9-412B-AF9C-0B460D05AC7F}" type="slidenum">
              <a:rPr lang="en-US" altLang="ko-KR" smtClean="0"/>
              <a:pPr>
                <a:defRPr/>
              </a:pPr>
              <a:t>26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207689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19113" y="625475"/>
            <a:ext cx="5789612" cy="32575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3914529-BBB9-412B-AF9C-0B460D05AC7F}" type="slidenum">
              <a:rPr lang="en-US" altLang="ko-KR" smtClean="0"/>
              <a:pPr>
                <a:defRPr/>
              </a:pPr>
              <a:t>27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800284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19113" y="625475"/>
            <a:ext cx="5789612" cy="32575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3914529-BBB9-412B-AF9C-0B460D05AC7F}" type="slidenum">
              <a:rPr lang="en-US" altLang="ko-KR" smtClean="0"/>
              <a:pPr>
                <a:defRPr/>
              </a:pPr>
              <a:t>35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789613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19113" y="625475"/>
            <a:ext cx="5789612" cy="32575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3914529-BBB9-412B-AF9C-0B460D05AC7F}" type="slidenum">
              <a:rPr lang="en-US" altLang="ko-KR" smtClean="0"/>
              <a:pPr>
                <a:defRPr/>
              </a:pPr>
              <a:t>64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254054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19113" y="625475"/>
            <a:ext cx="5789612" cy="32575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3914529-BBB9-412B-AF9C-0B460D05AC7F}" type="slidenum">
              <a:rPr lang="en-US" altLang="ko-KR" smtClean="0"/>
              <a:pPr>
                <a:defRPr/>
              </a:pPr>
              <a:t>68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582527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19113" y="625475"/>
            <a:ext cx="5789612" cy="32575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3914529-BBB9-412B-AF9C-0B460D05AC7F}" type="slidenum">
              <a:rPr lang="en-US" altLang="ko-KR" smtClean="0"/>
              <a:pPr>
                <a:defRPr/>
              </a:pPr>
              <a:t>69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611275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19113" y="625475"/>
            <a:ext cx="5789612" cy="32575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3914529-BBB9-412B-AF9C-0B460D05AC7F}" type="slidenum">
              <a:rPr lang="en-US" altLang="ko-KR" smtClean="0"/>
              <a:pPr>
                <a:defRPr/>
              </a:pPr>
              <a:t>81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3123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60BEEFB-304B-46B7-A2AB-6E4C0D10BD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31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7348" y="136524"/>
            <a:ext cx="10972800" cy="592177"/>
          </a:xfrm>
          <a:prstGeom prst="rect">
            <a:avLst/>
          </a:prstGeom>
        </p:spPr>
        <p:txBody>
          <a:bodyPr/>
          <a:lstStyle>
            <a:lvl1pPr algn="l">
              <a:defRPr sz="2800">
                <a:latin typeface="휴먼모음T" panose="02030504000101010101" pitchFamily="18" charset="-127"/>
                <a:ea typeface="휴먼모음T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6105" y="1016732"/>
            <a:ext cx="11748548" cy="5472608"/>
          </a:xfrm>
          <a:prstGeom prst="rect">
            <a:avLst/>
          </a:prstGeom>
        </p:spPr>
        <p:txBody>
          <a:bodyPr/>
          <a:lstStyle>
            <a:lvl1pPr marL="257175" indent="-257175">
              <a:buFont typeface="Wingdings" panose="05000000000000000000" pitchFamily="2" charset="2"/>
              <a:buChar char="v"/>
              <a:defRPr>
                <a:latin typeface="한컴산뜻돋움" panose="02000000000000000000" pitchFamily="2" charset="-127"/>
                <a:ea typeface="한컴산뜻돋움" panose="02000000000000000000" pitchFamily="2" charset="-127"/>
              </a:defRPr>
            </a:lvl1pPr>
            <a:lvl2pPr marL="557213" indent="-214313">
              <a:buFont typeface="Wingdings" panose="05000000000000000000" pitchFamily="2" charset="2"/>
              <a:buChar char="§"/>
              <a:defRPr>
                <a:latin typeface="한컴산뜻돋움" panose="02000000000000000000" pitchFamily="2" charset="-127"/>
                <a:ea typeface="한컴산뜻돋움" panose="02000000000000000000" pitchFamily="2" charset="-127"/>
              </a:defRPr>
            </a:lvl2pPr>
            <a:lvl3pPr>
              <a:defRPr>
                <a:latin typeface="한컴산뜻돋움" panose="02000000000000000000" pitchFamily="2" charset="-127"/>
                <a:ea typeface="한컴산뜻돋움" panose="02000000000000000000" pitchFamily="2" charset="-127"/>
              </a:defRPr>
            </a:lvl3pPr>
            <a:lvl4pPr>
              <a:defRPr>
                <a:latin typeface="한컴산뜻돋움" panose="02000000000000000000" pitchFamily="2" charset="-127"/>
                <a:ea typeface="한컴산뜻돋움" panose="02000000000000000000" pitchFamily="2" charset="-127"/>
              </a:defRPr>
            </a:lvl4pPr>
            <a:lvl5pPr>
              <a:defRPr>
                <a:latin typeface="한컴산뜻돋움" panose="02000000000000000000" pitchFamily="2" charset="-127"/>
                <a:ea typeface="한컴산뜻돋움" panose="02000000000000000000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027328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:\은승연\2017. 04. 24_4차산업혁명과 에듀테크_마케팅그룹_강동식\PSD\표지최종조정'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3"/>
            <a:ext cx="12190045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0852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은승연\2017. 04. 24_4차산업혁명과 에듀테크_마케팅그룹_강동식\PSD\N\목차_오렌지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004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 userDrawn="1"/>
        </p:nvSpPr>
        <p:spPr>
          <a:xfrm>
            <a:off x="1120330" y="1672185"/>
            <a:ext cx="5739479" cy="611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ko-KR" sz="3375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  <a:endParaRPr lang="ko-KR" altLang="en-US" sz="3375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4E8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63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은승연\2017. 04. 24_4차산업혁명과 에듀테크_마케팅그룹_강동식\PSD\N\간지_오렌지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3"/>
            <a:ext cx="12190045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4253D5-7A04-45F1-AAF2-6548CF1AF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708" y="800708"/>
            <a:ext cx="8424936" cy="5472608"/>
          </a:xfrm>
          <a:prstGeom prst="rect">
            <a:avLst/>
          </a:prstGeom>
        </p:spPr>
        <p:txBody>
          <a:bodyPr/>
          <a:lstStyle>
            <a:lvl1pPr marL="257175" indent="-257175">
              <a:buFont typeface="Wingdings" panose="05000000000000000000" pitchFamily="2" charset="2"/>
              <a:buChar char="v"/>
              <a:defRPr>
                <a:latin typeface="한컴산뜻돋움" panose="02000000000000000000" pitchFamily="2" charset="-127"/>
                <a:ea typeface="한컴산뜻돋움" panose="02000000000000000000" pitchFamily="2" charset="-127"/>
              </a:defRPr>
            </a:lvl1pPr>
            <a:lvl2pPr marL="557213" indent="-214313">
              <a:buFont typeface="Wingdings" panose="05000000000000000000" pitchFamily="2" charset="2"/>
              <a:buChar char="§"/>
              <a:defRPr>
                <a:latin typeface="한컴산뜻돋움" panose="02000000000000000000" pitchFamily="2" charset="-127"/>
                <a:ea typeface="한컴산뜻돋움" panose="02000000000000000000" pitchFamily="2" charset="-127"/>
              </a:defRPr>
            </a:lvl2pPr>
            <a:lvl3pPr>
              <a:defRPr>
                <a:latin typeface="한컴산뜻돋움" panose="02000000000000000000" pitchFamily="2" charset="-127"/>
                <a:ea typeface="한컴산뜻돋움" panose="02000000000000000000" pitchFamily="2" charset="-127"/>
              </a:defRPr>
            </a:lvl3pPr>
            <a:lvl4pPr>
              <a:defRPr>
                <a:latin typeface="한컴산뜻돋움" panose="02000000000000000000" pitchFamily="2" charset="-127"/>
                <a:ea typeface="한컴산뜻돋움" panose="02000000000000000000" pitchFamily="2" charset="-127"/>
              </a:defRPr>
            </a:lvl4pPr>
            <a:lvl5pPr>
              <a:defRPr>
                <a:latin typeface="한컴산뜻돋움" panose="02000000000000000000" pitchFamily="2" charset="-127"/>
                <a:ea typeface="한컴산뜻돋움" panose="02000000000000000000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649AFC-1707-418C-9B3C-411380B149E1}"/>
              </a:ext>
            </a:extLst>
          </p:cNvPr>
          <p:cNvSpPr txBox="1"/>
          <p:nvPr userDrawn="1"/>
        </p:nvSpPr>
        <p:spPr>
          <a:xfrm>
            <a:off x="119337" y="800708"/>
            <a:ext cx="2844315" cy="611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ko-KR" sz="3375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Arial" panose="020B0604020202020204" pitchFamily="34" charset="0"/>
              </a:rPr>
              <a:t>Contents</a:t>
            </a:r>
            <a:endParaRPr lang="ko-KR" altLang="en-US" sz="3375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4E8E">
                  <a:lumMod val="50000"/>
                </a:srgbClr>
              </a:solidFill>
              <a:latin typeface="휴먼모음T" panose="02030504000101010101" pitchFamily="18" charset="-127"/>
              <a:ea typeface="휴먼모음T" panose="02030504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356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2BE8EF8B-81E6-4109-8A9E-EFE4817C71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163"/>
          <a:stretch/>
        </p:blipFill>
        <p:spPr>
          <a:xfrm>
            <a:off x="1" y="1"/>
            <a:ext cx="12192000" cy="818714"/>
          </a:xfrm>
          <a:prstGeom prst="rect">
            <a:avLst/>
          </a:prstGeom>
        </p:spPr>
      </p:pic>
      <p:sp>
        <p:nvSpPr>
          <p:cNvPr id="13" name="Rectangle 17">
            <a:extLst>
              <a:ext uri="{FF2B5EF4-FFF2-40B4-BE49-F238E27FC236}">
                <a16:creationId xmlns:a16="http://schemas.microsoft.com/office/drawing/2014/main" id="{1F9569F2-EF20-4E0A-93FA-61CD60ACDAB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19961" y="6630149"/>
            <a:ext cx="352075" cy="153835"/>
          </a:xfrm>
          <a:prstGeom prst="rect">
            <a:avLst/>
          </a:prstGeom>
          <a:noFill/>
          <a:effectLst/>
        </p:spPr>
        <p:txBody>
          <a:bodyPr vert="horz" wrap="none" lIns="0" tIns="0" rIns="0" bIns="0" rtlCol="0" anchor="ctr">
            <a:noAutofit/>
          </a:bodyPr>
          <a:lstStyle/>
          <a:p>
            <a:pPr algn="ctr">
              <a:defRPr/>
            </a:pPr>
            <a:r>
              <a:rPr lang="en-US" altLang="ko-KR" sz="6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fld id="{87EC810E-F784-4439-A0DB-2C7343AB6795}" type="slidenum">
              <a:rPr lang="en-US" altLang="ko-KR" sz="60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‹#›</a:t>
            </a:fld>
            <a:endParaRPr lang="en-US" altLang="ko-KR" sz="60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CE71CA7-BBAB-4113-8B4B-E9EED0B50699}"/>
              </a:ext>
            </a:extLst>
          </p:cNvPr>
          <p:cNvSpPr/>
          <p:nvPr userDrawn="1"/>
        </p:nvSpPr>
        <p:spPr>
          <a:xfrm>
            <a:off x="-1" y="-3001"/>
            <a:ext cx="12192000" cy="54000"/>
          </a:xfrm>
          <a:prstGeom prst="rect">
            <a:avLst/>
          </a:prstGeom>
          <a:solidFill>
            <a:srgbClr val="FC89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295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7" r:id="rId1"/>
    <p:sldLayoutId id="2147484058" r:id="rId2"/>
    <p:sldLayoutId id="2147484059" r:id="rId3"/>
    <p:sldLayoutId id="2147484060" r:id="rId4"/>
    <p:sldLayoutId id="2147484061" r:id="rId5"/>
  </p:sldLayoutIdLst>
  <p:txStyles>
    <p:titleStyle>
      <a:lvl1pPr algn="ctr" defTabSz="685800" rtl="0" eaLnBrk="1" latinLnBrk="1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A2CF0F5-739C-4E0C-88DF-403B8342E6FB}"/>
              </a:ext>
            </a:extLst>
          </p:cNvPr>
          <p:cNvSpPr txBox="1"/>
          <p:nvPr/>
        </p:nvSpPr>
        <p:spPr>
          <a:xfrm>
            <a:off x="5246025" y="1137549"/>
            <a:ext cx="67390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000" b="1" dirty="0" err="1">
                <a:solidFill>
                  <a:schemeClr val="bg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k8s</a:t>
            </a:r>
            <a:r>
              <a:rPr lang="ko-KR" altLang="en-US" sz="4000" b="1" dirty="0">
                <a:solidFill>
                  <a:schemeClr val="bg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 기반 </a:t>
            </a:r>
            <a:r>
              <a:rPr lang="en-US" altLang="ko-KR" sz="4000" b="1" dirty="0">
                <a:solidFill>
                  <a:schemeClr val="bg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CI/CD </a:t>
            </a:r>
            <a:r>
              <a:rPr lang="ko-KR" altLang="en-US" sz="4000" b="1" dirty="0">
                <a:solidFill>
                  <a:schemeClr val="bg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자동화</a:t>
            </a:r>
            <a:endParaRPr lang="en-US" altLang="ko-KR" sz="4000" b="1" dirty="0">
              <a:solidFill>
                <a:schemeClr val="bg1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( </a:t>
            </a:r>
            <a:r>
              <a:rPr lang="ko-KR" altLang="en-US" sz="3200" b="1" dirty="0">
                <a:solidFill>
                  <a:schemeClr val="bg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내 </a:t>
            </a:r>
            <a:r>
              <a:rPr lang="en-US" altLang="ko-KR" sz="3200" b="1" dirty="0">
                <a:solidFill>
                  <a:schemeClr val="bg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PC</a:t>
            </a:r>
            <a:r>
              <a:rPr lang="ko-KR" altLang="en-US" sz="3200" b="1" dirty="0">
                <a:solidFill>
                  <a:schemeClr val="bg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로 실습하는 </a:t>
            </a:r>
            <a:r>
              <a:rPr lang="en-US" altLang="ko-KR" sz="3200" b="1">
                <a:solidFill>
                  <a:schemeClr val="bg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)</a:t>
            </a:r>
            <a:endParaRPr lang="en-US" altLang="ko-KR" sz="3200" b="1" dirty="0">
              <a:solidFill>
                <a:schemeClr val="bg1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77F155-1118-43AF-817C-3E1A61165C6D}"/>
              </a:ext>
            </a:extLst>
          </p:cNvPr>
          <p:cNvSpPr txBox="1"/>
          <p:nvPr/>
        </p:nvSpPr>
        <p:spPr>
          <a:xfrm>
            <a:off x="5124410" y="2515427"/>
            <a:ext cx="67390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3600" dirty="0">
                <a:solidFill>
                  <a:schemeClr val="bg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10. CD</a:t>
            </a:r>
            <a:r>
              <a:rPr lang="ko-KR" altLang="en-US" sz="3600" dirty="0">
                <a:solidFill>
                  <a:schemeClr val="bg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를 위한 </a:t>
            </a:r>
            <a:r>
              <a:rPr lang="en-US" altLang="ko-KR" sz="3600" dirty="0" err="1">
                <a:solidFill>
                  <a:schemeClr val="bg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k8s</a:t>
            </a:r>
            <a:r>
              <a:rPr lang="en-US" altLang="ko-KR" sz="3600" dirty="0">
                <a:solidFill>
                  <a:schemeClr val="bg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- </a:t>
            </a:r>
            <a:r>
              <a:rPr lang="en-US" altLang="ko-KR" sz="3600" dirty="0" err="1">
                <a:solidFill>
                  <a:schemeClr val="bg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Part3</a:t>
            </a:r>
            <a:endParaRPr lang="en-US" altLang="ko-KR" sz="3600" dirty="0">
              <a:solidFill>
                <a:schemeClr val="bg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2182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7E5240-E381-772D-01A4-54E2F479C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리소스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3916C1-65D2-34C7-86B5-DCDFD68DF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Pod </a:t>
            </a:r>
            <a:r>
              <a:rPr lang="ko-KR" altLang="en-US" dirty="0"/>
              <a:t>리소스 관리 개요</a:t>
            </a:r>
            <a:endParaRPr lang="en-US" altLang="ko-KR" dirty="0"/>
          </a:p>
          <a:p>
            <a:r>
              <a:rPr lang="en-US" altLang="ko-KR" dirty="0"/>
              <a:t>limits</a:t>
            </a:r>
            <a:r>
              <a:rPr lang="ko-KR" altLang="en-US" dirty="0"/>
              <a:t>와 </a:t>
            </a:r>
            <a:r>
              <a:rPr lang="en-US" altLang="ko-KR" dirty="0"/>
              <a:t>requests</a:t>
            </a:r>
          </a:p>
          <a:p>
            <a:r>
              <a:rPr lang="en-US" altLang="ko-KR" dirty="0"/>
              <a:t>QoS(Quality of Service)</a:t>
            </a:r>
          </a:p>
          <a:p>
            <a:r>
              <a:rPr lang="en-US" altLang="ko-KR" dirty="0"/>
              <a:t>CPU</a:t>
            </a:r>
            <a:r>
              <a:rPr lang="ko-KR" altLang="en-US" dirty="0"/>
              <a:t>와 메모리에 대한 리소스 관리 </a:t>
            </a:r>
            <a:endParaRPr lang="en-US" altLang="ko-KR" dirty="0"/>
          </a:p>
          <a:p>
            <a:r>
              <a:rPr lang="en-US" altLang="ko-KR" dirty="0" err="1"/>
              <a:t>ResourceQuota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1973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90CDB9-D37B-4C70-CA18-7A5EDE565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1.1 Pod</a:t>
            </a:r>
            <a:r>
              <a:rPr lang="ko-KR" altLang="en-US" dirty="0"/>
              <a:t> 리소스 관리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528D62-9ABB-8A64-2379-3FF8293CF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Pod, Container</a:t>
            </a:r>
            <a:r>
              <a:rPr lang="ko-KR" altLang="en-US" dirty="0"/>
              <a:t>의 리소스 관리를 하지 않으면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Container</a:t>
            </a:r>
            <a:r>
              <a:rPr lang="ko-KR" altLang="en-US" dirty="0"/>
              <a:t>는 </a:t>
            </a:r>
            <a:r>
              <a:rPr lang="en-US" altLang="ko-KR" dirty="0"/>
              <a:t>Worker Node</a:t>
            </a:r>
            <a:r>
              <a:rPr lang="ko-KR" altLang="en-US" dirty="0"/>
              <a:t>의 </a:t>
            </a:r>
            <a:r>
              <a:rPr lang="en-US" altLang="ko-KR" dirty="0"/>
              <a:t>CPU, Memory</a:t>
            </a:r>
            <a:r>
              <a:rPr lang="ko-KR" altLang="en-US" dirty="0"/>
              <a:t>를 최대로 사용할 수 있음</a:t>
            </a:r>
            <a:endParaRPr lang="en-US" altLang="ko-KR" dirty="0"/>
          </a:p>
          <a:p>
            <a:pPr marL="342900" lvl="1" indent="0">
              <a:buNone/>
            </a:pPr>
            <a:r>
              <a:rPr lang="en-US" altLang="ko-KR" dirty="0"/>
              <a:t>	--&gt; Worker Node</a:t>
            </a:r>
            <a:r>
              <a:rPr lang="ko-KR" altLang="en-US" dirty="0"/>
              <a:t>의 </a:t>
            </a:r>
            <a:r>
              <a:rPr lang="en-US" altLang="ko-KR" dirty="0"/>
              <a:t>Resource</a:t>
            </a:r>
            <a:r>
              <a:rPr lang="ko-KR" altLang="en-US" dirty="0"/>
              <a:t>가 고갈될 수 있음</a:t>
            </a:r>
            <a:endParaRPr lang="en-US" altLang="ko-KR" dirty="0"/>
          </a:p>
          <a:p>
            <a:pPr lvl="1"/>
            <a:r>
              <a:rPr lang="ko-KR" altLang="en-US" dirty="0"/>
              <a:t>따라서  </a:t>
            </a:r>
            <a:r>
              <a:rPr lang="en-US" altLang="ko-KR" dirty="0"/>
              <a:t>Pod</a:t>
            </a:r>
            <a:r>
              <a:rPr lang="ko-KR" altLang="en-US" dirty="0"/>
              <a:t>의 리소스 사용량을 명시적으로 설정해야 함</a:t>
            </a:r>
            <a:endParaRPr lang="en-US" altLang="ko-KR" dirty="0"/>
          </a:p>
          <a:p>
            <a:r>
              <a:rPr lang="ko-KR" altLang="en-US" dirty="0"/>
              <a:t>설정하는 방법</a:t>
            </a:r>
            <a:endParaRPr lang="en-US" altLang="ko-KR" dirty="0"/>
          </a:p>
          <a:p>
            <a:pPr lvl="1"/>
            <a:r>
              <a:rPr lang="en-US" altLang="ko-KR" dirty="0"/>
              <a:t>CPU, Memory </a:t>
            </a:r>
            <a:r>
              <a:rPr lang="ko-KR" altLang="en-US" dirty="0"/>
              <a:t>에 대해 </a:t>
            </a:r>
            <a:r>
              <a:rPr lang="en-US" altLang="ko-KR" dirty="0"/>
              <a:t>Limit, Request</a:t>
            </a:r>
            <a:r>
              <a:rPr lang="ko-KR" altLang="en-US" dirty="0"/>
              <a:t>를 설정함</a:t>
            </a:r>
            <a:endParaRPr lang="en-US" altLang="ko-KR" dirty="0"/>
          </a:p>
          <a:p>
            <a:pPr lvl="1"/>
            <a:r>
              <a:rPr lang="en-US" altLang="ko-KR" dirty="0" err="1"/>
              <a:t>ResourceQuota</a:t>
            </a:r>
            <a:r>
              <a:rPr lang="en-US" altLang="ko-KR" dirty="0"/>
              <a:t>  </a:t>
            </a:r>
            <a:r>
              <a:rPr lang="ko-KR" altLang="en-US" dirty="0"/>
              <a:t>설정</a:t>
            </a:r>
            <a:endParaRPr lang="en-US" altLang="ko-KR" dirty="0"/>
          </a:p>
          <a:p>
            <a:pPr lvl="1"/>
            <a:r>
              <a:rPr lang="en-US" altLang="ko-KR" dirty="0" err="1"/>
              <a:t>LimitRange</a:t>
            </a:r>
            <a:r>
              <a:rPr lang="en-US" altLang="ko-KR" dirty="0"/>
              <a:t>  </a:t>
            </a:r>
            <a:r>
              <a:rPr lang="ko-KR" altLang="en-US" dirty="0"/>
              <a:t>설정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54032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C886A8-534C-0858-389B-C51D5B42F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k8s metric-server </a:t>
            </a:r>
            <a:r>
              <a:rPr lang="ko-KR" altLang="en-US" dirty="0"/>
              <a:t>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A84C36-BD6C-6F35-93D8-76DC90CEE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k8s</a:t>
            </a:r>
            <a:r>
              <a:rPr lang="ko-KR" altLang="en-US" dirty="0"/>
              <a:t> </a:t>
            </a:r>
            <a:r>
              <a:rPr lang="en-US" altLang="ko-KR" dirty="0"/>
              <a:t>metric server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 err="1"/>
              <a:t>k8s</a:t>
            </a:r>
            <a:r>
              <a:rPr lang="ko-KR" altLang="en-US" dirty="0"/>
              <a:t>의 </a:t>
            </a:r>
            <a:r>
              <a:rPr lang="en-US" altLang="ko-KR" dirty="0"/>
              <a:t>node, pod</a:t>
            </a:r>
            <a:r>
              <a:rPr lang="ko-KR" altLang="en-US" dirty="0"/>
              <a:t>가 리소스를 얼마나 사용하고 있는지를 확인할 수 있는 모니터링 도구</a:t>
            </a:r>
            <a:endParaRPr lang="en-US" altLang="ko-KR" dirty="0"/>
          </a:p>
          <a:p>
            <a:pPr lvl="1"/>
            <a:r>
              <a:rPr lang="en-US" altLang="ko-KR" dirty="0"/>
              <a:t>metric</a:t>
            </a:r>
            <a:r>
              <a:rPr lang="ko-KR" altLang="en-US" dirty="0"/>
              <a:t> </a:t>
            </a:r>
            <a:r>
              <a:rPr lang="en-US" altLang="ko-KR" dirty="0"/>
              <a:t>server </a:t>
            </a:r>
            <a:r>
              <a:rPr lang="ko-KR" altLang="en-US" dirty="0"/>
              <a:t>를 설치했다면 </a:t>
            </a:r>
            <a:r>
              <a:rPr lang="en-US" altLang="ko-KR" dirty="0" err="1"/>
              <a:t>kubectl</a:t>
            </a:r>
            <a:r>
              <a:rPr lang="en-US" altLang="ko-KR" dirty="0"/>
              <a:t> top node, </a:t>
            </a:r>
            <a:r>
              <a:rPr lang="en-US" altLang="ko-KR" dirty="0" err="1"/>
              <a:t>kubectl</a:t>
            </a:r>
            <a:r>
              <a:rPr lang="en-US" altLang="ko-KR" dirty="0"/>
              <a:t> top pod </a:t>
            </a:r>
            <a:r>
              <a:rPr lang="ko-KR" altLang="en-US" dirty="0"/>
              <a:t>명령어를 실행할 수 있음</a:t>
            </a:r>
            <a:endParaRPr lang="en-US" altLang="ko-KR" dirty="0"/>
          </a:p>
          <a:p>
            <a:r>
              <a:rPr lang="ko-KR" altLang="en-US" dirty="0"/>
              <a:t>설치 방법</a:t>
            </a:r>
            <a:endParaRPr lang="en-US" altLang="ko-KR" dirty="0"/>
          </a:p>
          <a:p>
            <a:pPr lvl="1"/>
            <a:r>
              <a:rPr lang="ko-KR" altLang="en-US" dirty="0"/>
              <a:t>설치 명령어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설치 후 확인해보면 실행이 정상적이지 않음</a:t>
            </a:r>
            <a:endParaRPr lang="en-US" altLang="ko-KR" dirty="0"/>
          </a:p>
          <a:p>
            <a:pPr lvl="1"/>
            <a:r>
              <a:rPr lang="ko-KR" altLang="en-US" dirty="0"/>
              <a:t>문제 원인 해결 </a:t>
            </a:r>
            <a:r>
              <a:rPr lang="en-US" altLang="ko-KR" dirty="0"/>
              <a:t>: metric-server</a:t>
            </a:r>
            <a:r>
              <a:rPr lang="ko-KR" altLang="en-US" dirty="0"/>
              <a:t>가 모든 노드의 유효한 </a:t>
            </a:r>
            <a:r>
              <a:rPr lang="en-US" altLang="ko-KR" dirty="0" err="1"/>
              <a:t>tls</a:t>
            </a:r>
            <a:r>
              <a:rPr lang="en-US" altLang="ko-KR" dirty="0"/>
              <a:t> </a:t>
            </a:r>
            <a:r>
              <a:rPr lang="ko-KR" altLang="en-US" dirty="0"/>
              <a:t>인증서를 확인할 수 없어서 발생한 문제</a:t>
            </a:r>
            <a:endParaRPr lang="en-US" altLang="ko-KR" dirty="0"/>
          </a:p>
          <a:p>
            <a:pPr lvl="1"/>
            <a:r>
              <a:rPr lang="ko-KR" altLang="en-US" dirty="0"/>
              <a:t>문제 해결 </a:t>
            </a:r>
            <a:r>
              <a:rPr lang="en-US" altLang="ko-KR" dirty="0"/>
              <a:t>: insecure-</a:t>
            </a:r>
            <a:r>
              <a:rPr lang="en-US" altLang="ko-KR" dirty="0" err="1"/>
              <a:t>tls</a:t>
            </a:r>
            <a:r>
              <a:rPr lang="en-US" altLang="ko-KR" dirty="0"/>
              <a:t> </a:t>
            </a:r>
            <a:r>
              <a:rPr lang="ko-KR" altLang="en-US" dirty="0"/>
              <a:t>를 허용함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F91CAC-E197-49B0-48D6-1527D5371FB0}"/>
              </a:ext>
            </a:extLst>
          </p:cNvPr>
          <p:cNvSpPr txBox="1"/>
          <p:nvPr/>
        </p:nvSpPr>
        <p:spPr>
          <a:xfrm>
            <a:off x="648154" y="3090446"/>
            <a:ext cx="11316499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apply -f https://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github.com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/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kubernetes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-sigs/metrics-server/releases/latest/download/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components.yaml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597C9B-D051-8C3B-583F-3C50704ACB2C}"/>
              </a:ext>
            </a:extLst>
          </p:cNvPr>
          <p:cNvSpPr txBox="1"/>
          <p:nvPr/>
        </p:nvSpPr>
        <p:spPr>
          <a:xfrm>
            <a:off x="839416" y="4610135"/>
            <a:ext cx="10981221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edit deployment</a:t>
            </a:r>
            <a:r>
              <a:rPr lang="ko-KR" altLang="en-US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-n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-system metrics-server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5B96A41-6073-B8EB-6416-536D6127DD9E}"/>
              </a:ext>
            </a:extLst>
          </p:cNvPr>
          <p:cNvGrpSpPr/>
          <p:nvPr/>
        </p:nvGrpSpPr>
        <p:grpSpPr>
          <a:xfrm>
            <a:off x="844483" y="5055906"/>
            <a:ext cx="6179695" cy="1433434"/>
            <a:chOff x="844483" y="5055906"/>
            <a:chExt cx="6179695" cy="143343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25BF179-1192-0AC6-B769-DE097FBC7F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4483" y="5055906"/>
              <a:ext cx="6179695" cy="1433434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4C3BD62-6B3E-4CE6-635A-15FB3335C7C8}"/>
                </a:ext>
              </a:extLst>
            </p:cNvPr>
            <p:cNvSpPr/>
            <p:nvPr/>
          </p:nvSpPr>
          <p:spPr>
            <a:xfrm>
              <a:off x="1595499" y="5819083"/>
              <a:ext cx="5347911" cy="202206"/>
            </a:xfrm>
            <a:prstGeom prst="rect">
              <a:avLst/>
            </a:prstGeom>
            <a:noFill/>
            <a:ln>
              <a:solidFill>
                <a:srgbClr val="FFFF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43942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3DCB11-5ED8-5B85-40FE-3DAEF329D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limits</a:t>
            </a:r>
            <a:r>
              <a:rPr lang="ko-KR" altLang="en-US" dirty="0"/>
              <a:t>와 </a:t>
            </a:r>
            <a:r>
              <a:rPr lang="en-US" altLang="ko-KR" dirty="0"/>
              <a:t>requests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CB1B4E-9873-1256-2416-419AE8677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개념</a:t>
            </a:r>
            <a:endParaRPr lang="en-US" altLang="ko-KR" dirty="0"/>
          </a:p>
          <a:p>
            <a:pPr lvl="1"/>
            <a:r>
              <a:rPr lang="en-US" altLang="ko-KR" dirty="0"/>
              <a:t>limits : </a:t>
            </a:r>
            <a:r>
              <a:rPr lang="ko-KR" altLang="en-US" dirty="0"/>
              <a:t>컨테이너에게 허용할 최대 리소스</a:t>
            </a:r>
            <a:r>
              <a:rPr lang="en-US" altLang="ko-KR" dirty="0"/>
              <a:t>(CPU, Memory)</a:t>
            </a:r>
            <a:r>
              <a:rPr lang="ko-KR" altLang="en-US" dirty="0"/>
              <a:t> 용량 제한 값</a:t>
            </a:r>
            <a:endParaRPr lang="en-US" altLang="ko-KR" dirty="0"/>
          </a:p>
          <a:p>
            <a:pPr lvl="1"/>
            <a:r>
              <a:rPr lang="en-US" altLang="ko-KR" dirty="0"/>
              <a:t>requests : </a:t>
            </a:r>
            <a:r>
              <a:rPr lang="ko-KR" altLang="en-US" dirty="0"/>
              <a:t>컨테이너에게 보장해야 할 리소스 용량</a:t>
            </a:r>
            <a:endParaRPr lang="en-US" altLang="ko-KR" dirty="0"/>
          </a:p>
          <a:p>
            <a:r>
              <a:rPr lang="en-US" altLang="ko-KR" dirty="0"/>
              <a:t> requests </a:t>
            </a:r>
            <a:r>
              <a:rPr lang="ko-KR" altLang="en-US" dirty="0"/>
              <a:t>예제 </a:t>
            </a:r>
            <a:r>
              <a:rPr lang="en-US" altLang="ko-KR" dirty="0"/>
              <a:t>: </a:t>
            </a:r>
            <a:r>
              <a:rPr lang="en-US" altLang="ko-KR" dirty="0" err="1"/>
              <a:t>resource1.yaml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16D857-8B48-6E49-604E-AD92508B51E0}"/>
              </a:ext>
            </a:extLst>
          </p:cNvPr>
          <p:cNvSpPr txBox="1"/>
          <p:nvPr/>
        </p:nvSpPr>
        <p:spPr>
          <a:xfrm>
            <a:off x="673188" y="2744924"/>
            <a:ext cx="5040560" cy="332398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apiVersion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 apps/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v1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kind: Deployment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metadata: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limit1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namespace: default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spec: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replicas: 2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selector: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matchLabels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app: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template: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metadata: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name: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labels: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app: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902AAC-B285-565D-6C16-B043D4E718C0}"/>
              </a:ext>
            </a:extLst>
          </p:cNvPr>
          <p:cNvSpPr txBox="1"/>
          <p:nvPr/>
        </p:nvSpPr>
        <p:spPr>
          <a:xfrm>
            <a:off x="5915980" y="2744924"/>
            <a:ext cx="5040560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spec: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containers: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- name: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-slim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image: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stepanowon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/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nodeapp-slim:1.0.0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ports: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-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containerPort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 8080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resources: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limits: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memory: "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100Mi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"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cpu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 "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32m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"</a:t>
            </a:r>
          </a:p>
          <a:p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메모리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 - Mi : 1000 Mi byte --&gt; 1 Gi Byte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 - M :   1024 MB --&gt; 1 GB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CPU 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 - m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milli core,  1000 milli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core --&gt; 1 (CPU)</a:t>
            </a:r>
          </a:p>
        </p:txBody>
      </p:sp>
    </p:spTree>
    <p:extLst>
      <p:ext uri="{BB962C8B-B14F-4D97-AF65-F5344CB8AC3E}">
        <p14:creationId xmlns:p14="http://schemas.microsoft.com/office/powerpoint/2010/main" val="3927512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5EDFB5-9367-22C0-3622-A901F4B14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limits</a:t>
            </a:r>
            <a:r>
              <a:rPr lang="ko-KR" altLang="en-US" dirty="0"/>
              <a:t>와 </a:t>
            </a:r>
            <a:r>
              <a:rPr lang="en-US" altLang="ko-KR" dirty="0"/>
              <a:t>requests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585CB8-FB89-9B72-2506-018CFC3F7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requests </a:t>
            </a:r>
            <a:r>
              <a:rPr lang="ko-KR" altLang="en-US" dirty="0"/>
              <a:t>예제 </a:t>
            </a:r>
            <a:r>
              <a:rPr lang="en-US" altLang="ko-KR" dirty="0"/>
              <a:t>: </a:t>
            </a:r>
            <a:r>
              <a:rPr lang="en-US" altLang="ko-KR" dirty="0" err="1"/>
              <a:t>resource1.yaml</a:t>
            </a:r>
            <a:r>
              <a:rPr lang="en-US" altLang="ko-KR" dirty="0"/>
              <a:t> (</a:t>
            </a:r>
            <a:r>
              <a:rPr lang="ko-KR" altLang="en-US" dirty="0"/>
              <a:t>이어서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 err="1"/>
              <a:t>LoadBalancer</a:t>
            </a:r>
            <a:r>
              <a:rPr lang="ko-KR" altLang="en-US" dirty="0"/>
              <a:t> 생성 </a:t>
            </a:r>
            <a:r>
              <a:rPr lang="en-US" altLang="ko-KR" dirty="0"/>
              <a:t>: </a:t>
            </a:r>
            <a:r>
              <a:rPr lang="en-US" altLang="ko-KR" dirty="0" err="1"/>
              <a:t>kubectl</a:t>
            </a:r>
            <a:r>
              <a:rPr lang="en-US" altLang="ko-KR" dirty="0"/>
              <a:t> apply -f </a:t>
            </a:r>
            <a:r>
              <a:rPr lang="en-US" altLang="ko-KR" dirty="0" err="1"/>
              <a:t>nodeapp-lb.yaml</a:t>
            </a:r>
            <a:endParaRPr lang="en-US" altLang="ko-KR" dirty="0"/>
          </a:p>
          <a:p>
            <a:pPr lvl="2"/>
            <a:r>
              <a:rPr lang="en-US" altLang="ko-KR" dirty="0"/>
              <a:t>External IP </a:t>
            </a:r>
            <a:r>
              <a:rPr lang="ko-KR" altLang="en-US" dirty="0"/>
              <a:t>확인 </a:t>
            </a:r>
            <a:r>
              <a:rPr lang="en-US" altLang="ko-KR" dirty="0"/>
              <a:t>: </a:t>
            </a:r>
            <a:r>
              <a:rPr lang="ko-KR" altLang="en-US" dirty="0"/>
              <a:t>예시</a:t>
            </a:r>
            <a:r>
              <a:rPr lang="en-US" altLang="ko-KR" dirty="0"/>
              <a:t>) 192.168.56.51</a:t>
            </a:r>
          </a:p>
          <a:p>
            <a:pPr lvl="1"/>
            <a:r>
              <a:rPr lang="en-US" altLang="ko-KR" dirty="0"/>
              <a:t>Deployment </a:t>
            </a:r>
            <a:r>
              <a:rPr lang="ko-KR" altLang="en-US" dirty="0"/>
              <a:t>생성 </a:t>
            </a:r>
            <a:r>
              <a:rPr lang="en-US" altLang="ko-KR" dirty="0"/>
              <a:t>: </a:t>
            </a:r>
            <a:r>
              <a:rPr lang="en-US" altLang="ko-KR" dirty="0" err="1"/>
              <a:t>kubectl</a:t>
            </a:r>
            <a:r>
              <a:rPr lang="en-US" altLang="ko-KR" dirty="0"/>
              <a:t> apply -f </a:t>
            </a:r>
            <a:r>
              <a:rPr lang="en-US" altLang="ko-KR" dirty="0" err="1"/>
              <a:t>resource1.yaml</a:t>
            </a:r>
            <a:endParaRPr lang="en-US" altLang="ko-KR" dirty="0"/>
          </a:p>
          <a:p>
            <a:pPr lvl="1"/>
            <a:r>
              <a:rPr lang="ko-KR" altLang="en-US" dirty="0"/>
              <a:t>생성된 리소스 확인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FB6CD6C-A6E2-1BFE-5726-BA0CEE694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420" y="3032956"/>
            <a:ext cx="8564170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618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451377-D53A-C58E-7DC5-7FC9A0BA1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limits</a:t>
            </a:r>
            <a:r>
              <a:rPr lang="ko-KR" altLang="en-US" dirty="0"/>
              <a:t>와 </a:t>
            </a:r>
            <a:r>
              <a:rPr lang="en-US" altLang="ko-KR" dirty="0"/>
              <a:t>requests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3F6E8B-EF83-4DA3-E935-2E9830A59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생성된 </a:t>
            </a:r>
            <a:r>
              <a:rPr lang="en-US" altLang="ko-KR" dirty="0"/>
              <a:t>Pod</a:t>
            </a:r>
            <a:r>
              <a:rPr lang="ko-KR" altLang="en-US" dirty="0"/>
              <a:t>의 </a:t>
            </a:r>
            <a:r>
              <a:rPr lang="en-US" altLang="ko-KR" dirty="0"/>
              <a:t>request, limit </a:t>
            </a:r>
            <a:r>
              <a:rPr lang="ko-KR" altLang="en-US" dirty="0"/>
              <a:t>확인</a:t>
            </a:r>
            <a:endParaRPr lang="en-US" altLang="ko-KR" dirty="0"/>
          </a:p>
          <a:p>
            <a:pPr lvl="1"/>
            <a:r>
              <a:rPr lang="en-US" altLang="ko-KR" dirty="0" err="1"/>
              <a:t>kubectl</a:t>
            </a:r>
            <a:r>
              <a:rPr lang="en-US" altLang="ko-KR" dirty="0"/>
              <a:t> describe pods </a:t>
            </a:r>
            <a:r>
              <a:rPr lang="ko-KR" altLang="en-US" dirty="0" err="1"/>
              <a:t>파드명</a:t>
            </a:r>
            <a:endParaRPr lang="en-US" altLang="ko-KR" dirty="0"/>
          </a:p>
          <a:p>
            <a:pPr lvl="1"/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Courier New" panose="02070309020205020404" pitchFamily="49" charset="0"/>
              </a:rPr>
              <a:t>custom </a:t>
            </a:r>
            <a:r>
              <a:rPr kumimoji="0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Courier New" panose="02070309020205020404" pitchFamily="49" charset="0"/>
              </a:rPr>
              <a:t>열로 조회</a:t>
            </a:r>
            <a:endParaRPr kumimoji="0" lang="ko-KR" altLang="ko-KR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en-US" altLang="ko-KR" b="1" u="sng" dirty="0"/>
              <a:t>limits</a:t>
            </a:r>
            <a:r>
              <a:rPr lang="ko-KR" altLang="en-US" b="1" u="sng" dirty="0"/>
              <a:t> 만을 설정하면 </a:t>
            </a:r>
            <a:r>
              <a:rPr lang="en-US" altLang="ko-KR" b="1" u="sng" dirty="0"/>
              <a:t>requests </a:t>
            </a:r>
            <a:r>
              <a:rPr lang="ko-KR" altLang="en-US" b="1" u="sng" dirty="0"/>
              <a:t>는 </a:t>
            </a:r>
            <a:r>
              <a:rPr lang="en-US" altLang="ko-KR" b="1" u="sng" dirty="0"/>
              <a:t>limits</a:t>
            </a:r>
            <a:r>
              <a:rPr lang="ko-KR" altLang="en-US" b="1" u="sng" dirty="0"/>
              <a:t>와 동일한 값으로 자동 설정됨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4DF631-3867-39BB-F5AD-6B1EE0F48792}"/>
              </a:ext>
            </a:extLst>
          </p:cNvPr>
          <p:cNvSpPr txBox="1"/>
          <p:nvPr/>
        </p:nvSpPr>
        <p:spPr>
          <a:xfrm>
            <a:off x="875420" y="2348880"/>
            <a:ext cx="7848872" cy="135421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kubectl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get pods -o custom-columns="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Name:metadata.name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,\</a:t>
            </a:r>
          </a:p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Requet-CPU:spec.containers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[*].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resources.requests.cpu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,\</a:t>
            </a:r>
          </a:p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Request-MEM:spec.containers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[*].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resources.requests.memory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,\</a:t>
            </a:r>
          </a:p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Limit-CPU:spec.containers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[*].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resources.limits.cpu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,\</a:t>
            </a:r>
          </a:p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Limit-MEM:spec.containers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[*].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resources.limits.memory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 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612AE9C-145A-02E5-2A7F-CDE132EB8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420" y="3861048"/>
            <a:ext cx="10844229" cy="190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622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1F8D65-099F-31ED-DD87-330917A38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limits</a:t>
            </a:r>
            <a:r>
              <a:rPr lang="ko-KR" altLang="en-US" dirty="0"/>
              <a:t>와 </a:t>
            </a:r>
            <a:r>
              <a:rPr lang="en-US" altLang="ko-KR" dirty="0"/>
              <a:t>requests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B3E877-0D3A-E0A9-26A0-552622280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실제 리소스 사용량 확인 </a:t>
            </a:r>
            <a:r>
              <a:rPr lang="en-US" altLang="ko-KR" dirty="0"/>
              <a:t>: </a:t>
            </a:r>
            <a:r>
              <a:rPr lang="ko-KR" altLang="en-US" dirty="0"/>
              <a:t>테스트 </a:t>
            </a:r>
            <a:r>
              <a:rPr lang="ko-KR" altLang="en-US" dirty="0" err="1"/>
              <a:t>완료후</a:t>
            </a:r>
            <a:r>
              <a:rPr lang="ko-KR" altLang="en-US" dirty="0"/>
              <a:t> </a:t>
            </a:r>
            <a:r>
              <a:rPr lang="en-US" altLang="ko-KR" dirty="0"/>
              <a:t>deployment </a:t>
            </a:r>
            <a:r>
              <a:rPr lang="ko-KR" altLang="en-US" dirty="0"/>
              <a:t>삭제할 것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Pod</a:t>
            </a:r>
            <a:r>
              <a:rPr lang="ko-KR" altLang="en-US" dirty="0"/>
              <a:t>의 리소스 사용량이 </a:t>
            </a:r>
            <a:r>
              <a:rPr lang="en-US" altLang="ko-KR" dirty="0"/>
              <a:t>limits </a:t>
            </a:r>
            <a:r>
              <a:rPr lang="ko-KR" altLang="en-US" dirty="0"/>
              <a:t>에 설정된 값보다 작은데</a:t>
            </a:r>
            <a:r>
              <a:rPr lang="en-US" altLang="ko-KR" dirty="0"/>
              <a:t>?</a:t>
            </a:r>
          </a:p>
          <a:p>
            <a:pPr lvl="2"/>
            <a:r>
              <a:rPr lang="en-US" altLang="ko-KR" dirty="0"/>
              <a:t>limits</a:t>
            </a:r>
            <a:r>
              <a:rPr lang="ko-KR" altLang="en-US" dirty="0"/>
              <a:t>은 리소스 최대 사용량을 제한하기 위한 값이며</a:t>
            </a:r>
            <a:r>
              <a:rPr lang="en-US" altLang="ko-KR" dirty="0"/>
              <a:t>, </a:t>
            </a:r>
            <a:r>
              <a:rPr lang="ko-KR" altLang="en-US" dirty="0"/>
              <a:t>실제 리소스 사용량을 의미하는 것은 아님</a:t>
            </a:r>
            <a:endParaRPr lang="en-US" altLang="ko-KR" dirty="0"/>
          </a:p>
          <a:p>
            <a:pPr lvl="1"/>
            <a:r>
              <a:rPr lang="ko-KR" altLang="en-US" dirty="0"/>
              <a:t>만일 </a:t>
            </a:r>
            <a:r>
              <a:rPr lang="en-US" altLang="ko-KR" dirty="0"/>
              <a:t>requests</a:t>
            </a:r>
            <a:r>
              <a:rPr lang="ko-KR" altLang="en-US" dirty="0"/>
              <a:t>와 </a:t>
            </a:r>
            <a:r>
              <a:rPr lang="en-US" altLang="ko-KR" dirty="0"/>
              <a:t>limit</a:t>
            </a:r>
            <a:r>
              <a:rPr lang="ko-KR" altLang="en-US" dirty="0"/>
              <a:t>을 다르게 설정한다면</a:t>
            </a:r>
            <a:r>
              <a:rPr lang="en-US" altLang="ko-KR" dirty="0"/>
              <a:t>?</a:t>
            </a:r>
          </a:p>
          <a:p>
            <a:pPr lvl="2"/>
            <a:r>
              <a:rPr lang="en-US" altLang="ko-KR" dirty="0"/>
              <a:t>requests</a:t>
            </a:r>
            <a:r>
              <a:rPr lang="ko-KR" altLang="en-US" dirty="0"/>
              <a:t>는 노드의 리소스에 영향을 받지만 </a:t>
            </a:r>
            <a:r>
              <a:rPr lang="en-US" altLang="ko-KR" dirty="0"/>
              <a:t>limits</a:t>
            </a:r>
            <a:r>
              <a:rPr lang="ko-KR" altLang="en-US" dirty="0"/>
              <a:t>은 영향을 받지 않음</a:t>
            </a:r>
            <a:endParaRPr lang="en-US" altLang="ko-KR" dirty="0"/>
          </a:p>
          <a:p>
            <a:pPr lvl="3"/>
            <a:r>
              <a:rPr lang="ko-KR" altLang="en-US" dirty="0"/>
              <a:t>노드의 리소스보다 더 많은 </a:t>
            </a:r>
            <a:r>
              <a:rPr lang="en-US" altLang="ko-KR" dirty="0"/>
              <a:t>limits</a:t>
            </a:r>
            <a:r>
              <a:rPr lang="ko-KR" altLang="en-US" dirty="0"/>
              <a:t>을 설정할 수 있음</a:t>
            </a:r>
            <a:endParaRPr lang="en-US" altLang="ko-KR" dirty="0"/>
          </a:p>
          <a:p>
            <a:pPr lvl="3"/>
            <a:r>
              <a:rPr lang="en-US" altLang="ko-KR" dirty="0"/>
              <a:t>limits </a:t>
            </a:r>
            <a:r>
              <a:rPr lang="ko-KR" altLang="en-US" dirty="0"/>
              <a:t>는 최대 사용량의 제한 값이지 실제 사용량을 아니기 때문에</a:t>
            </a:r>
            <a:r>
              <a:rPr lang="en-US" altLang="ko-KR" dirty="0"/>
              <a:t>...</a:t>
            </a:r>
          </a:p>
          <a:p>
            <a:pPr lvl="3"/>
            <a:r>
              <a:rPr lang="en-US" altLang="ko-KR" dirty="0"/>
              <a:t>Overcommit </a:t>
            </a:r>
            <a:r>
              <a:rPr lang="ko-KR" altLang="en-US" dirty="0"/>
              <a:t>상태 </a:t>
            </a:r>
            <a:r>
              <a:rPr lang="en-US" altLang="ko-KR" dirty="0"/>
              <a:t>: </a:t>
            </a:r>
            <a:r>
              <a:rPr lang="ko-KR" altLang="en-US" dirty="0"/>
              <a:t>노드에 </a:t>
            </a:r>
            <a:r>
              <a:rPr lang="ko-KR" altLang="en-US" dirty="0" err="1"/>
              <a:t>스케줄링된</a:t>
            </a:r>
            <a:r>
              <a:rPr lang="ko-KR" altLang="en-US" dirty="0"/>
              <a:t> </a:t>
            </a:r>
            <a:r>
              <a:rPr lang="en-US" altLang="ko-KR" dirty="0"/>
              <a:t>Pod</a:t>
            </a:r>
            <a:r>
              <a:rPr lang="ko-KR" altLang="en-US" dirty="0"/>
              <a:t>의 </a:t>
            </a:r>
            <a:r>
              <a:rPr lang="en-US" altLang="ko-KR" dirty="0"/>
              <a:t>limits </a:t>
            </a:r>
            <a:r>
              <a:rPr lang="ko-KR" altLang="en-US" dirty="0"/>
              <a:t>메모리의 합계 </a:t>
            </a:r>
            <a:r>
              <a:rPr lang="en-US" altLang="ko-KR" dirty="0"/>
              <a:t>&gt; </a:t>
            </a:r>
            <a:r>
              <a:rPr lang="ko-KR" altLang="en-US" dirty="0"/>
              <a:t>노드의 사용 가능한 메모리 공간</a:t>
            </a:r>
            <a:endParaRPr lang="en-US" altLang="ko-KR" dirty="0"/>
          </a:p>
          <a:p>
            <a:pPr lvl="2"/>
            <a:r>
              <a:rPr lang="ko-KR" altLang="en-US" dirty="0"/>
              <a:t>반면 </a:t>
            </a:r>
            <a:r>
              <a:rPr lang="en-US" altLang="ko-KR" dirty="0"/>
              <a:t>requests</a:t>
            </a:r>
            <a:r>
              <a:rPr lang="ko-KR" altLang="en-US" dirty="0"/>
              <a:t>는 노드의 리소스에 영향을 받음</a:t>
            </a:r>
            <a:endParaRPr lang="en-US" altLang="ko-KR" dirty="0"/>
          </a:p>
          <a:p>
            <a:pPr lvl="3"/>
            <a:r>
              <a:rPr lang="ko-KR" altLang="en-US" dirty="0"/>
              <a:t>보장하는 용량이므로</a:t>
            </a:r>
            <a:r>
              <a:rPr lang="en-US" altLang="ko-KR" dirty="0"/>
              <a:t>...</a:t>
            </a:r>
          </a:p>
          <a:p>
            <a:pPr lvl="1"/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62E4B53-546B-783E-3E54-494004E87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96" y="1556792"/>
            <a:ext cx="6438583" cy="205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819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1DBB43-CFEA-F4E0-962F-32A304BC3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limits</a:t>
            </a:r>
            <a:r>
              <a:rPr lang="ko-KR" altLang="en-US" dirty="0"/>
              <a:t>와 </a:t>
            </a:r>
            <a:r>
              <a:rPr lang="en-US" altLang="ko-KR" dirty="0"/>
              <a:t>requests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691E21-6958-7C65-6D94-A2F8E7492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리소스</a:t>
            </a:r>
            <a:r>
              <a:rPr lang="en-US" altLang="ko-KR" dirty="0"/>
              <a:t> </a:t>
            </a:r>
            <a:r>
              <a:rPr lang="ko-KR" altLang="en-US" dirty="0"/>
              <a:t>테스트</a:t>
            </a:r>
            <a:endParaRPr lang="en-US" altLang="ko-KR" dirty="0"/>
          </a:p>
          <a:p>
            <a:pPr lvl="1"/>
            <a:r>
              <a:rPr lang="en-US" altLang="ko-KR" dirty="0"/>
              <a:t>Node</a:t>
            </a:r>
            <a:r>
              <a:rPr lang="ko-KR" altLang="en-US" dirty="0"/>
              <a:t>의 메모리 </a:t>
            </a:r>
            <a:r>
              <a:rPr lang="en-US" altLang="ko-KR" dirty="0"/>
              <a:t>:  2000 Mi</a:t>
            </a:r>
          </a:p>
          <a:p>
            <a:pPr lvl="1"/>
            <a:r>
              <a:rPr lang="en-US" altLang="ko-KR" dirty="0"/>
              <a:t>Node</a:t>
            </a:r>
            <a:r>
              <a:rPr lang="ko-KR" altLang="en-US" dirty="0"/>
              <a:t> 상태 예시 </a:t>
            </a:r>
            <a:r>
              <a:rPr lang="en-US" altLang="ko-KR" dirty="0"/>
              <a:t>1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685800" lvl="2" indent="0">
              <a:buNone/>
            </a:pPr>
            <a:endParaRPr lang="en-US" altLang="ko-KR" dirty="0"/>
          </a:p>
          <a:p>
            <a:pPr lvl="2"/>
            <a:r>
              <a:rPr lang="en-US" altLang="ko-KR" dirty="0"/>
              <a:t>requests</a:t>
            </a:r>
            <a:r>
              <a:rPr lang="ko-KR" altLang="en-US" dirty="0"/>
              <a:t>의 합계 </a:t>
            </a:r>
            <a:r>
              <a:rPr lang="en-US" altLang="ko-KR" dirty="0"/>
              <a:t>: </a:t>
            </a:r>
            <a:r>
              <a:rPr lang="en-US" altLang="ko-KR" dirty="0" err="1"/>
              <a:t>1200Mi</a:t>
            </a:r>
            <a:r>
              <a:rPr lang="en-US" altLang="ko-KR" dirty="0"/>
              <a:t>  &lt; </a:t>
            </a:r>
            <a:r>
              <a:rPr lang="en-US" altLang="ko-KR" dirty="0" err="1"/>
              <a:t>2000Mi</a:t>
            </a:r>
            <a:endParaRPr lang="en-US" altLang="ko-KR" dirty="0"/>
          </a:p>
          <a:p>
            <a:pPr lvl="2"/>
            <a:r>
              <a:rPr lang="en-US" altLang="ko-KR" dirty="0"/>
              <a:t>limits</a:t>
            </a:r>
            <a:r>
              <a:rPr lang="ko-KR" altLang="en-US" dirty="0"/>
              <a:t>의 합계 </a:t>
            </a:r>
            <a:r>
              <a:rPr lang="en-US" altLang="ko-KR" dirty="0"/>
              <a:t>: </a:t>
            </a:r>
            <a:r>
              <a:rPr lang="en-US" altLang="ko-KR" dirty="0" err="1"/>
              <a:t>2100Mi</a:t>
            </a:r>
            <a:r>
              <a:rPr lang="en-US" altLang="ko-KR" dirty="0"/>
              <a:t> &gt; </a:t>
            </a:r>
            <a:r>
              <a:rPr lang="en-US" altLang="ko-KR" dirty="0" err="1"/>
              <a:t>2000Mi</a:t>
            </a:r>
            <a:r>
              <a:rPr lang="en-US" altLang="ko-KR" dirty="0"/>
              <a:t>   ---&gt; </a:t>
            </a:r>
            <a:r>
              <a:rPr lang="ko-KR" altLang="en-US" dirty="0"/>
              <a:t>이러한 상황이 가능</a:t>
            </a:r>
            <a:endParaRPr lang="en-US" altLang="ko-KR" dirty="0"/>
          </a:p>
          <a:p>
            <a:pPr lvl="2"/>
            <a:r>
              <a:rPr lang="en-US" altLang="ko-KR" dirty="0"/>
              <a:t>limits</a:t>
            </a:r>
            <a:r>
              <a:rPr lang="ko-KR" altLang="en-US" dirty="0"/>
              <a:t>의 값이 실제 리소스 사용량이라고 할 수는 없음</a:t>
            </a:r>
            <a:r>
              <a:rPr lang="en-US" altLang="ko-KR" dirty="0"/>
              <a:t>. </a:t>
            </a:r>
          </a:p>
          <a:p>
            <a:pPr lvl="2"/>
            <a:r>
              <a:rPr lang="ko-KR" altLang="en-US" dirty="0"/>
              <a:t>하지만 언제든지 </a:t>
            </a:r>
            <a:r>
              <a:rPr lang="en-US" altLang="ko-KR" dirty="0"/>
              <a:t>requests </a:t>
            </a:r>
            <a:r>
              <a:rPr lang="ko-KR" altLang="en-US" dirty="0"/>
              <a:t>설정 값을 넘어서 </a:t>
            </a:r>
            <a:r>
              <a:rPr lang="en-US" altLang="ko-KR" dirty="0"/>
              <a:t>limits </a:t>
            </a:r>
            <a:r>
              <a:rPr lang="ko-KR" altLang="en-US" dirty="0"/>
              <a:t>보다 작은 값으로는 </a:t>
            </a:r>
            <a:r>
              <a:rPr lang="en-US" altLang="ko-KR" dirty="0"/>
              <a:t>burstable(</a:t>
            </a:r>
            <a:r>
              <a:rPr lang="ko-KR" altLang="en-US" dirty="0"/>
              <a:t>동적으로 확장 가능</a:t>
            </a:r>
            <a:r>
              <a:rPr lang="en-US" altLang="ko-KR" dirty="0"/>
              <a:t>)</a:t>
            </a:r>
            <a:r>
              <a:rPr lang="ko-KR" altLang="en-US" dirty="0"/>
              <a:t>함</a:t>
            </a:r>
            <a:r>
              <a:rPr lang="en-US" altLang="ko-KR" dirty="0"/>
              <a:t>.</a:t>
            </a:r>
          </a:p>
          <a:p>
            <a:pPr lvl="3"/>
            <a:r>
              <a:rPr lang="ko-KR" altLang="en-US" dirty="0"/>
              <a:t>위 그림에서 </a:t>
            </a:r>
            <a:r>
              <a:rPr lang="en-US" altLang="ko-KR" dirty="0"/>
              <a:t>limits</a:t>
            </a:r>
            <a:r>
              <a:rPr lang="ko-KR" altLang="en-US" dirty="0"/>
              <a:t>의 합계는 노드의 사용가능한 메모리를 초과하지만 </a:t>
            </a:r>
            <a:r>
              <a:rPr lang="en-US" altLang="ko-KR" dirty="0"/>
              <a:t>Pod</a:t>
            </a:r>
            <a:r>
              <a:rPr lang="ko-KR" altLang="en-US" dirty="0"/>
              <a:t>는 정상적으로 생성됨</a:t>
            </a:r>
            <a:r>
              <a:rPr lang="en-US" altLang="ko-KR" dirty="0"/>
              <a:t>.</a:t>
            </a:r>
          </a:p>
          <a:p>
            <a:pPr lvl="3"/>
            <a:r>
              <a:rPr lang="en-US" altLang="ko-KR" dirty="0"/>
              <a:t>requests</a:t>
            </a:r>
            <a:r>
              <a:rPr lang="ko-KR" altLang="en-US" dirty="0"/>
              <a:t>의 합계는 사용가능한 메모리보다 반드시 작아야 함</a:t>
            </a:r>
            <a:r>
              <a:rPr lang="en-US" altLang="ko-KR" dirty="0"/>
              <a:t>. (</a:t>
            </a:r>
            <a:r>
              <a:rPr lang="ko-KR" altLang="en-US" dirty="0"/>
              <a:t>이유</a:t>
            </a:r>
            <a:r>
              <a:rPr lang="en-US" altLang="ko-KR" dirty="0"/>
              <a:t>: </a:t>
            </a:r>
            <a:r>
              <a:rPr lang="ko-KR" altLang="en-US" dirty="0"/>
              <a:t>보장되어야 하는 용량이므로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4817B51-A945-E8A1-9338-3479A6611777}"/>
              </a:ext>
            </a:extLst>
          </p:cNvPr>
          <p:cNvGrpSpPr/>
          <p:nvPr/>
        </p:nvGrpSpPr>
        <p:grpSpPr>
          <a:xfrm>
            <a:off x="879128" y="1951806"/>
            <a:ext cx="8493236" cy="1873239"/>
            <a:chOff x="813694" y="1695854"/>
            <a:chExt cx="9280903" cy="1902479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79E49C7-2444-F2AC-49DE-3A95C85BCF7A}"/>
                </a:ext>
              </a:extLst>
            </p:cNvPr>
            <p:cNvSpPr/>
            <p:nvPr/>
          </p:nvSpPr>
          <p:spPr>
            <a:xfrm>
              <a:off x="813694" y="2175929"/>
              <a:ext cx="9280903" cy="142240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B4CBE41-3D03-8B0D-348F-6255E0364222}"/>
                </a:ext>
              </a:extLst>
            </p:cNvPr>
            <p:cNvSpPr txBox="1"/>
            <p:nvPr/>
          </p:nvSpPr>
          <p:spPr>
            <a:xfrm>
              <a:off x="6079514" y="1695854"/>
              <a:ext cx="3807453" cy="3750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노드의 사용가능한 메모리</a:t>
              </a:r>
              <a:r>
                <a:rPr lang="en-US" altLang="ko-KR" dirty="0"/>
                <a:t>: </a:t>
              </a:r>
              <a:r>
                <a:rPr lang="en-US" altLang="ko-KR" dirty="0" err="1"/>
                <a:t>2000Mi</a:t>
              </a:r>
              <a:endParaRPr lang="ko-KR" altLang="en-US" dirty="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875CA6A-E1F6-5E4D-C85D-4D5A69530C2C}"/>
                </a:ext>
              </a:extLst>
            </p:cNvPr>
            <p:cNvSpPr/>
            <p:nvPr/>
          </p:nvSpPr>
          <p:spPr>
            <a:xfrm>
              <a:off x="1019436" y="2426985"/>
              <a:ext cx="2722512" cy="95464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u="sng" dirty="0" err="1">
                  <a:solidFill>
                    <a:schemeClr val="tx1"/>
                  </a:solidFill>
                </a:rPr>
                <a:t>PodA</a:t>
              </a:r>
              <a:endParaRPr lang="en-US" altLang="ko-KR" b="1" u="sng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requests : </a:t>
              </a:r>
              <a:r>
                <a:rPr lang="en-US" altLang="ko-KR" dirty="0" err="1">
                  <a:solidFill>
                    <a:schemeClr val="tx1"/>
                  </a:solidFill>
                </a:rPr>
                <a:t>700Mi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limits : </a:t>
              </a:r>
              <a:r>
                <a:rPr lang="en-US" altLang="ko-KR" dirty="0" err="1">
                  <a:solidFill>
                    <a:schemeClr val="tx1"/>
                  </a:solidFill>
                </a:rPr>
                <a:t>1200Mi</a:t>
              </a:r>
              <a:endParaRPr lang="en-US" altLang="ko-KR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48BC118-9635-D433-6617-898B114A2358}"/>
                </a:ext>
              </a:extLst>
            </p:cNvPr>
            <p:cNvSpPr/>
            <p:nvPr/>
          </p:nvSpPr>
          <p:spPr>
            <a:xfrm>
              <a:off x="3863752" y="2424296"/>
              <a:ext cx="2722512" cy="95464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u="sng" dirty="0" err="1">
                  <a:solidFill>
                    <a:schemeClr val="tx1"/>
                  </a:solidFill>
                </a:rPr>
                <a:t>PodB</a:t>
              </a:r>
              <a:endParaRPr lang="en-US" altLang="ko-KR" b="1" u="sng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requests : </a:t>
              </a:r>
              <a:r>
                <a:rPr lang="en-US" altLang="ko-KR" dirty="0" err="1">
                  <a:solidFill>
                    <a:schemeClr val="tx1"/>
                  </a:solidFill>
                </a:rPr>
                <a:t>700Mi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limits : </a:t>
              </a:r>
              <a:r>
                <a:rPr lang="en-US" altLang="ko-KR" dirty="0" err="1">
                  <a:solidFill>
                    <a:schemeClr val="tx1"/>
                  </a:solidFill>
                </a:rPr>
                <a:t>1200Mi</a:t>
              </a:r>
              <a:endParaRPr lang="en-US" altLang="ko-KR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5634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01C772-0242-EF3E-8717-A8567B949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limits</a:t>
            </a:r>
            <a:r>
              <a:rPr lang="ko-KR" altLang="en-US" dirty="0"/>
              <a:t>와 </a:t>
            </a:r>
            <a:r>
              <a:rPr lang="en-US" altLang="ko-KR" dirty="0"/>
              <a:t>requests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7B8EB0-C873-EF8D-33BC-AFAC48EF9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리소스</a:t>
            </a:r>
            <a:r>
              <a:rPr lang="en-US" altLang="ko-KR" dirty="0"/>
              <a:t> </a:t>
            </a:r>
            <a:r>
              <a:rPr lang="ko-KR" altLang="en-US" dirty="0"/>
              <a:t>테스트</a:t>
            </a:r>
            <a:r>
              <a:rPr lang="en-US" altLang="ko-KR" dirty="0"/>
              <a:t>(</a:t>
            </a:r>
            <a:r>
              <a:rPr lang="ko-KR" altLang="en-US" dirty="0"/>
              <a:t>이어서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worker node</a:t>
            </a:r>
            <a:r>
              <a:rPr lang="ko-KR" altLang="en-US" dirty="0"/>
              <a:t>의 사용가능한 리소스 확인</a:t>
            </a:r>
            <a:endParaRPr lang="en-US" altLang="ko-KR" dirty="0"/>
          </a:p>
          <a:p>
            <a:pPr lvl="2"/>
            <a:r>
              <a:rPr lang="ko-KR" altLang="en-US" dirty="0"/>
              <a:t> </a:t>
            </a:r>
            <a:r>
              <a:rPr lang="en-US" altLang="ko-KR" dirty="0" err="1"/>
              <a:t>kubectl</a:t>
            </a:r>
            <a:r>
              <a:rPr lang="ko-KR" altLang="en-US" dirty="0"/>
              <a:t> </a:t>
            </a:r>
            <a:r>
              <a:rPr lang="en-US" altLang="ko-KR" dirty="0"/>
              <a:t>describe</a:t>
            </a:r>
            <a:r>
              <a:rPr lang="ko-KR" altLang="en-US" dirty="0"/>
              <a:t> </a:t>
            </a:r>
            <a:r>
              <a:rPr lang="en-US" altLang="ko-KR" dirty="0"/>
              <a:t>node</a:t>
            </a:r>
            <a:r>
              <a:rPr lang="ko-KR" altLang="en-US" dirty="0"/>
              <a:t> </a:t>
            </a:r>
            <a:r>
              <a:rPr lang="ko-KR" altLang="en-US" dirty="0" err="1"/>
              <a:t>노드명</a:t>
            </a:r>
            <a:r>
              <a:rPr lang="ko-KR" altLang="en-US" dirty="0"/>
              <a:t> </a:t>
            </a:r>
            <a:r>
              <a:rPr lang="en-US" altLang="ko-KR" dirty="0"/>
              <a:t>: ex)</a:t>
            </a:r>
            <a:r>
              <a:rPr lang="ko-KR" altLang="en-US" dirty="0"/>
              <a:t> </a:t>
            </a:r>
            <a:r>
              <a:rPr lang="en-US" altLang="ko-KR" dirty="0" err="1"/>
              <a:t>kubectl</a:t>
            </a:r>
            <a:r>
              <a:rPr lang="ko-KR" altLang="en-US" dirty="0"/>
              <a:t> </a:t>
            </a:r>
            <a:r>
              <a:rPr lang="en-US" altLang="ko-KR" dirty="0"/>
              <a:t>describe</a:t>
            </a:r>
            <a:r>
              <a:rPr lang="ko-KR" altLang="en-US" dirty="0"/>
              <a:t> </a:t>
            </a:r>
            <a:r>
              <a:rPr lang="en-US" altLang="ko-KR" dirty="0"/>
              <a:t>node </a:t>
            </a:r>
            <a:r>
              <a:rPr lang="en-US" altLang="ko-KR" dirty="0" err="1"/>
              <a:t>worker1</a:t>
            </a:r>
            <a:endParaRPr lang="en-US" altLang="ko-KR" dirty="0"/>
          </a:p>
          <a:p>
            <a:pPr lvl="3"/>
            <a:r>
              <a:rPr lang="en-US" altLang="ko-KR" dirty="0"/>
              <a:t>Capacity : </a:t>
            </a:r>
            <a:r>
              <a:rPr lang="ko-KR" altLang="en-US" dirty="0"/>
              <a:t>노드의 전체 리소스 용량</a:t>
            </a:r>
            <a:endParaRPr lang="en-US" altLang="ko-KR" dirty="0"/>
          </a:p>
          <a:p>
            <a:pPr lvl="3"/>
            <a:r>
              <a:rPr lang="en-US" altLang="ko-KR" dirty="0"/>
              <a:t>Allocatable : </a:t>
            </a:r>
            <a:r>
              <a:rPr lang="ko-KR" altLang="en-US" dirty="0"/>
              <a:t>노드에서 사용가능한 메모리 용량</a:t>
            </a:r>
            <a:endParaRPr lang="en-US" altLang="ko-KR" dirty="0"/>
          </a:p>
          <a:p>
            <a:pPr lvl="2"/>
            <a:r>
              <a:rPr lang="ko-KR" altLang="en-US" dirty="0"/>
              <a:t>테스트 시 용량 확인 </a:t>
            </a:r>
            <a:r>
              <a:rPr lang="en-US" altLang="ko-KR" dirty="0"/>
              <a:t>: </a:t>
            </a:r>
            <a:r>
              <a:rPr lang="en-US" altLang="ko-KR" dirty="0" err="1"/>
              <a:t>1913036Ki</a:t>
            </a:r>
            <a:r>
              <a:rPr lang="en-US" altLang="ko-KR" dirty="0"/>
              <a:t> -&gt; </a:t>
            </a:r>
            <a:r>
              <a:rPr lang="en-US" altLang="ko-KR" dirty="0" err="1"/>
              <a:t>1913Mi</a:t>
            </a:r>
            <a:endParaRPr lang="en-US" altLang="ko-KR" dirty="0"/>
          </a:p>
          <a:p>
            <a:pPr lvl="1"/>
            <a:r>
              <a:rPr lang="en-US" altLang="ko-KR" dirty="0" err="1"/>
              <a:t>resource2.yaml</a:t>
            </a:r>
            <a:r>
              <a:rPr lang="en-US" altLang="ko-KR" dirty="0"/>
              <a:t> : </a:t>
            </a:r>
            <a:r>
              <a:rPr lang="ko-KR" altLang="en-US" dirty="0"/>
              <a:t>메모리만 확인</a:t>
            </a:r>
            <a:r>
              <a:rPr lang="en-US" altLang="ko-KR" dirty="0"/>
              <a:t>, 4 replica --&gt; worker</a:t>
            </a:r>
            <a:r>
              <a:rPr lang="ko-KR" altLang="en-US" dirty="0"/>
              <a:t>가 </a:t>
            </a:r>
            <a:r>
              <a:rPr lang="en-US" altLang="ko-KR" dirty="0"/>
              <a:t>3</a:t>
            </a:r>
            <a:r>
              <a:rPr lang="ko-KR" altLang="en-US" dirty="0"/>
              <a:t>개라면 </a:t>
            </a:r>
            <a:r>
              <a:rPr lang="en-US" altLang="ko-KR" dirty="0"/>
              <a:t>replicas</a:t>
            </a:r>
            <a:r>
              <a:rPr lang="ko-KR" altLang="en-US" dirty="0"/>
              <a:t>를 </a:t>
            </a:r>
            <a:r>
              <a:rPr lang="en-US" altLang="ko-KR" dirty="0"/>
              <a:t>6</a:t>
            </a:r>
            <a:r>
              <a:rPr lang="ko-KR" altLang="en-US" dirty="0"/>
              <a:t>으로 설정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13CFF3-0A45-7C4D-3DE3-0B9689902212}"/>
              </a:ext>
            </a:extLst>
          </p:cNvPr>
          <p:cNvSpPr txBox="1"/>
          <p:nvPr/>
        </p:nvSpPr>
        <p:spPr>
          <a:xfrm>
            <a:off x="801646" y="3457286"/>
            <a:ext cx="5040560" cy="332398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apiVersion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 apps/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v1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kind: Deployment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metadata: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resource2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namespace: default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spec: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replicas: 4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selector: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matchLabels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app: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template: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metadata: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name: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labels: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app: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20B520-AEFC-DEB7-EE41-15EF01D44503}"/>
              </a:ext>
            </a:extLst>
          </p:cNvPr>
          <p:cNvSpPr txBox="1"/>
          <p:nvPr/>
        </p:nvSpPr>
        <p:spPr>
          <a:xfrm>
            <a:off x="5951984" y="3442093"/>
            <a:ext cx="5040560" cy="24622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spec: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containers: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- name: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-slim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image: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stepanowon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/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nodeapp-slim:1.0.0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ports: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-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containerPort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 8080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resources: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requests: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memory: "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700Mi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"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limits: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memory: "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1200Mi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999107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AA53EB-C400-6731-047E-35F6AF5E7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limits</a:t>
            </a:r>
            <a:r>
              <a:rPr lang="ko-KR" altLang="en-US" dirty="0"/>
              <a:t>와 </a:t>
            </a:r>
            <a:r>
              <a:rPr lang="en-US" altLang="ko-KR" dirty="0"/>
              <a:t>requests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D4E73C-521C-7295-8575-3ED2A980D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리소스</a:t>
            </a:r>
            <a:r>
              <a:rPr lang="en-US" altLang="ko-KR" dirty="0"/>
              <a:t> </a:t>
            </a:r>
            <a:r>
              <a:rPr lang="ko-KR" altLang="en-US" dirty="0"/>
              <a:t>테스트</a:t>
            </a:r>
            <a:r>
              <a:rPr lang="en-US" altLang="ko-KR" dirty="0"/>
              <a:t>(</a:t>
            </a:r>
            <a:r>
              <a:rPr lang="ko-KR" altLang="en-US" dirty="0"/>
              <a:t>이어서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리소스 생성 후 리소스 사용량 확인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검토</a:t>
            </a:r>
            <a:endParaRPr lang="en-US" altLang="ko-KR" dirty="0"/>
          </a:p>
          <a:p>
            <a:pPr lvl="2"/>
            <a:r>
              <a:rPr lang="en-US" altLang="ko-KR" dirty="0"/>
              <a:t>limits </a:t>
            </a:r>
            <a:r>
              <a:rPr lang="ko-KR" altLang="en-US" dirty="0"/>
              <a:t>메모리의 합계가 </a:t>
            </a:r>
            <a:r>
              <a:rPr lang="en-US" altLang="ko-KR" dirty="0"/>
              <a:t>node </a:t>
            </a:r>
            <a:r>
              <a:rPr lang="ko-KR" altLang="en-US" dirty="0"/>
              <a:t>의 사용가능한 메모리 합계보다</a:t>
            </a:r>
            <a:r>
              <a:rPr lang="en-US" altLang="ko-KR" dirty="0"/>
              <a:t> </a:t>
            </a:r>
            <a:r>
              <a:rPr lang="ko-KR" altLang="en-US" dirty="0"/>
              <a:t>크지만 </a:t>
            </a:r>
            <a:r>
              <a:rPr lang="en-US" altLang="ko-KR" dirty="0"/>
              <a:t>Pod</a:t>
            </a:r>
            <a:r>
              <a:rPr lang="ko-KR" altLang="en-US" dirty="0"/>
              <a:t>가 정상적으로 생성되었음</a:t>
            </a:r>
            <a:endParaRPr lang="en-US" altLang="ko-KR" dirty="0"/>
          </a:p>
          <a:p>
            <a:pPr lvl="2"/>
            <a:r>
              <a:rPr lang="en-US" altLang="ko-KR" dirty="0"/>
              <a:t>requests</a:t>
            </a:r>
            <a:r>
              <a:rPr lang="ko-KR" altLang="en-US" dirty="0"/>
              <a:t>의 합계가 </a:t>
            </a:r>
            <a:r>
              <a:rPr lang="en-US" altLang="ko-KR" dirty="0"/>
              <a:t>node</a:t>
            </a:r>
            <a:r>
              <a:rPr lang="ko-KR" altLang="en-US" dirty="0"/>
              <a:t>의 사용가능한 메모리를 초과하는 경우 </a:t>
            </a:r>
            <a:r>
              <a:rPr lang="ko-KR" altLang="en-US" dirty="0" err="1"/>
              <a:t>생성불가함</a:t>
            </a:r>
            <a:endParaRPr lang="en-US" altLang="ko-KR" dirty="0"/>
          </a:p>
          <a:p>
            <a:pPr lvl="2"/>
            <a:r>
              <a:rPr lang="ko-KR" altLang="en-US" dirty="0"/>
              <a:t>따라서 </a:t>
            </a:r>
            <a:r>
              <a:rPr lang="en-US" altLang="ko-KR" dirty="0"/>
              <a:t>node</a:t>
            </a:r>
            <a:r>
              <a:rPr lang="ko-KR" altLang="en-US" dirty="0"/>
              <a:t>의 </a:t>
            </a:r>
            <a:r>
              <a:rPr lang="en-US" altLang="ko-KR" dirty="0"/>
              <a:t>replica</a:t>
            </a:r>
            <a:r>
              <a:rPr lang="ko-KR" altLang="en-US" dirty="0"/>
              <a:t>를 늘리면 더이상 </a:t>
            </a:r>
            <a:r>
              <a:rPr lang="en-US" altLang="ko-KR" dirty="0"/>
              <a:t>Pod</a:t>
            </a:r>
            <a:r>
              <a:rPr lang="ko-KR" altLang="en-US" dirty="0"/>
              <a:t>가 생성되지 못하고 </a:t>
            </a:r>
            <a:r>
              <a:rPr lang="en-US" altLang="ko-KR" dirty="0"/>
              <a:t>Pending </a:t>
            </a:r>
            <a:r>
              <a:rPr lang="ko-KR" altLang="en-US" dirty="0"/>
              <a:t>상태가 될 것임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BFB0A86-8353-7F58-CDC1-7FE297365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449" y="1952836"/>
            <a:ext cx="11133769" cy="235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725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95043F-6CA5-B14C-5E9C-97B2807F3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limits</a:t>
            </a:r>
            <a:r>
              <a:rPr lang="ko-KR" altLang="en-US" dirty="0"/>
              <a:t>와 </a:t>
            </a:r>
            <a:r>
              <a:rPr lang="en-US" altLang="ko-KR" dirty="0"/>
              <a:t>requests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CB2480-D6F1-265B-25E4-B9D331D9F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리소스</a:t>
            </a:r>
            <a:r>
              <a:rPr lang="en-US" altLang="ko-KR" dirty="0"/>
              <a:t> </a:t>
            </a:r>
            <a:r>
              <a:rPr lang="ko-KR" altLang="en-US" dirty="0"/>
              <a:t>테스트</a:t>
            </a:r>
            <a:r>
              <a:rPr lang="en-US" altLang="ko-KR" dirty="0"/>
              <a:t>(</a:t>
            </a:r>
            <a:r>
              <a:rPr lang="ko-KR" altLang="en-US" dirty="0"/>
              <a:t>이어서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 err="1"/>
              <a:t>resource2.yaml</a:t>
            </a:r>
            <a:r>
              <a:rPr lang="ko-KR" altLang="en-US" dirty="0"/>
              <a:t>에서 </a:t>
            </a:r>
            <a:r>
              <a:rPr lang="en-US" altLang="ko-KR" dirty="0"/>
              <a:t>replica </a:t>
            </a:r>
            <a:r>
              <a:rPr lang="ko-KR" altLang="en-US" dirty="0" err="1"/>
              <a:t>갯수를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증가시켜 </a:t>
            </a:r>
            <a:r>
              <a:rPr lang="en-US" altLang="ko-KR" dirty="0"/>
              <a:t>5</a:t>
            </a:r>
            <a:r>
              <a:rPr lang="ko-KR" altLang="en-US" dirty="0"/>
              <a:t>로 설정 후 적용</a:t>
            </a:r>
            <a:endParaRPr lang="en-US" altLang="ko-KR" dirty="0"/>
          </a:p>
          <a:p>
            <a:pPr lvl="2"/>
            <a:r>
              <a:rPr lang="en-US" altLang="ko-KR" dirty="0" err="1"/>
              <a:t>kubectl</a:t>
            </a:r>
            <a:r>
              <a:rPr lang="en-US" altLang="ko-KR" dirty="0"/>
              <a:t> apply -f </a:t>
            </a:r>
            <a:r>
              <a:rPr lang="en-US" altLang="ko-KR" dirty="0" err="1"/>
              <a:t>resource2.yaml</a:t>
            </a:r>
            <a:endParaRPr lang="en-US" altLang="ko-KR" dirty="0"/>
          </a:p>
          <a:p>
            <a:pPr lvl="2"/>
            <a:r>
              <a:rPr lang="en-US" altLang="ko-KR" dirty="0"/>
              <a:t>worker node</a:t>
            </a:r>
            <a:r>
              <a:rPr lang="ko-KR" altLang="en-US" dirty="0"/>
              <a:t>를 </a:t>
            </a:r>
            <a:r>
              <a:rPr lang="en-US" altLang="ko-KR" dirty="0"/>
              <a:t>3</a:t>
            </a:r>
            <a:r>
              <a:rPr lang="ko-KR" altLang="en-US" dirty="0"/>
              <a:t>개로 사용하고 있다면 </a:t>
            </a:r>
            <a:r>
              <a:rPr lang="en-US" altLang="ko-KR" dirty="0"/>
              <a:t>6</a:t>
            </a:r>
            <a:r>
              <a:rPr lang="ko-KR" altLang="en-US" dirty="0"/>
              <a:t>에서 </a:t>
            </a:r>
            <a:r>
              <a:rPr lang="en-US" altLang="ko-KR" dirty="0"/>
              <a:t>7 </a:t>
            </a:r>
            <a:r>
              <a:rPr lang="ko-KR" altLang="en-US" dirty="0"/>
              <a:t>또는 </a:t>
            </a:r>
            <a:r>
              <a:rPr lang="en-US" altLang="ko-KR" dirty="0"/>
              <a:t>8</a:t>
            </a:r>
            <a:r>
              <a:rPr lang="ko-KR" altLang="en-US" dirty="0"/>
              <a:t>로 변경</a:t>
            </a:r>
            <a:endParaRPr lang="en-US" altLang="ko-KR" dirty="0"/>
          </a:p>
          <a:p>
            <a:pPr lvl="1"/>
            <a:r>
              <a:rPr lang="ko-KR" altLang="en-US" dirty="0"/>
              <a:t>추가된 </a:t>
            </a:r>
            <a:r>
              <a:rPr lang="en-US" altLang="ko-KR" dirty="0"/>
              <a:t>Pod</a:t>
            </a:r>
            <a:r>
              <a:rPr lang="ko-KR" altLang="en-US" dirty="0"/>
              <a:t>가  </a:t>
            </a:r>
            <a:r>
              <a:rPr lang="en-US" altLang="ko-KR" dirty="0"/>
              <a:t>Pending </a:t>
            </a:r>
            <a:r>
              <a:rPr lang="ko-KR" altLang="en-US" dirty="0"/>
              <a:t>상태인 것을 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pending </a:t>
            </a:r>
            <a:r>
              <a:rPr lang="ko-KR" altLang="en-US" dirty="0"/>
              <a:t>상태인 이유</a:t>
            </a:r>
            <a:endParaRPr lang="en-US" altLang="ko-KR" dirty="0"/>
          </a:p>
          <a:p>
            <a:pPr lvl="2"/>
            <a:r>
              <a:rPr lang="en-US" altLang="ko-KR" dirty="0"/>
              <a:t>requests</a:t>
            </a:r>
            <a:r>
              <a:rPr lang="ko-KR" altLang="en-US" dirty="0"/>
              <a:t> </a:t>
            </a:r>
            <a:r>
              <a:rPr lang="en-US" altLang="ko-KR" dirty="0"/>
              <a:t>memory </a:t>
            </a:r>
            <a:r>
              <a:rPr lang="ko-KR" altLang="en-US" dirty="0"/>
              <a:t>의 합계가 노드의 사용가능한 메모리보다 크기 때문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D49A07F-94CD-DDF0-E07F-2CDECC1A9EE5}"/>
              </a:ext>
            </a:extLst>
          </p:cNvPr>
          <p:cNvGrpSpPr/>
          <p:nvPr/>
        </p:nvGrpSpPr>
        <p:grpSpPr>
          <a:xfrm>
            <a:off x="947428" y="2996952"/>
            <a:ext cx="10580960" cy="1200676"/>
            <a:chOff x="911424" y="2672916"/>
            <a:chExt cx="10580960" cy="1200676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D9E2513-7DED-7188-22F7-BE2C0C1BDB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1424" y="2672916"/>
              <a:ext cx="10580960" cy="1200676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7186E8A-E88A-F7BD-49E0-B71B74A33713}"/>
                </a:ext>
              </a:extLst>
            </p:cNvPr>
            <p:cNvSpPr/>
            <p:nvPr/>
          </p:nvSpPr>
          <p:spPr>
            <a:xfrm>
              <a:off x="3827748" y="3140968"/>
              <a:ext cx="1296144" cy="269206"/>
            </a:xfrm>
            <a:prstGeom prst="rect">
              <a:avLst/>
            </a:prstGeom>
            <a:noFill/>
            <a:ln>
              <a:solidFill>
                <a:srgbClr val="FFFF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37597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5EA94D-808D-DB13-14E0-3B18E9EF8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1.3 QoS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71618E-D4F2-48B1-7D6D-F5F7C2209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k8s</a:t>
            </a:r>
            <a:r>
              <a:rPr lang="ko-KR" altLang="en-US" dirty="0"/>
              <a:t>의 </a:t>
            </a:r>
            <a:r>
              <a:rPr lang="en-US" altLang="ko-KR" dirty="0"/>
              <a:t>QoS(Quality of Service)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Pod</a:t>
            </a:r>
            <a:r>
              <a:rPr lang="ko-KR" altLang="en-US" dirty="0"/>
              <a:t>의 서비스 품질을 의미하며</a:t>
            </a:r>
            <a:r>
              <a:rPr lang="en-US" altLang="ko-KR" dirty="0"/>
              <a:t>, </a:t>
            </a:r>
            <a:r>
              <a:rPr lang="ko-KR" altLang="en-US" dirty="0"/>
              <a:t>중요도가 높은 서비스의 품질을 보장하기 위해 리소스의 용량을 설정하는 것을 말함</a:t>
            </a:r>
            <a:endParaRPr lang="en-US" altLang="ko-KR" dirty="0"/>
          </a:p>
          <a:p>
            <a:pPr lvl="1"/>
            <a:r>
              <a:rPr lang="en-US" altLang="ko-KR" dirty="0"/>
              <a:t>QoS</a:t>
            </a:r>
            <a:r>
              <a:rPr lang="ko-KR" altLang="en-US" dirty="0"/>
              <a:t>의 종류</a:t>
            </a:r>
            <a:r>
              <a:rPr lang="en-US" altLang="ko-KR" dirty="0"/>
              <a:t>, </a:t>
            </a:r>
            <a:r>
              <a:rPr lang="ko-KR" altLang="en-US" dirty="0"/>
              <a:t>우선순위 </a:t>
            </a:r>
            <a:r>
              <a:rPr lang="en-US" altLang="ko-KR" dirty="0"/>
              <a:t>: Best Effort &lt; Burstable &lt; Guaranteed</a:t>
            </a:r>
          </a:p>
          <a:p>
            <a:pPr marL="685800" lvl="2" indent="0">
              <a:buNone/>
            </a:pPr>
            <a:endParaRPr lang="en-US" altLang="ko-KR" dirty="0"/>
          </a:p>
          <a:p>
            <a:pPr marL="685800" lvl="2" indent="0">
              <a:buNone/>
            </a:pPr>
            <a:endParaRPr lang="en-US" altLang="ko-KR" dirty="0"/>
          </a:p>
          <a:p>
            <a:pPr marL="685800" lvl="2" indent="0">
              <a:buNone/>
            </a:pPr>
            <a:endParaRPr lang="en-US" altLang="ko-KR" dirty="0"/>
          </a:p>
          <a:p>
            <a:pPr marL="685800" lvl="2" indent="0">
              <a:buNone/>
            </a:pPr>
            <a:endParaRPr lang="en-US" altLang="ko-KR" dirty="0"/>
          </a:p>
          <a:p>
            <a:pPr marL="685800" lvl="2" indent="0">
              <a:buNone/>
            </a:pPr>
            <a:endParaRPr lang="en-US" altLang="ko-KR" dirty="0"/>
          </a:p>
          <a:p>
            <a:pPr marL="685800" lvl="2" indent="0">
              <a:buNone/>
            </a:pPr>
            <a:endParaRPr lang="en-US" altLang="ko-KR" dirty="0"/>
          </a:p>
          <a:p>
            <a:pPr marL="685800" lvl="2" indent="0">
              <a:buNone/>
            </a:pPr>
            <a:endParaRPr lang="en-US" altLang="ko-KR" dirty="0"/>
          </a:p>
          <a:p>
            <a:pPr marL="685800" lvl="2" indent="0">
              <a:buNone/>
            </a:pPr>
            <a:endParaRPr lang="en-US" altLang="ko-KR" dirty="0"/>
          </a:p>
          <a:p>
            <a:pPr marL="685800" lvl="2" indent="0">
              <a:buNone/>
            </a:pPr>
            <a:endParaRPr lang="en-US" altLang="ko-KR" dirty="0"/>
          </a:p>
          <a:p>
            <a:pPr marL="685800" lvl="2" indent="0">
              <a:buNone/>
            </a:pPr>
            <a:r>
              <a:rPr lang="en-US" altLang="ko-KR" dirty="0"/>
              <a:t>           </a:t>
            </a:r>
            <a:r>
              <a:rPr lang="ko-KR" altLang="en-US" b="1" dirty="0"/>
              <a:t>설정</a:t>
            </a:r>
            <a:r>
              <a:rPr lang="en-US" altLang="ko-KR" b="1" dirty="0"/>
              <a:t>(X)                           requests</a:t>
            </a:r>
            <a:r>
              <a:rPr lang="ko-KR" altLang="en-US" b="1" dirty="0"/>
              <a:t> </a:t>
            </a:r>
            <a:r>
              <a:rPr lang="en-US" altLang="ko-KR" b="1" dirty="0"/>
              <a:t>&lt;</a:t>
            </a:r>
            <a:r>
              <a:rPr lang="ko-KR" altLang="en-US" b="1" dirty="0"/>
              <a:t> </a:t>
            </a:r>
            <a:r>
              <a:rPr lang="en-US" altLang="ko-KR" b="1" dirty="0"/>
              <a:t>limits                    requests = limits</a:t>
            </a:r>
          </a:p>
          <a:p>
            <a:pPr lvl="1"/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A64388F-6E1B-0171-C877-DD9640120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420" y="2672916"/>
            <a:ext cx="8073409" cy="27723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34B724F-3A31-3B26-5A0E-011BFF4B1DC2}"/>
              </a:ext>
            </a:extLst>
          </p:cNvPr>
          <p:cNvSpPr txBox="1"/>
          <p:nvPr/>
        </p:nvSpPr>
        <p:spPr>
          <a:xfrm>
            <a:off x="2666645" y="5841268"/>
            <a:ext cx="6094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출처 </a:t>
            </a:r>
            <a:r>
              <a:rPr lang="en-US" altLang="ko-KR" dirty="0"/>
              <a:t>: </a:t>
            </a:r>
            <a:r>
              <a:rPr lang="ko-KR" altLang="en-US" dirty="0" err="1"/>
              <a:t>https</a:t>
            </a:r>
            <a:r>
              <a:rPr lang="ko-KR" altLang="en-US" dirty="0"/>
              <a:t>://</a:t>
            </a:r>
            <a:r>
              <a:rPr lang="ko-KR" altLang="en-US" dirty="0" err="1"/>
              <a:t>libert.xyz</a:t>
            </a:r>
            <a:r>
              <a:rPr lang="ko-KR" altLang="en-US" dirty="0"/>
              <a:t>/</a:t>
            </a:r>
            <a:r>
              <a:rPr lang="ko-KR" altLang="en-US" dirty="0" err="1"/>
              <a:t>posts</a:t>
            </a:r>
            <a:r>
              <a:rPr lang="ko-KR" altLang="en-US" dirty="0"/>
              <a:t>/</a:t>
            </a:r>
            <a:r>
              <a:rPr lang="ko-KR" altLang="en-US" dirty="0" err="1"/>
              <a:t>pods-qos</a:t>
            </a:r>
            <a:r>
              <a:rPr lang="ko-KR" alt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296238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A654E4-8008-7A96-1FE9-32D95A1C5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1.3 QoS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69108A-8932-2709-F8C6-19DD5AC14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QoS </a:t>
            </a:r>
            <a:r>
              <a:rPr lang="ko-KR" altLang="en-US" dirty="0"/>
              <a:t>확인 방법</a:t>
            </a:r>
            <a:endParaRPr lang="en-US" altLang="ko-KR" dirty="0"/>
          </a:p>
          <a:p>
            <a:pPr lvl="1"/>
            <a:r>
              <a:rPr lang="en-US" altLang="ko-KR" dirty="0" err="1"/>
              <a:t>kubectl</a:t>
            </a:r>
            <a:r>
              <a:rPr lang="en-US" altLang="ko-KR" dirty="0"/>
              <a:t> describe pods </a:t>
            </a:r>
            <a:r>
              <a:rPr lang="ko-KR" altLang="en-US" dirty="0" err="1"/>
              <a:t>파드명</a:t>
            </a:r>
            <a:r>
              <a:rPr lang="ko-KR" altLang="en-US" dirty="0"/>
              <a:t> </a:t>
            </a:r>
            <a:r>
              <a:rPr lang="en-US" altLang="ko-KR" dirty="0"/>
              <a:t>-n</a:t>
            </a:r>
            <a:r>
              <a:rPr lang="ko-KR" altLang="en-US" dirty="0"/>
              <a:t> 네임스페이스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C02B1A-7370-2E79-ED78-E242961D335E}"/>
              </a:ext>
            </a:extLst>
          </p:cNvPr>
          <p:cNvSpPr txBox="1"/>
          <p:nvPr/>
        </p:nvSpPr>
        <p:spPr>
          <a:xfrm>
            <a:off x="803412" y="2060848"/>
            <a:ext cx="10765196" cy="40318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Name:            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limit1-76547d84b6-bdkjv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Namespace:        default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......(</a:t>
            </a:r>
            <a:r>
              <a:rPr lang="ko-KR" altLang="en-US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생략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)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Volumes: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-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api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-access-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s6wrw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Type:                    Projected (a volume that contains injected data from multiple sources)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TokenExpirationSeconds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 3607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ConfigMapName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         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-root-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ca.crt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ConfigMapOptional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      &lt;nil&gt;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DownwardAPI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            true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QoS Class:                   Guaranteed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Node-Selectors:              &lt;none&gt;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Tolerations:                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node.kubernetes.io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/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not-ready:NoExecute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op=Exists for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300s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              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node.kubernetes.io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/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unreachable:NoExecute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op=Exists for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300s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Events: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......(</a:t>
            </a:r>
            <a:r>
              <a:rPr lang="ko-KR" altLang="en-US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생략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23161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68E0B0-38AB-8466-890C-F77C4E437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1.3 QoS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C04E99-9253-BA08-6BCA-73AB0F530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QoS</a:t>
            </a:r>
            <a:r>
              <a:rPr lang="ko-KR" altLang="en-US" dirty="0"/>
              <a:t>가 끼치는 영향</a:t>
            </a:r>
            <a:endParaRPr lang="en-US" altLang="ko-KR" dirty="0"/>
          </a:p>
          <a:p>
            <a:pPr lvl="1"/>
            <a:r>
              <a:rPr lang="en-US" altLang="ko-KR" dirty="0" err="1"/>
              <a:t>k8s</a:t>
            </a:r>
            <a:r>
              <a:rPr lang="en-US" altLang="ko-KR" dirty="0"/>
              <a:t> </a:t>
            </a:r>
            <a:r>
              <a:rPr lang="ko-KR" altLang="en-US" dirty="0"/>
              <a:t>내부에서 리소스가 부족한 경우</a:t>
            </a:r>
            <a:r>
              <a:rPr lang="en-US" altLang="ko-KR" dirty="0"/>
              <a:t> QoS</a:t>
            </a:r>
            <a:r>
              <a:rPr lang="ko-KR" altLang="en-US" dirty="0"/>
              <a:t>에 따라 어떤 </a:t>
            </a:r>
            <a:r>
              <a:rPr lang="en-US" altLang="ko-KR" dirty="0"/>
              <a:t>Pod</a:t>
            </a:r>
            <a:r>
              <a:rPr lang="ko-KR" altLang="en-US" dirty="0"/>
              <a:t>를 </a:t>
            </a:r>
            <a:r>
              <a:rPr lang="ko-KR" altLang="en-US" dirty="0" err="1"/>
              <a:t>종료시킬지를</a:t>
            </a:r>
            <a:r>
              <a:rPr lang="ko-KR" altLang="en-US" dirty="0"/>
              <a:t> 결정함</a:t>
            </a:r>
            <a:endParaRPr lang="en-US" altLang="ko-KR" dirty="0"/>
          </a:p>
          <a:p>
            <a:pPr lvl="1"/>
            <a:r>
              <a:rPr lang="ko-KR" altLang="en-US" dirty="0"/>
              <a:t>가장 우선순위가 낮는 </a:t>
            </a:r>
            <a:r>
              <a:rPr lang="en-US" altLang="ko-KR" dirty="0"/>
              <a:t>Pod</a:t>
            </a:r>
            <a:r>
              <a:rPr lang="ko-KR" altLang="en-US" dirty="0"/>
              <a:t>부터 종료됨</a:t>
            </a:r>
            <a:r>
              <a:rPr lang="en-US" altLang="ko-KR" dirty="0"/>
              <a:t>. </a:t>
            </a:r>
          </a:p>
          <a:p>
            <a:pPr lvl="2"/>
            <a:r>
              <a:rPr lang="en-US" altLang="ko-KR" dirty="0"/>
              <a:t>Best Effort - Burstable </a:t>
            </a:r>
            <a:r>
              <a:rPr lang="ko-KR" altLang="en-US" dirty="0"/>
              <a:t>순으로 </a:t>
            </a:r>
            <a:r>
              <a:rPr lang="en-US" altLang="ko-KR" dirty="0"/>
              <a:t>Pod</a:t>
            </a:r>
            <a:r>
              <a:rPr lang="ko-KR" altLang="en-US" dirty="0"/>
              <a:t>가 종료되며</a:t>
            </a:r>
            <a:r>
              <a:rPr lang="en-US" altLang="ko-KR" dirty="0"/>
              <a:t>, Guaranteed</a:t>
            </a:r>
            <a:r>
              <a:rPr lang="ko-KR" altLang="en-US" dirty="0"/>
              <a:t>는 시스템이 더이상 종료할 </a:t>
            </a:r>
            <a:r>
              <a:rPr lang="en-US" altLang="ko-KR" dirty="0"/>
              <a:t>Pod</a:t>
            </a:r>
            <a:r>
              <a:rPr lang="ko-KR" altLang="en-US" dirty="0"/>
              <a:t>가 없는 경우에 종료됨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685800" lvl="2" indent="0">
              <a:buNone/>
            </a:pP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E4AC8BB-C3BB-D533-28E3-B60F4AD08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436" y="2940327"/>
            <a:ext cx="7773018" cy="30963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297A41-6BCF-E19D-CCF8-16D05F23BD04}"/>
              </a:ext>
            </a:extLst>
          </p:cNvPr>
          <p:cNvSpPr txBox="1"/>
          <p:nvPr/>
        </p:nvSpPr>
        <p:spPr>
          <a:xfrm>
            <a:off x="2531604" y="6011637"/>
            <a:ext cx="6094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출처 </a:t>
            </a:r>
            <a:r>
              <a:rPr lang="en-US" altLang="ko-KR" dirty="0"/>
              <a:t>: </a:t>
            </a:r>
            <a:r>
              <a:rPr lang="ko-KR" altLang="en-US" dirty="0" err="1"/>
              <a:t>https</a:t>
            </a:r>
            <a:r>
              <a:rPr lang="ko-KR" altLang="en-US" dirty="0"/>
              <a:t>://</a:t>
            </a:r>
            <a:r>
              <a:rPr lang="ko-KR" altLang="en-US" dirty="0" err="1"/>
              <a:t>libert.xyz</a:t>
            </a:r>
            <a:r>
              <a:rPr lang="ko-KR" altLang="en-US" dirty="0"/>
              <a:t>/</a:t>
            </a:r>
            <a:r>
              <a:rPr lang="ko-KR" altLang="en-US" dirty="0" err="1"/>
              <a:t>posts</a:t>
            </a:r>
            <a:r>
              <a:rPr lang="ko-KR" altLang="en-US" dirty="0"/>
              <a:t>/</a:t>
            </a:r>
            <a:r>
              <a:rPr lang="ko-KR" altLang="en-US" dirty="0" err="1"/>
              <a:t>pods-qos</a:t>
            </a:r>
            <a:r>
              <a:rPr lang="ko-KR" alt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808728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B392BA-AE5F-CD10-5045-7FF7E1BED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1.4 CPU</a:t>
            </a:r>
            <a:r>
              <a:rPr lang="ko-KR" altLang="en-US" dirty="0"/>
              <a:t>와 메모리에 대한 리소스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2ACA4A-0184-DC13-F2B9-D98476601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압축 가능 리소스와 압축 불가능 리소스</a:t>
            </a:r>
            <a:endParaRPr lang="en-US" altLang="ko-KR" dirty="0"/>
          </a:p>
          <a:p>
            <a:pPr lvl="1"/>
            <a:r>
              <a:rPr lang="en-US" altLang="ko-KR" dirty="0"/>
              <a:t>Compressible Resource</a:t>
            </a:r>
          </a:p>
          <a:p>
            <a:pPr lvl="2"/>
            <a:r>
              <a:rPr lang="ko-KR" altLang="en-US" dirty="0"/>
              <a:t>대표적인 리소스가 </a:t>
            </a:r>
            <a:r>
              <a:rPr lang="en-US" altLang="ko-KR" dirty="0"/>
              <a:t>CPU, Network</a:t>
            </a:r>
          </a:p>
          <a:p>
            <a:pPr lvl="2"/>
            <a:r>
              <a:rPr lang="ko-KR" altLang="en-US" dirty="0"/>
              <a:t>만일 경합이 발생하면</a:t>
            </a:r>
            <a:r>
              <a:rPr lang="en-US" altLang="ko-KR" dirty="0"/>
              <a:t>(Overcommit </a:t>
            </a:r>
            <a:r>
              <a:rPr lang="ko-KR" altLang="en-US" dirty="0"/>
              <a:t>상태가 되면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Throttling</a:t>
            </a:r>
            <a:r>
              <a:rPr lang="ko-KR" altLang="en-US" dirty="0"/>
              <a:t>이 발생하긴 하지만 </a:t>
            </a:r>
            <a:r>
              <a:rPr lang="en-US" altLang="ko-KR" dirty="0"/>
              <a:t>Time Slicing</a:t>
            </a:r>
            <a:r>
              <a:rPr lang="ko-KR" altLang="en-US" dirty="0"/>
              <a:t>을 통해 분배가 가능함</a:t>
            </a:r>
            <a:endParaRPr lang="en-US" altLang="ko-KR" dirty="0"/>
          </a:p>
          <a:p>
            <a:pPr lvl="1"/>
            <a:r>
              <a:rPr lang="en-US" altLang="ko-KR" dirty="0"/>
              <a:t>Incompressible Resource</a:t>
            </a:r>
          </a:p>
          <a:p>
            <a:pPr lvl="2"/>
            <a:r>
              <a:rPr lang="ko-KR" altLang="en-US" dirty="0"/>
              <a:t>대표적인 리소스가 </a:t>
            </a:r>
            <a:r>
              <a:rPr lang="en-US" altLang="ko-KR" dirty="0"/>
              <a:t>Memory, Storage</a:t>
            </a:r>
          </a:p>
          <a:p>
            <a:pPr lvl="2"/>
            <a:r>
              <a:rPr lang="ko-KR" altLang="en-US" dirty="0"/>
              <a:t>리소스가 부족해지면 프로세스가 더이상 기다릴 수 없음을 의미함</a:t>
            </a:r>
            <a:endParaRPr lang="en-US" altLang="ko-KR" dirty="0"/>
          </a:p>
          <a:p>
            <a:pPr lvl="2"/>
            <a:r>
              <a:rPr lang="en-US" altLang="ko-KR" dirty="0" err="1"/>
              <a:t>OOM</a:t>
            </a:r>
            <a:r>
              <a:rPr lang="en-US" altLang="ko-KR" dirty="0"/>
              <a:t>(Out of Memory) Killer : </a:t>
            </a:r>
            <a:r>
              <a:rPr lang="ko-KR" altLang="en-US" dirty="0"/>
              <a:t>메모리가 부족할 경우 특정 </a:t>
            </a:r>
            <a:r>
              <a:rPr lang="en-US" altLang="ko-KR" dirty="0"/>
              <a:t>Pod</a:t>
            </a:r>
            <a:r>
              <a:rPr lang="ko-KR" altLang="en-US" dirty="0"/>
              <a:t>를 강제로 </a:t>
            </a:r>
            <a:r>
              <a:rPr lang="ko-KR" altLang="en-US" dirty="0" err="1"/>
              <a:t>종료시킴</a:t>
            </a:r>
            <a:endParaRPr lang="en-US" altLang="ko-KR" dirty="0"/>
          </a:p>
          <a:p>
            <a:pPr lvl="1"/>
            <a:r>
              <a:rPr lang="en-US" altLang="ko-KR" dirty="0"/>
              <a:t>Limits </a:t>
            </a:r>
            <a:r>
              <a:rPr lang="ko-KR" altLang="en-US" dirty="0" err="1"/>
              <a:t>설정값을</a:t>
            </a:r>
            <a:r>
              <a:rPr lang="ko-KR" altLang="en-US" dirty="0"/>
              <a:t> 초과한 경우</a:t>
            </a:r>
            <a:endParaRPr lang="en-US" altLang="ko-KR" dirty="0"/>
          </a:p>
          <a:p>
            <a:pPr lvl="2"/>
            <a:r>
              <a:rPr lang="en-US" altLang="ko-KR" dirty="0"/>
              <a:t>CPU : Pod</a:t>
            </a:r>
            <a:r>
              <a:rPr lang="ko-KR" altLang="en-US" dirty="0"/>
              <a:t>가 종료되지는 않지만 </a:t>
            </a:r>
            <a:r>
              <a:rPr lang="en-US" altLang="ko-KR" dirty="0"/>
              <a:t>CPU Throttling</a:t>
            </a:r>
            <a:r>
              <a:rPr lang="ko-KR" altLang="en-US" dirty="0"/>
              <a:t>이 발생하므로 지연이 발생하거나 느려짐</a:t>
            </a:r>
            <a:endParaRPr lang="en-US" altLang="ko-KR" dirty="0"/>
          </a:p>
          <a:p>
            <a:pPr lvl="2"/>
            <a:r>
              <a:rPr lang="en-US" altLang="ko-KR" dirty="0"/>
              <a:t>Memory : Limits </a:t>
            </a:r>
            <a:r>
              <a:rPr lang="ko-KR" altLang="en-US" dirty="0"/>
              <a:t>값을 넘어설 수 없으므로 </a:t>
            </a:r>
            <a:r>
              <a:rPr lang="en-US" altLang="ko-KR" dirty="0"/>
              <a:t>Pod</a:t>
            </a:r>
            <a:r>
              <a:rPr lang="ko-KR" altLang="en-US" dirty="0"/>
              <a:t>는 </a:t>
            </a:r>
            <a:r>
              <a:rPr lang="en-US" altLang="ko-KR" dirty="0" err="1"/>
              <a:t>OOM</a:t>
            </a:r>
            <a:r>
              <a:rPr lang="en-US" altLang="ko-KR" dirty="0"/>
              <a:t> Killer</a:t>
            </a:r>
            <a:r>
              <a:rPr lang="ko-KR" altLang="en-US" dirty="0"/>
              <a:t>에 의해 강제로 종료됨</a:t>
            </a:r>
          </a:p>
        </p:txBody>
      </p:sp>
    </p:spTree>
    <p:extLst>
      <p:ext uri="{BB962C8B-B14F-4D97-AF65-F5344CB8AC3E}">
        <p14:creationId xmlns:p14="http://schemas.microsoft.com/office/powerpoint/2010/main" val="396193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CD093-AE0B-AFA8-93C2-1A742CBA1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7200C2-14D8-4F55-B817-26B1B27B4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1.5 Resource Quota</a:t>
            </a:r>
            <a:r>
              <a:rPr lang="ko-KR" altLang="en-US" dirty="0"/>
              <a:t>와 </a:t>
            </a:r>
            <a:r>
              <a:rPr lang="en-US" altLang="ko-KR" dirty="0"/>
              <a:t>Limit Range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8F0610-5B92-3B86-7D85-E6BDD3A67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Resource Quota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b="0" i="0" dirty="0">
                <a:solidFill>
                  <a:srgbClr val="222222"/>
                </a:solidFill>
                <a:effectLst/>
                <a:latin typeface="open sans" panose="020F0502020204030204" pitchFamily="34" charset="0"/>
              </a:rPr>
              <a:t>namespace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open sans" panose="020F0502020204030204" pitchFamily="34" charset="0"/>
              </a:rPr>
              <a:t>단위로 총 리소스 사용을 제한하는 제약 조건을 제공</a:t>
            </a:r>
            <a:endParaRPr lang="en-US" altLang="ko-KR" b="0" i="0" dirty="0">
              <a:solidFill>
                <a:srgbClr val="222222"/>
              </a:solidFill>
              <a:effectLst/>
              <a:latin typeface="open sans" panose="020F0502020204030204" pitchFamily="34" charset="0"/>
            </a:endParaRPr>
          </a:p>
          <a:p>
            <a:pPr lvl="1"/>
            <a:r>
              <a:rPr lang="ko-KR" altLang="en-US" dirty="0">
                <a:solidFill>
                  <a:srgbClr val="222222"/>
                </a:solidFill>
                <a:latin typeface="open sans" panose="020F0502020204030204" pitchFamily="34" charset="0"/>
              </a:rPr>
              <a:t>리소스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open sans" panose="020F0502020204030204" pitchFamily="34" charset="0"/>
              </a:rPr>
              <a:t>유형별로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open sans" panose="020F0502020204030204" pitchFamily="34" charset="0"/>
              </a:rPr>
              <a:t>namespace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open sans" panose="020F0502020204030204" pitchFamily="34" charset="0"/>
              </a:rPr>
              <a:t>에서 만들 수 있는 오브젝트의  </a:t>
            </a:r>
            <a:r>
              <a:rPr lang="ko-KR" altLang="en-US" b="0" i="0" dirty="0" err="1">
                <a:solidFill>
                  <a:srgbClr val="222222"/>
                </a:solidFill>
                <a:effectLst/>
                <a:latin typeface="open sans" panose="020F0502020204030204" pitchFamily="34" charset="0"/>
              </a:rPr>
              <a:t>갯수와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open sans" panose="020F0502020204030204" pitchFamily="34" charset="0"/>
              </a:rPr>
              <a:t>namespace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open sans" panose="020F0502020204030204" pitchFamily="34" charset="0"/>
              </a:rPr>
              <a:t>의 리소스가 사용할 수 있는 총 </a:t>
            </a:r>
            <a:r>
              <a:rPr lang="ko-KR" altLang="en-US" dirty="0">
                <a:solidFill>
                  <a:srgbClr val="222222"/>
                </a:solidFill>
                <a:latin typeface="open sans" panose="020F0502020204030204" pitchFamily="34" charset="0"/>
              </a:rPr>
              <a:t>컴퓨팅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open sans" panose="020F0502020204030204" pitchFamily="34" charset="0"/>
              </a:rPr>
              <a:t> 리소스의 양을 제한함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open sans" panose="020F0502020204030204" pitchFamily="34" charset="0"/>
              </a:rPr>
              <a:t>.</a:t>
            </a:r>
          </a:p>
          <a:p>
            <a:pPr lvl="1"/>
            <a:r>
              <a:rPr lang="ko-KR" altLang="en-US" dirty="0">
                <a:solidFill>
                  <a:srgbClr val="222222"/>
                </a:solidFill>
                <a:latin typeface="open sans" panose="020F0502020204030204" pitchFamily="34" charset="0"/>
              </a:rPr>
              <a:t>생성되는 </a:t>
            </a:r>
            <a:r>
              <a:rPr lang="en-US" altLang="ko-KR" dirty="0">
                <a:solidFill>
                  <a:srgbClr val="222222"/>
                </a:solidFill>
                <a:latin typeface="open sans" panose="020F0502020204030204" pitchFamily="34" charset="0"/>
              </a:rPr>
              <a:t>pod</a:t>
            </a:r>
            <a:r>
              <a:rPr lang="ko-KR" altLang="en-US" dirty="0">
                <a:solidFill>
                  <a:srgbClr val="222222"/>
                </a:solidFill>
                <a:latin typeface="open sans" panose="020F0502020204030204" pitchFamily="34" charset="0"/>
              </a:rPr>
              <a:t>가 </a:t>
            </a:r>
            <a:r>
              <a:rPr lang="en-US" altLang="ko-KR" dirty="0">
                <a:solidFill>
                  <a:srgbClr val="222222"/>
                </a:solidFill>
                <a:latin typeface="open sans" panose="020F0502020204030204" pitchFamily="34" charset="0"/>
              </a:rPr>
              <a:t>resource-quota</a:t>
            </a:r>
            <a:r>
              <a:rPr lang="ko-KR" altLang="en-US" dirty="0">
                <a:solidFill>
                  <a:srgbClr val="222222"/>
                </a:solidFill>
                <a:latin typeface="open sans" panose="020F0502020204030204" pitchFamily="34" charset="0"/>
              </a:rPr>
              <a:t>의 적용을 받으려면 </a:t>
            </a:r>
            <a:r>
              <a:rPr lang="en-US" altLang="ko-KR" dirty="0">
                <a:solidFill>
                  <a:srgbClr val="222222"/>
                </a:solidFill>
                <a:latin typeface="open sans" panose="020F0502020204030204" pitchFamily="34" charset="0"/>
              </a:rPr>
              <a:t>pod</a:t>
            </a:r>
            <a:r>
              <a:rPr lang="ko-KR" altLang="en-US" dirty="0">
                <a:solidFill>
                  <a:srgbClr val="222222"/>
                </a:solidFill>
                <a:latin typeface="open sans" panose="020F0502020204030204" pitchFamily="34" charset="0"/>
              </a:rPr>
              <a:t> </a:t>
            </a:r>
            <a:r>
              <a:rPr lang="en-US" altLang="ko-KR" dirty="0">
                <a:solidFill>
                  <a:srgbClr val="222222"/>
                </a:solidFill>
                <a:latin typeface="open sans" panose="020F0502020204030204" pitchFamily="34" charset="0"/>
              </a:rPr>
              <a:t>spec</a:t>
            </a:r>
            <a:r>
              <a:rPr lang="ko-KR" altLang="en-US" dirty="0">
                <a:solidFill>
                  <a:srgbClr val="222222"/>
                </a:solidFill>
                <a:latin typeface="open sans" panose="020F0502020204030204" pitchFamily="34" charset="0"/>
              </a:rPr>
              <a:t>에서 반드시 </a:t>
            </a:r>
            <a:r>
              <a:rPr lang="en-US" altLang="ko-KR" dirty="0">
                <a:solidFill>
                  <a:srgbClr val="222222"/>
                </a:solidFill>
                <a:latin typeface="open sans" panose="020F0502020204030204" pitchFamily="34" charset="0"/>
              </a:rPr>
              <a:t>resource </a:t>
            </a:r>
            <a:r>
              <a:rPr lang="ko-KR" altLang="en-US" dirty="0">
                <a:solidFill>
                  <a:srgbClr val="222222"/>
                </a:solidFill>
                <a:latin typeface="open sans" panose="020F0502020204030204" pitchFamily="34" charset="0"/>
              </a:rPr>
              <a:t>설정을 해야 하고 </a:t>
            </a:r>
            <a:r>
              <a:rPr lang="en-US" altLang="ko-KR" dirty="0" err="1">
                <a:solidFill>
                  <a:srgbClr val="222222"/>
                </a:solidFill>
                <a:latin typeface="open sans" panose="020F0502020204030204" pitchFamily="34" charset="0"/>
              </a:rPr>
              <a:t>cpu</a:t>
            </a:r>
            <a:r>
              <a:rPr lang="en-US" altLang="ko-KR" dirty="0">
                <a:solidFill>
                  <a:srgbClr val="222222"/>
                </a:solidFill>
                <a:latin typeface="open sans" panose="020F0502020204030204" pitchFamily="34" charset="0"/>
              </a:rPr>
              <a:t>, memory </a:t>
            </a:r>
            <a:r>
              <a:rPr lang="ko-KR" altLang="en-US" dirty="0">
                <a:solidFill>
                  <a:srgbClr val="222222"/>
                </a:solidFill>
                <a:latin typeface="open sans" panose="020F0502020204030204" pitchFamily="34" charset="0"/>
              </a:rPr>
              <a:t>모두 포함해야 함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E5084D-68E7-7EFD-97A7-85BA0033DE4B}"/>
              </a:ext>
            </a:extLst>
          </p:cNvPr>
          <p:cNvSpPr txBox="1"/>
          <p:nvPr/>
        </p:nvSpPr>
        <p:spPr>
          <a:xfrm>
            <a:off x="875420" y="3356992"/>
            <a:ext cx="5040560" cy="32932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### resource-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quota.yaml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apiVersion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v1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kind: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ResourceQuota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metadata: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name: resource-quota-sample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namespace: default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spec: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hard: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pods: 4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requests.cpu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2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requests.memory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2Gi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limits.cpu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4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limits.memory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4Gi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9269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52E885-B2AB-1205-1254-3A929CC08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1.5 Resource Quota</a:t>
            </a:r>
            <a:r>
              <a:rPr lang="ko-KR" altLang="en-US" dirty="0"/>
              <a:t>와 </a:t>
            </a:r>
            <a:r>
              <a:rPr lang="en-US" altLang="ko-KR" dirty="0"/>
              <a:t>Limit Range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823543-B146-639C-B145-A52A86B29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테스트용 </a:t>
            </a:r>
            <a:r>
              <a:rPr lang="en-US" altLang="ko-KR" dirty="0"/>
              <a:t>deployment </a:t>
            </a:r>
            <a:r>
              <a:rPr lang="ko-KR" altLang="en-US" dirty="0"/>
              <a:t>배포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095070-BA3E-FE55-DC6F-8E72FF4B828D}"/>
              </a:ext>
            </a:extLst>
          </p:cNvPr>
          <p:cNvSpPr txBox="1"/>
          <p:nvPr/>
        </p:nvSpPr>
        <p:spPr>
          <a:xfrm>
            <a:off x="551384" y="1556792"/>
            <a:ext cx="5040560" cy="517064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5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### </a:t>
            </a:r>
            <a:r>
              <a:rPr lang="en-US" altLang="ko-KR" sz="15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nodeapp-deploy.yaml</a:t>
            </a:r>
            <a:endParaRPr lang="en-US" altLang="ko-KR" sz="15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5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apiVersion</a:t>
            </a:r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: apps/</a:t>
            </a:r>
            <a:r>
              <a:rPr lang="en-US" altLang="ko-KR" sz="15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v1</a:t>
            </a:r>
            <a:endParaRPr lang="en-US" altLang="ko-KR" sz="15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kind: Deployment</a:t>
            </a:r>
          </a:p>
          <a:p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metadata:</a:t>
            </a:r>
          </a:p>
          <a:p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name: </a:t>
            </a:r>
            <a:r>
              <a:rPr lang="en-US" altLang="ko-KR" sz="15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-deploy</a:t>
            </a:r>
          </a:p>
          <a:p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namespace: default</a:t>
            </a:r>
          </a:p>
          <a:p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spec:</a:t>
            </a:r>
          </a:p>
          <a:p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  replicas: 2</a:t>
            </a:r>
          </a:p>
          <a:p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  selector:</a:t>
            </a:r>
          </a:p>
          <a:p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lang="en-US" altLang="ko-KR" sz="15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matchLabels</a:t>
            </a:r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app: </a:t>
            </a:r>
            <a:r>
              <a:rPr lang="en-US" altLang="ko-KR" sz="15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5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  template:</a:t>
            </a:r>
          </a:p>
          <a:p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    metadata:</a:t>
            </a:r>
          </a:p>
          <a:p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name: </a:t>
            </a:r>
            <a:r>
              <a:rPr lang="en-US" altLang="ko-KR" sz="15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5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labels:</a:t>
            </a:r>
          </a:p>
          <a:p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app: </a:t>
            </a:r>
            <a:r>
              <a:rPr lang="en-US" altLang="ko-KR" sz="15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5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    spec:</a:t>
            </a:r>
          </a:p>
          <a:p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containers:</a:t>
            </a:r>
          </a:p>
          <a:p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- name: </a:t>
            </a:r>
            <a:r>
              <a:rPr lang="en-US" altLang="ko-KR" sz="15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5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image: stepanowon/</a:t>
            </a:r>
            <a:r>
              <a:rPr lang="en-US" altLang="ko-KR" sz="15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nodeapp-slim:1.0.0</a:t>
            </a:r>
            <a:endParaRPr lang="en-US" altLang="ko-KR" sz="15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ports:</a:t>
            </a:r>
          </a:p>
          <a:p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- </a:t>
            </a:r>
            <a:r>
              <a:rPr lang="en-US" altLang="ko-KR" sz="15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containerPort</a:t>
            </a:r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: 8080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F326CB-33AD-E616-1EAB-D04B804E6CC4}"/>
              </a:ext>
            </a:extLst>
          </p:cNvPr>
          <p:cNvSpPr txBox="1"/>
          <p:nvPr/>
        </p:nvSpPr>
        <p:spPr>
          <a:xfrm>
            <a:off x="6275837" y="1556792"/>
            <a:ext cx="5040560" cy="170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resources:</a:t>
            </a:r>
          </a:p>
          <a:p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requests:</a:t>
            </a:r>
          </a:p>
          <a:p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memory: "</a:t>
            </a:r>
            <a:r>
              <a:rPr lang="en-US" altLang="ko-KR" sz="15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100Mi</a:t>
            </a:r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"</a:t>
            </a:r>
          </a:p>
          <a:p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</a:t>
            </a:r>
            <a:r>
              <a:rPr lang="en-US" altLang="ko-KR" sz="15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cpu</a:t>
            </a:r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: "</a:t>
            </a:r>
            <a:r>
              <a:rPr lang="en-US" altLang="ko-KR" sz="15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64m</a:t>
            </a:r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"</a:t>
            </a:r>
          </a:p>
          <a:p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limits:</a:t>
            </a:r>
          </a:p>
          <a:p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memory: "</a:t>
            </a:r>
            <a:r>
              <a:rPr lang="en-US" altLang="ko-KR" sz="15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200Mi</a:t>
            </a:r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"</a:t>
            </a:r>
          </a:p>
          <a:p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</a:t>
            </a:r>
            <a:r>
              <a:rPr lang="en-US" altLang="ko-KR" sz="15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cpu</a:t>
            </a:r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: "</a:t>
            </a:r>
            <a:r>
              <a:rPr lang="en-US" altLang="ko-KR" sz="15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128m</a:t>
            </a:r>
            <a:r>
              <a:rPr lang="en-US" altLang="ko-KR" sz="1500" dirty="0">
                <a:latin typeface="굴림체" panose="020B0609000101010101" pitchFamily="49" charset="-127"/>
                <a:ea typeface="굴림체" panose="020B0609000101010101" pitchFamily="49" charset="-127"/>
              </a:rPr>
              <a:t>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78B1FF-1251-57A9-7505-BFAACE17F91E}"/>
              </a:ext>
            </a:extLst>
          </p:cNvPr>
          <p:cNvSpPr txBox="1"/>
          <p:nvPr/>
        </p:nvSpPr>
        <p:spPr>
          <a:xfrm>
            <a:off x="6275837" y="3356992"/>
            <a:ext cx="5040560" cy="28931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 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다음 명령 실행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ko-KR" altLang="en-US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apply -f resource-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quota.yaml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ko-KR" altLang="en-US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apply -f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nodeapp-deploy.yaml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 Pod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정상 배포 확인 후 다음 명령 실행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scale deployment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-deploy --replicas=5</a:t>
            </a:r>
          </a:p>
          <a:p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 Pod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가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5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개 아닌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4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개인 것을 확인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##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ResourceQuota</a:t>
            </a:r>
            <a:r>
              <a:rPr lang="ko-KR" altLang="en-US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에 의해서 제한된 것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 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리소스 정리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delete -f resource-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quota.yaml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delete -f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nodeapp-deploy.yaml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0854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1B86CC-3F75-BF10-2943-B722F0845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1.5 Resource Quota</a:t>
            </a:r>
            <a:r>
              <a:rPr lang="ko-KR" altLang="en-US" dirty="0"/>
              <a:t>와 </a:t>
            </a:r>
            <a:r>
              <a:rPr lang="en-US" altLang="ko-KR" dirty="0"/>
              <a:t>Limit Range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5A7D-86BA-C0DE-6353-CE8DA4ECE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105" y="1016732"/>
            <a:ext cx="6239935" cy="5472608"/>
          </a:xfrm>
        </p:spPr>
        <p:txBody>
          <a:bodyPr/>
          <a:lstStyle/>
          <a:p>
            <a:r>
              <a:rPr lang="en-US" altLang="ko-KR" dirty="0"/>
              <a:t>Limit</a:t>
            </a:r>
            <a:r>
              <a:rPr lang="ko-KR" altLang="en-US" dirty="0"/>
              <a:t> </a:t>
            </a:r>
            <a:r>
              <a:rPr lang="en-US" altLang="ko-KR" dirty="0"/>
              <a:t>Range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지정한 </a:t>
            </a:r>
            <a:r>
              <a:rPr lang="en-US" altLang="ko-KR" dirty="0"/>
              <a:t>Namespace</a:t>
            </a:r>
            <a:r>
              <a:rPr lang="ko-KR" altLang="en-US" dirty="0"/>
              <a:t>의 리소스에 대한 </a:t>
            </a:r>
            <a:r>
              <a:rPr lang="en-US" altLang="ko-KR" dirty="0"/>
              <a:t>requests, limits </a:t>
            </a:r>
            <a:r>
              <a:rPr lang="ko-KR" altLang="en-US" dirty="0"/>
              <a:t>값을 설정할 수 있음</a:t>
            </a:r>
            <a:endParaRPr lang="en-US" altLang="ko-KR" dirty="0"/>
          </a:p>
          <a:p>
            <a:pPr lvl="1"/>
            <a:r>
              <a:rPr lang="ko-KR" altLang="en-US" dirty="0"/>
              <a:t>설정 항목</a:t>
            </a:r>
            <a:endParaRPr lang="en-US" altLang="ko-KR" dirty="0"/>
          </a:p>
          <a:p>
            <a:pPr lvl="2"/>
            <a:r>
              <a:rPr lang="en-US" altLang="ko-KR" dirty="0"/>
              <a:t>default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기본 </a:t>
            </a:r>
            <a:r>
              <a:rPr lang="en-US" altLang="ko-KR" dirty="0"/>
              <a:t>limits</a:t>
            </a:r>
          </a:p>
          <a:p>
            <a:pPr lvl="2"/>
            <a:r>
              <a:rPr lang="en-US" altLang="ko-KR" dirty="0" err="1"/>
              <a:t>defaultRequests</a:t>
            </a:r>
            <a:r>
              <a:rPr lang="en-US" altLang="ko-KR" dirty="0"/>
              <a:t> : </a:t>
            </a:r>
            <a:r>
              <a:rPr lang="ko-KR" altLang="en-US" dirty="0"/>
              <a:t>기본 </a:t>
            </a:r>
            <a:r>
              <a:rPr lang="en-US" altLang="ko-KR" dirty="0"/>
              <a:t>requests</a:t>
            </a:r>
          </a:p>
          <a:p>
            <a:pPr lvl="2"/>
            <a:r>
              <a:rPr lang="en-US" altLang="ko-KR" dirty="0"/>
              <a:t>max : </a:t>
            </a:r>
            <a:r>
              <a:rPr lang="ko-KR" altLang="en-US" dirty="0"/>
              <a:t>최대 리소스 값</a:t>
            </a:r>
            <a:endParaRPr lang="en-US" altLang="ko-KR" dirty="0"/>
          </a:p>
          <a:p>
            <a:pPr lvl="2"/>
            <a:r>
              <a:rPr lang="en-US" altLang="ko-KR" dirty="0"/>
              <a:t>min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최소 리소스 값</a:t>
            </a:r>
            <a:endParaRPr lang="en-US" altLang="ko-KR" dirty="0"/>
          </a:p>
          <a:p>
            <a:pPr lvl="2"/>
            <a:r>
              <a:rPr lang="en-US" altLang="ko-KR" dirty="0" err="1"/>
              <a:t>maxLimitRequestRatio</a:t>
            </a:r>
            <a:r>
              <a:rPr lang="en-US" altLang="ko-KR" dirty="0"/>
              <a:t> : limits / requests </a:t>
            </a:r>
            <a:r>
              <a:rPr lang="ko-KR" altLang="en-US" dirty="0"/>
              <a:t>의 비율</a:t>
            </a:r>
            <a:endParaRPr lang="en-US" altLang="ko-KR" dirty="0"/>
          </a:p>
          <a:p>
            <a:pPr lvl="1"/>
            <a:r>
              <a:rPr lang="ko-KR" altLang="en-US" dirty="0"/>
              <a:t>설정 대상</a:t>
            </a:r>
            <a:r>
              <a:rPr lang="en-US" altLang="ko-KR" dirty="0"/>
              <a:t>(type)</a:t>
            </a:r>
          </a:p>
          <a:p>
            <a:pPr lvl="2"/>
            <a:r>
              <a:rPr lang="en-US" altLang="ko-KR" dirty="0"/>
              <a:t>Container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default, </a:t>
            </a:r>
            <a:r>
              <a:rPr lang="en-US" altLang="ko-KR" dirty="0" err="1"/>
              <a:t>defaultRequests</a:t>
            </a:r>
            <a:r>
              <a:rPr lang="en-US" altLang="ko-KR" dirty="0"/>
              <a:t>, max, min, </a:t>
            </a:r>
            <a:r>
              <a:rPr lang="en-US" altLang="ko-KR" dirty="0" err="1"/>
              <a:t>maxLimitRequestRatio</a:t>
            </a:r>
            <a:endParaRPr lang="en-US" altLang="ko-KR" dirty="0"/>
          </a:p>
          <a:p>
            <a:pPr lvl="2"/>
            <a:r>
              <a:rPr lang="en-US" altLang="ko-KR" dirty="0"/>
              <a:t>Pod : max, min, </a:t>
            </a:r>
            <a:r>
              <a:rPr lang="en-US" altLang="ko-KR" dirty="0" err="1"/>
              <a:t>maxLimitRequestsRatio</a:t>
            </a:r>
            <a:r>
              <a:rPr lang="en-US" altLang="ko-KR" dirty="0"/>
              <a:t> </a:t>
            </a:r>
            <a:r>
              <a:rPr lang="ko-KR" altLang="en-US" dirty="0"/>
              <a:t>를 설정할 수 있음</a:t>
            </a:r>
            <a:endParaRPr lang="en-US" altLang="ko-KR" dirty="0"/>
          </a:p>
          <a:p>
            <a:pPr lvl="1"/>
            <a:r>
              <a:rPr lang="ko-KR" altLang="en-US" dirty="0"/>
              <a:t>신규로 </a:t>
            </a:r>
            <a:r>
              <a:rPr lang="ko-KR" altLang="en-US" dirty="0" err="1"/>
              <a:t>파드를</a:t>
            </a:r>
            <a:r>
              <a:rPr lang="ko-KR" altLang="en-US" dirty="0"/>
              <a:t> 생성할 때 사용되므로 기존에 실행되고 있는 </a:t>
            </a:r>
            <a:r>
              <a:rPr lang="en-US" altLang="ko-KR" dirty="0"/>
              <a:t>Pod</a:t>
            </a:r>
            <a:r>
              <a:rPr lang="ko-KR" altLang="en-US" dirty="0"/>
              <a:t>에는 영향을 주지 않음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54C62C-E19A-4DA0-009F-AE4831689710}"/>
              </a:ext>
            </a:extLst>
          </p:cNvPr>
          <p:cNvSpPr txBox="1"/>
          <p:nvPr/>
        </p:nvSpPr>
        <p:spPr>
          <a:xfrm>
            <a:off x="6457528" y="584684"/>
            <a:ext cx="5644701" cy="600164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###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limitrange.yaml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apiVersion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v1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kind: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LimitRange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metadata: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limitrange1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namespace: default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spec: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limits: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- type: Container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default:              # </a:t>
            </a:r>
            <a:r>
              <a:rPr lang="ko-KR" altLang="en-US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기본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limits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memory: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128Mi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cpu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200m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defaultRequest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      # </a:t>
            </a:r>
            <a:r>
              <a:rPr lang="ko-KR" altLang="en-US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기본 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requests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memory: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64Mi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cpu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100m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maxLimitRequestRatio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# limits/requests </a:t>
            </a:r>
            <a:r>
              <a:rPr lang="ko-KR" altLang="en-US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비율값</a:t>
            </a:r>
            <a:endParaRPr lang="ko-KR" altLang="en-US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memory: 2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cpu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2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max:                  # </a:t>
            </a:r>
            <a:r>
              <a:rPr lang="ko-KR" altLang="en-US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최대 리소스</a:t>
            </a:r>
          </a:p>
          <a:p>
            <a:r>
              <a:rPr lang="ko-KR" altLang="en-US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memory: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256Mi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cpu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4000m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min:                  # </a:t>
            </a:r>
            <a:r>
              <a:rPr lang="ko-KR" altLang="en-US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최소 리소스</a:t>
            </a:r>
          </a:p>
          <a:p>
            <a:r>
              <a:rPr lang="ko-KR" altLang="en-US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memory: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32Mi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cpu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50m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4154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BC3FBE-5C89-D767-54D8-7C92E6F49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1.5 Resource Quota</a:t>
            </a:r>
            <a:r>
              <a:rPr lang="ko-KR" altLang="en-US" dirty="0"/>
              <a:t>와 </a:t>
            </a:r>
            <a:r>
              <a:rPr lang="en-US" altLang="ko-KR" dirty="0"/>
              <a:t>Limit Range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5972A0-6094-F3A8-926F-8360BBCE0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Limit Range </a:t>
            </a:r>
            <a:r>
              <a:rPr lang="ko-KR" altLang="en-US" dirty="0"/>
              <a:t>테스트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F57A6C-9042-C022-3B37-0F6884A42075}"/>
              </a:ext>
            </a:extLst>
          </p:cNvPr>
          <p:cNvSpPr txBox="1"/>
          <p:nvPr/>
        </p:nvSpPr>
        <p:spPr>
          <a:xfrm>
            <a:off x="515380" y="1556792"/>
            <a:ext cx="10684768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nodeapp-deploy2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배포 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이것은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nodeapp-deploy.yaml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에서 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resource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설정을 제거한 것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apply -f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nodeapp-deploy2.yaml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 Pod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리스트 조회 후 생성된 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pod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이름으로 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describe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명령 수행하여 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QoS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가 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best effort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임을 확인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get pods</a:t>
            </a: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describe pods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nodeapp-deploy2-xxxxxxx-yyyy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LimitRange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리소스 생성하고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deploymen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의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replcas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값 변경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apply -f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limitrange.yaml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scale deployment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nodeapp-deploy2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--replicas=3</a:t>
            </a:r>
          </a:p>
          <a:p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가장 최근에 생성된 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pod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의 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QoS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확인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get pods </a:t>
            </a:r>
            <a:r>
              <a:rPr lang="ko-KR" altLang="en-US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명령 실행 후 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AGE </a:t>
            </a:r>
            <a:r>
              <a:rPr lang="ko-KR" altLang="en-US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필드 확인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describe pods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nodeapp-deploy2-zzzzzz-kkkk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리소스 정리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delete -f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nodeapp-deploy2.yaml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delete -f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limitrange.yaml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2266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516B73-32FE-3648-84E1-2DBFCD171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스케줄링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616E80-7421-9ED6-ECF8-8629A5EE5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스케줄링 개요</a:t>
            </a:r>
            <a:endParaRPr lang="en-US" altLang="ko-KR" dirty="0"/>
          </a:p>
          <a:p>
            <a:r>
              <a:rPr lang="ko-KR" altLang="en-US" dirty="0"/>
              <a:t>스케줄링 처리 흐름</a:t>
            </a:r>
            <a:endParaRPr lang="en-US" altLang="ko-KR" dirty="0"/>
          </a:p>
          <a:p>
            <a:r>
              <a:rPr lang="en-US" altLang="ko-KR" dirty="0" err="1"/>
              <a:t>kube</a:t>
            </a:r>
            <a:r>
              <a:rPr lang="en-US" altLang="ko-KR" dirty="0"/>
              <a:t>-scheduler</a:t>
            </a:r>
          </a:p>
          <a:p>
            <a:r>
              <a:rPr lang="en-US" altLang="ko-KR" dirty="0" err="1"/>
              <a:t>nodeSelector</a:t>
            </a:r>
            <a:endParaRPr lang="en-US" altLang="ko-KR" dirty="0"/>
          </a:p>
          <a:p>
            <a:r>
              <a:rPr lang="en-US" altLang="ko-KR" dirty="0"/>
              <a:t>affinity, anti-affinity</a:t>
            </a:r>
          </a:p>
          <a:p>
            <a:r>
              <a:rPr lang="en-US" altLang="ko-KR" dirty="0"/>
              <a:t>taints,</a:t>
            </a:r>
            <a:r>
              <a:rPr lang="ko-KR" altLang="en-US" dirty="0"/>
              <a:t> </a:t>
            </a:r>
            <a:r>
              <a:rPr lang="en-US" altLang="ko-KR" dirty="0"/>
              <a:t>tolerations</a:t>
            </a:r>
          </a:p>
          <a:p>
            <a:r>
              <a:rPr lang="en-US" altLang="ko-KR" dirty="0"/>
              <a:t>priority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048728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749F40-246F-BCC6-14AF-14611D8CC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 </a:t>
            </a:r>
            <a:r>
              <a:rPr lang="ko-KR" altLang="en-US" dirty="0"/>
              <a:t>스케줄링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F58589-4014-D448-1A89-D0D3CFA93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스케줄링</a:t>
            </a:r>
            <a:r>
              <a:rPr lang="en-US" altLang="ko-KR" dirty="0"/>
              <a:t>(Scheduling)</a:t>
            </a:r>
          </a:p>
          <a:p>
            <a:pPr lvl="1"/>
            <a:r>
              <a:rPr lang="en-US" altLang="ko-KR" dirty="0"/>
              <a:t>Pod</a:t>
            </a:r>
            <a:r>
              <a:rPr lang="ko-KR" altLang="en-US" dirty="0"/>
              <a:t>를 어떤 노드에 실행시킬지 결정하는 과정</a:t>
            </a:r>
            <a:endParaRPr lang="en-US" altLang="ko-KR" dirty="0"/>
          </a:p>
          <a:p>
            <a:pPr lvl="1"/>
            <a:r>
              <a:rPr lang="en-US" altLang="ko-KR" dirty="0"/>
              <a:t>Control Plane </a:t>
            </a:r>
            <a:r>
              <a:rPr lang="ko-KR" altLang="en-US" dirty="0"/>
              <a:t>상의 </a:t>
            </a:r>
            <a:r>
              <a:rPr lang="en-US" altLang="ko-KR" dirty="0"/>
              <a:t>Scheduler</a:t>
            </a:r>
            <a:r>
              <a:rPr lang="ko-KR" altLang="en-US" dirty="0"/>
              <a:t>가 스케줄링 과정을 담당함</a:t>
            </a:r>
            <a:endParaRPr lang="en-US" altLang="ko-KR" dirty="0"/>
          </a:p>
          <a:p>
            <a:pPr lvl="1"/>
            <a:r>
              <a:rPr lang="en-US" altLang="ko-KR" dirty="0"/>
              <a:t>Pod Spec</a:t>
            </a:r>
            <a:r>
              <a:rPr lang="ko-KR" altLang="en-US" dirty="0"/>
              <a:t>에 </a:t>
            </a:r>
            <a:r>
              <a:rPr lang="en-US" altLang="ko-KR" dirty="0" err="1"/>
              <a:t>nodeName</a:t>
            </a:r>
            <a:r>
              <a:rPr lang="ko-KR" altLang="en-US" dirty="0"/>
              <a:t>을 직접 명시하면 스케줄링을 거치지 않고 해당 노드에 직접 배치됨</a:t>
            </a:r>
            <a:endParaRPr lang="en-US" altLang="ko-KR" dirty="0"/>
          </a:p>
          <a:p>
            <a:r>
              <a:rPr lang="ko-KR" altLang="en-US" dirty="0"/>
              <a:t>전체 처리 흐름</a:t>
            </a:r>
            <a:endParaRPr lang="en-US" altLang="ko-KR" dirty="0"/>
          </a:p>
          <a:p>
            <a:pPr lvl="1"/>
            <a:r>
              <a:rPr lang="ko-KR" altLang="en-US" dirty="0"/>
              <a:t>사용자가 </a:t>
            </a:r>
            <a:r>
              <a:rPr lang="en-US" altLang="ko-KR" dirty="0"/>
              <a:t>Pod</a:t>
            </a:r>
            <a:r>
              <a:rPr lang="ko-KR" altLang="en-US" dirty="0"/>
              <a:t>를 생성하면 </a:t>
            </a:r>
            <a:r>
              <a:rPr lang="en-US" altLang="ko-KR" dirty="0"/>
              <a:t>pending </a:t>
            </a:r>
            <a:r>
              <a:rPr lang="ko-KR" altLang="en-US" dirty="0"/>
              <a:t>상태로 시작</a:t>
            </a:r>
            <a:endParaRPr lang="en-US" altLang="ko-KR" dirty="0"/>
          </a:p>
          <a:p>
            <a:pPr lvl="1"/>
            <a:r>
              <a:rPr lang="en-US" altLang="ko-KR" dirty="0"/>
              <a:t>scheduler</a:t>
            </a:r>
            <a:r>
              <a:rPr lang="ko-KR" altLang="en-US" dirty="0"/>
              <a:t>는  할당되지 않은 </a:t>
            </a:r>
            <a:r>
              <a:rPr lang="en-US" altLang="ko-KR" dirty="0"/>
              <a:t>Pod</a:t>
            </a:r>
            <a:r>
              <a:rPr lang="ko-KR" altLang="en-US" dirty="0"/>
              <a:t>가 있는지 확인하기 위해 </a:t>
            </a:r>
            <a:r>
              <a:rPr lang="en-US" altLang="ko-KR" dirty="0" err="1"/>
              <a:t>apiserver</a:t>
            </a:r>
            <a:r>
              <a:rPr lang="ko-KR" altLang="en-US" dirty="0"/>
              <a:t>를 지속적으로 관찰</a:t>
            </a:r>
            <a:endParaRPr lang="en-US" altLang="ko-KR" dirty="0"/>
          </a:p>
          <a:p>
            <a:pPr lvl="1"/>
            <a:r>
              <a:rPr lang="ko-KR" altLang="en-US" dirty="0"/>
              <a:t>할당되지 않은 </a:t>
            </a:r>
            <a:r>
              <a:rPr lang="en-US" altLang="ko-KR" dirty="0"/>
              <a:t>Pod</a:t>
            </a:r>
            <a:r>
              <a:rPr lang="ko-KR" altLang="en-US" dirty="0"/>
              <a:t>가 발견되면 그 </a:t>
            </a:r>
            <a:r>
              <a:rPr lang="en-US" altLang="ko-KR" dirty="0"/>
              <a:t>Pod</a:t>
            </a:r>
            <a:r>
              <a:rPr lang="ko-KR" altLang="en-US" dirty="0"/>
              <a:t>를 배치할 </a:t>
            </a:r>
            <a:r>
              <a:rPr lang="en-US" altLang="ko-KR" dirty="0"/>
              <a:t>Node </a:t>
            </a:r>
            <a:r>
              <a:rPr lang="ko-KR" altLang="en-US" dirty="0"/>
              <a:t>선택 작업 진행</a:t>
            </a:r>
            <a:endParaRPr lang="en-US" altLang="ko-KR" dirty="0"/>
          </a:p>
          <a:p>
            <a:pPr lvl="2"/>
            <a:r>
              <a:rPr lang="en-US" altLang="ko-KR" dirty="0"/>
              <a:t>Filtering, Scoring </a:t>
            </a:r>
          </a:p>
          <a:p>
            <a:pPr lvl="1"/>
            <a:r>
              <a:rPr lang="ko-KR" altLang="en-US" dirty="0" err="1"/>
              <a:t>스케줄링할</a:t>
            </a:r>
            <a:r>
              <a:rPr lang="ko-KR" altLang="en-US" dirty="0"/>
              <a:t> </a:t>
            </a:r>
            <a:r>
              <a:rPr lang="en-US" altLang="ko-KR" dirty="0"/>
              <a:t>Node</a:t>
            </a:r>
            <a:r>
              <a:rPr lang="ko-KR" altLang="en-US" dirty="0"/>
              <a:t>가 결정되면 </a:t>
            </a:r>
            <a:r>
              <a:rPr lang="en-US" altLang="ko-KR" dirty="0" err="1"/>
              <a:t>etcd</a:t>
            </a:r>
            <a:r>
              <a:rPr lang="ko-KR" altLang="en-US" dirty="0"/>
              <a:t>에 </a:t>
            </a:r>
            <a:r>
              <a:rPr lang="en-US" altLang="ko-KR" dirty="0"/>
              <a:t>Pod </a:t>
            </a:r>
            <a:r>
              <a:rPr lang="ko-KR" altLang="en-US" dirty="0"/>
              <a:t>의 </a:t>
            </a:r>
            <a:r>
              <a:rPr lang="en-US" altLang="ko-KR" dirty="0"/>
              <a:t>Node </a:t>
            </a:r>
            <a:r>
              <a:rPr lang="ko-KR" altLang="en-US" dirty="0"/>
              <a:t>정보 저장</a:t>
            </a:r>
            <a:endParaRPr lang="en-US" altLang="ko-KR" dirty="0"/>
          </a:p>
          <a:p>
            <a:pPr lvl="1"/>
            <a:r>
              <a:rPr lang="ko-KR" altLang="en-US" dirty="0"/>
              <a:t>각 </a:t>
            </a:r>
            <a:r>
              <a:rPr lang="en-US" altLang="ko-KR" dirty="0"/>
              <a:t>Worker Node</a:t>
            </a:r>
            <a:r>
              <a:rPr lang="ko-KR" altLang="en-US" dirty="0"/>
              <a:t>의 </a:t>
            </a:r>
            <a:r>
              <a:rPr lang="en-US" altLang="ko-KR" dirty="0" err="1"/>
              <a:t>kubelet</a:t>
            </a:r>
            <a:r>
              <a:rPr lang="ko-KR" altLang="en-US" dirty="0"/>
              <a:t>이 </a:t>
            </a:r>
            <a:r>
              <a:rPr lang="en-US" altLang="ko-KR" dirty="0" err="1"/>
              <a:t>apiserver</a:t>
            </a:r>
            <a:r>
              <a:rPr lang="ko-KR" altLang="en-US" dirty="0"/>
              <a:t>를 관찰하다가 자신의 노드에 할당된 새로운 </a:t>
            </a:r>
            <a:r>
              <a:rPr lang="en-US" altLang="ko-KR" dirty="0"/>
              <a:t>Pod </a:t>
            </a:r>
            <a:r>
              <a:rPr lang="ko-KR" altLang="en-US" dirty="0"/>
              <a:t>가 나타나면 </a:t>
            </a:r>
            <a:r>
              <a:rPr lang="en-US" altLang="ko-KR" dirty="0"/>
              <a:t>Pod </a:t>
            </a:r>
            <a:r>
              <a:rPr lang="ko-KR" altLang="en-US" dirty="0"/>
              <a:t>실행</a:t>
            </a:r>
          </a:p>
          <a:p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62948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B4F9E3-E48E-0558-89A5-774E4C365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 </a:t>
            </a:r>
            <a:r>
              <a:rPr lang="ko-KR" altLang="en-US" dirty="0"/>
              <a:t>스케줄링</a:t>
            </a:r>
            <a:r>
              <a:rPr lang="en-US" altLang="ko-KR" dirty="0"/>
              <a:t> </a:t>
            </a:r>
            <a:r>
              <a:rPr lang="ko-KR" altLang="en-US" dirty="0"/>
              <a:t>처리 흐름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87E610C7-9942-13A7-19F8-CA2A3BA42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64" y="908720"/>
            <a:ext cx="6466304" cy="5168138"/>
          </a:xfrm>
          <a:prstGeom prst="rect">
            <a:avLst/>
          </a:prstGeom>
        </p:spPr>
      </p:pic>
      <p:sp>
        <p:nvSpPr>
          <p:cNvPr id="35" name="화살표: 아래쪽 34">
            <a:extLst>
              <a:ext uri="{FF2B5EF4-FFF2-40B4-BE49-F238E27FC236}">
                <a16:creationId xmlns:a16="http://schemas.microsoft.com/office/drawing/2014/main" id="{AFFAF485-A654-35A6-BC3A-B58E2606AB00}"/>
              </a:ext>
            </a:extLst>
          </p:cNvPr>
          <p:cNvSpPr/>
          <p:nvPr/>
        </p:nvSpPr>
        <p:spPr>
          <a:xfrm>
            <a:off x="2495600" y="6256877"/>
            <a:ext cx="1836204" cy="2880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73332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A8B083-0193-C32D-ED3B-AB8D5D6D4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 </a:t>
            </a:r>
            <a:r>
              <a:rPr lang="ko-KR" altLang="en-US" dirty="0"/>
              <a:t>스케줄링</a:t>
            </a:r>
            <a:r>
              <a:rPr lang="en-US" altLang="ko-KR" dirty="0"/>
              <a:t> </a:t>
            </a:r>
            <a:r>
              <a:rPr lang="ko-KR" altLang="en-US" dirty="0"/>
              <a:t>처리 흐름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8ED49AE-0882-5B71-AB78-A2A19403EB29}"/>
              </a:ext>
            </a:extLst>
          </p:cNvPr>
          <p:cNvGrpSpPr/>
          <p:nvPr/>
        </p:nvGrpSpPr>
        <p:grpSpPr>
          <a:xfrm>
            <a:off x="947428" y="1736812"/>
            <a:ext cx="7632848" cy="4572508"/>
            <a:chOff x="5843971" y="1973307"/>
            <a:chExt cx="6172175" cy="3484217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E05493D2-83FB-15FD-FFCD-A29E68EBBB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52044" y="1973307"/>
              <a:ext cx="4937760" cy="400792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CF6FA0EF-A4BE-FA81-743B-75578DB539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43971" y="2374099"/>
              <a:ext cx="6172175" cy="3083425"/>
            </a:xfrm>
            <a:prstGeom prst="rect">
              <a:avLst/>
            </a:prstGeom>
          </p:spPr>
        </p:pic>
      </p:grpSp>
      <p:sp>
        <p:nvSpPr>
          <p:cNvPr id="36" name="화살표: 아래쪽 35">
            <a:extLst>
              <a:ext uri="{FF2B5EF4-FFF2-40B4-BE49-F238E27FC236}">
                <a16:creationId xmlns:a16="http://schemas.microsoft.com/office/drawing/2014/main" id="{5CB94328-715A-2241-210E-94FA76A82E1E}"/>
              </a:ext>
            </a:extLst>
          </p:cNvPr>
          <p:cNvSpPr/>
          <p:nvPr/>
        </p:nvSpPr>
        <p:spPr>
          <a:xfrm>
            <a:off x="3611724" y="1271442"/>
            <a:ext cx="1836204" cy="2880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4425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9CBEA1-7ECB-231A-8F8C-6AC3FBC75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2.3 </a:t>
            </a:r>
            <a:r>
              <a:rPr lang="en-US" altLang="ko-KR" dirty="0" err="1"/>
              <a:t>kube</a:t>
            </a:r>
            <a:r>
              <a:rPr lang="en-US" altLang="ko-KR" dirty="0"/>
              <a:t>-scheduler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4F366B-B8B3-E58A-BF0A-73F0900A2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kube</a:t>
            </a:r>
            <a:r>
              <a:rPr lang="en-US" altLang="ko-KR" dirty="0"/>
              <a:t>-scheduler</a:t>
            </a:r>
          </a:p>
          <a:p>
            <a:pPr lvl="1"/>
            <a:r>
              <a:rPr lang="ko-KR" altLang="en-US" dirty="0" err="1"/>
              <a:t>쿠버네티스</a:t>
            </a:r>
            <a:r>
              <a:rPr lang="ko-KR" altLang="en-US" dirty="0"/>
              <a:t> 스케줄러</a:t>
            </a:r>
            <a:r>
              <a:rPr lang="en-US" altLang="ko-KR" dirty="0"/>
              <a:t>. Control Plane</a:t>
            </a:r>
            <a:r>
              <a:rPr lang="ko-KR" altLang="en-US" dirty="0"/>
              <a:t>의 구성요소</a:t>
            </a:r>
            <a:endParaRPr lang="en-US" altLang="ko-KR" dirty="0"/>
          </a:p>
          <a:p>
            <a:pPr lvl="1"/>
            <a:r>
              <a:rPr lang="en-US" altLang="ko-KR" dirty="0" err="1"/>
              <a:t>kubelet</a:t>
            </a:r>
            <a:r>
              <a:rPr lang="ko-KR" altLang="en-US" dirty="0"/>
              <a:t>이 노드에 할당되지 않은 </a:t>
            </a:r>
            <a:r>
              <a:rPr lang="en-US" altLang="ko-KR" dirty="0"/>
              <a:t>Pod</a:t>
            </a:r>
            <a:r>
              <a:rPr lang="ko-KR" altLang="en-US" dirty="0"/>
              <a:t>를 찾아 그 </a:t>
            </a:r>
            <a:r>
              <a:rPr lang="en-US" altLang="ko-KR" dirty="0"/>
              <a:t>Pod</a:t>
            </a:r>
            <a:r>
              <a:rPr lang="ko-KR" altLang="en-US" dirty="0"/>
              <a:t>를 실행할 노드를 확인하는 역할을 수행</a:t>
            </a:r>
            <a:endParaRPr lang="en-US" altLang="ko-KR" dirty="0"/>
          </a:p>
          <a:p>
            <a:pPr lvl="1"/>
            <a:r>
              <a:rPr lang="en-US" altLang="ko-KR" dirty="0"/>
              <a:t>2</a:t>
            </a:r>
            <a:r>
              <a:rPr lang="ko-KR" altLang="en-US" dirty="0"/>
              <a:t>단계 작업</a:t>
            </a:r>
            <a:endParaRPr lang="en-US" altLang="ko-KR" dirty="0"/>
          </a:p>
          <a:p>
            <a:pPr lvl="2"/>
            <a:r>
              <a:rPr lang="en-US" altLang="ko-KR" dirty="0"/>
              <a:t>Scheduling Cycle</a:t>
            </a:r>
          </a:p>
          <a:p>
            <a:pPr lvl="3"/>
            <a:r>
              <a:rPr lang="ko-KR" altLang="en-US" dirty="0"/>
              <a:t>최적의 노드를 선택하기 위해 </a:t>
            </a:r>
            <a:r>
              <a:rPr lang="en-US" altLang="ko-KR" dirty="0"/>
              <a:t>Filtering, Scoring </a:t>
            </a:r>
            <a:r>
              <a:rPr lang="ko-KR" altLang="en-US" dirty="0"/>
              <a:t>작업을 수행함</a:t>
            </a:r>
            <a:endParaRPr lang="en-US" altLang="ko-KR" dirty="0"/>
          </a:p>
          <a:p>
            <a:pPr lvl="2"/>
            <a:r>
              <a:rPr lang="en-US" altLang="ko-KR" dirty="0"/>
              <a:t>Binding Cycle</a:t>
            </a:r>
          </a:p>
          <a:p>
            <a:pPr lvl="3"/>
            <a:r>
              <a:rPr lang="en-US" altLang="ko-KR" dirty="0"/>
              <a:t>binding </a:t>
            </a:r>
            <a:r>
              <a:rPr lang="ko-KR" altLang="en-US" dirty="0"/>
              <a:t>이벤트를 이용해 변경 사항을 클러스터에 적용함</a:t>
            </a:r>
            <a:endParaRPr lang="en-US" altLang="ko-KR" dirty="0"/>
          </a:p>
          <a:p>
            <a:pPr lvl="1"/>
            <a:r>
              <a:rPr lang="en-US" altLang="ko-KR" dirty="0"/>
              <a:t>Scheduling</a:t>
            </a:r>
            <a:r>
              <a:rPr lang="ko-KR" altLang="en-US" dirty="0"/>
              <a:t> </a:t>
            </a:r>
            <a:r>
              <a:rPr lang="en-US" altLang="ko-KR" dirty="0"/>
              <a:t>Cycle</a:t>
            </a:r>
            <a:r>
              <a:rPr lang="ko-KR" altLang="en-US" dirty="0"/>
              <a:t>의 </a:t>
            </a:r>
            <a:r>
              <a:rPr lang="en-US" altLang="ko-KR" dirty="0"/>
              <a:t>2</a:t>
            </a:r>
            <a:r>
              <a:rPr lang="ko-KR" altLang="en-US" dirty="0"/>
              <a:t>가지 작업</a:t>
            </a:r>
            <a:endParaRPr lang="en-US" altLang="ko-KR" dirty="0"/>
          </a:p>
          <a:p>
            <a:pPr lvl="2"/>
            <a:r>
              <a:rPr lang="en-US" altLang="ko-KR" dirty="0"/>
              <a:t>Filtering</a:t>
            </a:r>
          </a:p>
          <a:p>
            <a:pPr lvl="3"/>
            <a:r>
              <a:rPr lang="en-US" altLang="ko-KR" dirty="0"/>
              <a:t>Pod</a:t>
            </a:r>
            <a:r>
              <a:rPr lang="ko-KR" altLang="en-US" dirty="0"/>
              <a:t>를 실행할 </a:t>
            </a:r>
            <a:r>
              <a:rPr lang="ko-KR" altLang="en-US" dirty="0" err="1"/>
              <a:t>노드셋을</a:t>
            </a:r>
            <a:r>
              <a:rPr lang="ko-KR" altLang="en-US" dirty="0"/>
              <a:t> 찾음</a:t>
            </a:r>
            <a:r>
              <a:rPr lang="en-US" altLang="ko-KR" dirty="0"/>
              <a:t>. </a:t>
            </a:r>
            <a:r>
              <a:rPr lang="ko-KR" altLang="en-US" dirty="0"/>
              <a:t>실행가능한 노드를 확인</a:t>
            </a:r>
            <a:endParaRPr lang="en-US" altLang="ko-KR" dirty="0"/>
          </a:p>
          <a:p>
            <a:pPr lvl="3"/>
            <a:r>
              <a:rPr lang="en-US" altLang="ko-KR" dirty="0"/>
              <a:t>taint, toleration, affinity, </a:t>
            </a:r>
            <a:r>
              <a:rPr lang="en-US" altLang="ko-KR" dirty="0" err="1"/>
              <a:t>antiAffinity</a:t>
            </a:r>
            <a:r>
              <a:rPr lang="en-US" altLang="ko-KR" dirty="0"/>
              <a:t>, </a:t>
            </a:r>
            <a:r>
              <a:rPr lang="en-US" altLang="ko-KR" dirty="0" err="1"/>
              <a:t>nodeSelector</a:t>
            </a:r>
            <a:r>
              <a:rPr lang="en-US" altLang="ko-KR" dirty="0"/>
              <a:t> </a:t>
            </a:r>
            <a:r>
              <a:rPr lang="ko-KR" altLang="en-US" dirty="0"/>
              <a:t>등의 제약 정보와 리소스 요구사항을 적용하여 적절하지 않은 노드를 </a:t>
            </a:r>
            <a:r>
              <a:rPr lang="ko-KR" altLang="en-US" dirty="0" err="1"/>
              <a:t>걸러냄</a:t>
            </a:r>
            <a:endParaRPr lang="en-US" altLang="ko-KR" dirty="0"/>
          </a:p>
          <a:p>
            <a:pPr lvl="2"/>
            <a:r>
              <a:rPr lang="en-US" altLang="ko-KR" dirty="0"/>
              <a:t>Scoring</a:t>
            </a:r>
          </a:p>
          <a:p>
            <a:pPr lvl="3"/>
            <a:r>
              <a:rPr lang="ko-KR" altLang="en-US" dirty="0"/>
              <a:t>모든 노드에 대해 점수를 매긴 후 가장 높은 점수를 가지는 노드에 </a:t>
            </a:r>
            <a:r>
              <a:rPr lang="en-US" altLang="ko-KR" dirty="0"/>
              <a:t>Pod</a:t>
            </a:r>
            <a:r>
              <a:rPr lang="ko-KR" altLang="en-US" dirty="0"/>
              <a:t>를 배치</a:t>
            </a:r>
            <a:endParaRPr lang="en-US" altLang="ko-KR" dirty="0"/>
          </a:p>
          <a:p>
            <a:pPr lvl="2"/>
            <a:r>
              <a:rPr lang="en-US" altLang="ko-KR" dirty="0" err="1"/>
              <a:t>percentageOfNodesToScore</a:t>
            </a:r>
            <a:endParaRPr lang="en-US" altLang="ko-KR" dirty="0"/>
          </a:p>
          <a:p>
            <a:pPr lvl="3"/>
            <a:r>
              <a:rPr lang="ko-KR" altLang="en-US" dirty="0"/>
              <a:t>점수를 부여할 대상 노드의 비율 </a:t>
            </a:r>
            <a:r>
              <a:rPr lang="ko-KR" altLang="en-US" dirty="0" err="1"/>
              <a:t>지정값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기본값</a:t>
            </a:r>
            <a:r>
              <a:rPr lang="en-US" altLang="ko-KR" dirty="0"/>
              <a:t>: 50%) </a:t>
            </a:r>
          </a:p>
          <a:p>
            <a:pPr lvl="2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081208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F4D6E6-98D5-9DC1-CD26-522C8D718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2.3 </a:t>
            </a:r>
            <a:r>
              <a:rPr lang="en-US" altLang="ko-KR" dirty="0" err="1"/>
              <a:t>kube</a:t>
            </a:r>
            <a:r>
              <a:rPr lang="en-US" altLang="ko-KR" dirty="0"/>
              <a:t>-scheduler</a:t>
            </a:r>
            <a:endParaRPr lang="ko-KR" altLang="en-US" dirty="0"/>
          </a:p>
        </p:txBody>
      </p: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D72B8FB9-7AF2-24A0-9EB6-8776FA2A9B49}"/>
              </a:ext>
            </a:extLst>
          </p:cNvPr>
          <p:cNvGrpSpPr/>
          <p:nvPr/>
        </p:nvGrpSpPr>
        <p:grpSpPr>
          <a:xfrm>
            <a:off x="335360" y="1061460"/>
            <a:ext cx="10834672" cy="5139848"/>
            <a:chOff x="335360" y="1061460"/>
            <a:chExt cx="10834672" cy="513984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416FD67-AB8A-8006-4F5F-AC97EA59686D}"/>
                </a:ext>
              </a:extLst>
            </p:cNvPr>
            <p:cNvSpPr/>
            <p:nvPr/>
          </p:nvSpPr>
          <p:spPr>
            <a:xfrm>
              <a:off x="335360" y="1700808"/>
              <a:ext cx="10834672" cy="4500500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2160E1F-1967-BDD5-9DD2-B8B5C79910E3}"/>
                </a:ext>
              </a:extLst>
            </p:cNvPr>
            <p:cNvSpPr/>
            <p:nvPr/>
          </p:nvSpPr>
          <p:spPr>
            <a:xfrm>
              <a:off x="1161081" y="1061460"/>
              <a:ext cx="2655609" cy="369658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err="1">
                  <a:solidFill>
                    <a:schemeClr val="tx1"/>
                  </a:solidFill>
                </a:rPr>
                <a:t>k8s</a:t>
              </a:r>
              <a:r>
                <a:rPr lang="ko-KR" altLang="en-US" sz="1200" dirty="0">
                  <a:solidFill>
                    <a:schemeClr val="tx1"/>
                  </a:solidFill>
                </a:rPr>
                <a:t> 클러스터의 </a:t>
              </a:r>
              <a:r>
                <a:rPr lang="en-US" altLang="ko-KR" sz="1200" dirty="0">
                  <a:solidFill>
                    <a:schemeClr val="tx1"/>
                  </a:solidFill>
                </a:rPr>
                <a:t>Node List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B7FD2FB-0606-BE0D-D491-60A9E5D124F4}"/>
                </a:ext>
              </a:extLst>
            </p:cNvPr>
            <p:cNvSpPr/>
            <p:nvPr/>
          </p:nvSpPr>
          <p:spPr>
            <a:xfrm>
              <a:off x="487760" y="1853208"/>
              <a:ext cx="4600128" cy="42040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9FCAE04-46D4-DB8B-796F-6607C95D6E7D}"/>
                </a:ext>
              </a:extLst>
            </p:cNvPr>
            <p:cNvSpPr/>
            <p:nvPr/>
          </p:nvSpPr>
          <p:spPr>
            <a:xfrm>
              <a:off x="487761" y="1841595"/>
              <a:ext cx="891716" cy="291261"/>
            </a:xfrm>
            <a:prstGeom prst="rect">
              <a:avLst/>
            </a:prstGeom>
            <a:solidFill>
              <a:schemeClr val="tx2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bg1">
                      <a:lumMod val="95000"/>
                    </a:schemeClr>
                  </a:solidFill>
                </a:rPr>
                <a:t>Filtering</a:t>
              </a:r>
              <a:endParaRPr lang="ko-KR" altLang="en-US" sz="1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0C268C9-D6E9-BB1A-7248-A06BAD8519F7}"/>
                </a:ext>
              </a:extLst>
            </p:cNvPr>
            <p:cNvSpPr/>
            <p:nvPr/>
          </p:nvSpPr>
          <p:spPr>
            <a:xfrm>
              <a:off x="803412" y="2352456"/>
              <a:ext cx="1713653" cy="921339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Resource</a:t>
              </a:r>
              <a:r>
                <a:rPr lang="ko-KR" altLang="en-US" sz="1200" dirty="0">
                  <a:solidFill>
                    <a:schemeClr val="tx1"/>
                  </a:solidFill>
                </a:rPr>
                <a:t> </a:t>
              </a:r>
              <a:r>
                <a:rPr lang="en-US" altLang="ko-KR" sz="1200" dirty="0">
                  <a:solidFill>
                    <a:schemeClr val="tx1"/>
                  </a:solidFill>
                </a:rPr>
                <a:t>Requests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Node Affinity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Taint, Toleration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Volume Availability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2C72E155-3095-99B1-2B1F-4D36CFD268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60239" y="1431117"/>
              <a:ext cx="7787" cy="92133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C6A194F-C42A-A733-9966-703CC72E7912}"/>
                </a:ext>
              </a:extLst>
            </p:cNvPr>
            <p:cNvSpPr/>
            <p:nvPr/>
          </p:nvSpPr>
          <p:spPr>
            <a:xfrm>
              <a:off x="803412" y="3544535"/>
              <a:ext cx="1713653" cy="526865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>
                  <a:solidFill>
                    <a:schemeClr val="tx1"/>
                  </a:solidFill>
                </a:rPr>
                <a:t>필터링된</a:t>
              </a:r>
              <a:r>
                <a:rPr lang="ko-KR" altLang="en-US" sz="1200" dirty="0">
                  <a:solidFill>
                    <a:schemeClr val="tx1"/>
                  </a:solidFill>
                </a:rPr>
                <a:t> 노드</a:t>
              </a:r>
            </a:p>
          </p:txBody>
        </p: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2F2E1D66-A8D1-2463-3C97-9A1A23DDD7A7}"/>
                </a:ext>
              </a:extLst>
            </p:cNvPr>
            <p:cNvCxnSpPr>
              <a:cxnSpLocks/>
              <a:stCxn id="10" idx="2"/>
              <a:endCxn id="15" idx="0"/>
            </p:cNvCxnSpPr>
            <p:nvPr/>
          </p:nvCxnSpPr>
          <p:spPr>
            <a:xfrm>
              <a:off x="1660239" y="3273795"/>
              <a:ext cx="0" cy="27074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연결선: 구부러짐 24">
              <a:extLst>
                <a:ext uri="{FF2B5EF4-FFF2-40B4-BE49-F238E27FC236}">
                  <a16:creationId xmlns:a16="http://schemas.microsoft.com/office/drawing/2014/main" id="{4A4BADF9-619A-F683-D89C-0833AEACAD1A}"/>
                </a:ext>
              </a:extLst>
            </p:cNvPr>
            <p:cNvCxnSpPr>
              <a:cxnSpLocks/>
              <a:stCxn id="26" idx="1"/>
              <a:endCxn id="10" idx="3"/>
            </p:cNvCxnSpPr>
            <p:nvPr/>
          </p:nvCxnSpPr>
          <p:spPr>
            <a:xfrm rot="10800000" flipV="1">
              <a:off x="2517066" y="2509076"/>
              <a:ext cx="571783" cy="304049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EF3C757-2CD0-A2C5-B760-E5F4ACBE4B3D}"/>
                </a:ext>
              </a:extLst>
            </p:cNvPr>
            <p:cNvSpPr txBox="1"/>
            <p:nvPr/>
          </p:nvSpPr>
          <p:spPr>
            <a:xfrm>
              <a:off x="3088848" y="2293633"/>
              <a:ext cx="81785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dirty="0">
                  <a:latin typeface="+mj-lt"/>
                </a:rPr>
                <a:t>Predicate)</a:t>
              </a:r>
            </a:p>
            <a:p>
              <a:pPr algn="ctr"/>
              <a:r>
                <a:rPr lang="en-US" altLang="ko-KR" sz="1100" dirty="0">
                  <a:latin typeface="+mj-lt"/>
                </a:rPr>
                <a:t>(Filter)</a:t>
              </a:r>
              <a:endParaRPr lang="ko-KR" altLang="en-US" sz="1100" dirty="0">
                <a:latin typeface="+mj-lt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39C87B5-2B15-EDA5-2EDD-9C7747EA55D1}"/>
                </a:ext>
              </a:extLst>
            </p:cNvPr>
            <p:cNvSpPr txBox="1"/>
            <p:nvPr/>
          </p:nvSpPr>
          <p:spPr>
            <a:xfrm>
              <a:off x="3014440" y="3305207"/>
              <a:ext cx="15760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100" dirty="0">
                  <a:latin typeface="+mj-lt"/>
                </a:rPr>
                <a:t>노드가 없다면 </a:t>
              </a:r>
              <a:r>
                <a:rPr lang="en-US" altLang="ko-KR" sz="1100" dirty="0">
                  <a:latin typeface="+mj-lt"/>
                </a:rPr>
                <a:t>pod</a:t>
              </a:r>
              <a:r>
                <a:rPr lang="ko-KR" altLang="en-US" sz="1100" dirty="0">
                  <a:latin typeface="+mj-lt"/>
                </a:rPr>
                <a:t>는 </a:t>
              </a:r>
              <a:br>
                <a:rPr lang="en-US" altLang="ko-KR" sz="1100" dirty="0">
                  <a:latin typeface="+mj-lt"/>
                </a:rPr>
              </a:br>
              <a:r>
                <a:rPr lang="en-US" altLang="ko-KR" sz="1100" dirty="0">
                  <a:latin typeface="+mj-lt"/>
                </a:rPr>
                <a:t>Scheduling </a:t>
              </a:r>
              <a:r>
                <a:rPr lang="ko-KR" altLang="en-US" sz="1100" dirty="0">
                  <a:latin typeface="+mj-lt"/>
                </a:rPr>
                <a:t>큐로 이동</a:t>
              </a:r>
            </a:p>
          </p:txBody>
        </p:sp>
        <p:cxnSp>
          <p:nvCxnSpPr>
            <p:cNvPr id="34" name="연결선: 구부러짐 33">
              <a:extLst>
                <a:ext uri="{FF2B5EF4-FFF2-40B4-BE49-F238E27FC236}">
                  <a16:creationId xmlns:a16="http://schemas.microsoft.com/office/drawing/2014/main" id="{1AB3A457-89B8-CF4B-8964-50AF88D94324}"/>
                </a:ext>
              </a:extLst>
            </p:cNvPr>
            <p:cNvCxnSpPr>
              <a:cxnSpLocks/>
              <a:stCxn id="15" idx="3"/>
              <a:endCxn id="33" idx="1"/>
            </p:cNvCxnSpPr>
            <p:nvPr/>
          </p:nvCxnSpPr>
          <p:spPr>
            <a:xfrm flipV="1">
              <a:off x="2517065" y="3520651"/>
              <a:ext cx="497375" cy="287317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화살표 연결선 69">
              <a:extLst>
                <a:ext uri="{FF2B5EF4-FFF2-40B4-BE49-F238E27FC236}">
                  <a16:creationId xmlns:a16="http://schemas.microsoft.com/office/drawing/2014/main" id="{C8815251-0DA4-77A7-CF2C-E9265D2C7791}"/>
                </a:ext>
              </a:extLst>
            </p:cNvPr>
            <p:cNvCxnSpPr>
              <a:cxnSpLocks/>
              <a:stCxn id="15" idx="2"/>
              <a:endCxn id="41" idx="0"/>
            </p:cNvCxnSpPr>
            <p:nvPr/>
          </p:nvCxnSpPr>
          <p:spPr>
            <a:xfrm>
              <a:off x="1660239" y="4071400"/>
              <a:ext cx="0" cy="45644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35B1834A-7870-C670-E18E-D9DE1718ABCA}"/>
                </a:ext>
              </a:extLst>
            </p:cNvPr>
            <p:cNvGrpSpPr/>
            <p:nvPr/>
          </p:nvGrpSpPr>
          <p:grpSpPr>
            <a:xfrm>
              <a:off x="803412" y="4527840"/>
              <a:ext cx="1713653" cy="1378393"/>
              <a:chOff x="803412" y="4858918"/>
              <a:chExt cx="1713653" cy="1378393"/>
            </a:xfrm>
          </p:grpSpPr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1D701B88-35D1-2389-3644-033CF9C34A3A}"/>
                  </a:ext>
                </a:extLst>
              </p:cNvPr>
              <p:cNvSpPr/>
              <p:nvPr/>
            </p:nvSpPr>
            <p:spPr>
              <a:xfrm>
                <a:off x="803412" y="4858918"/>
                <a:ext cx="1713653" cy="1378393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타원 41">
                <a:extLst>
                  <a:ext uri="{FF2B5EF4-FFF2-40B4-BE49-F238E27FC236}">
                    <a16:creationId xmlns:a16="http://schemas.microsoft.com/office/drawing/2014/main" id="{90C41C54-1F93-A638-495B-9C8E58ABC757}"/>
                  </a:ext>
                </a:extLst>
              </p:cNvPr>
              <p:cNvSpPr/>
              <p:nvPr/>
            </p:nvSpPr>
            <p:spPr>
              <a:xfrm>
                <a:off x="1016912" y="5051597"/>
                <a:ext cx="180020" cy="18362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A3ACF287-B235-BBAA-F1A9-2FF4EF883B3C}"/>
                  </a:ext>
                </a:extLst>
              </p:cNvPr>
              <p:cNvSpPr/>
              <p:nvPr/>
            </p:nvSpPr>
            <p:spPr>
              <a:xfrm>
                <a:off x="1349332" y="5051597"/>
                <a:ext cx="180020" cy="18362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타원 43">
                <a:extLst>
                  <a:ext uri="{FF2B5EF4-FFF2-40B4-BE49-F238E27FC236}">
                    <a16:creationId xmlns:a16="http://schemas.microsoft.com/office/drawing/2014/main" id="{2480255C-C578-CCA6-4700-1738E814376C}"/>
                  </a:ext>
                </a:extLst>
              </p:cNvPr>
              <p:cNvSpPr/>
              <p:nvPr/>
            </p:nvSpPr>
            <p:spPr>
              <a:xfrm>
                <a:off x="1349332" y="5339074"/>
                <a:ext cx="180020" cy="18362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9D9CE557-9599-BFAA-BA15-0911CD8FF6E2}"/>
                  </a:ext>
                </a:extLst>
              </p:cNvPr>
              <p:cNvSpPr/>
              <p:nvPr/>
            </p:nvSpPr>
            <p:spPr>
              <a:xfrm>
                <a:off x="1021968" y="5626551"/>
                <a:ext cx="180020" cy="18362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타원 46">
                <a:extLst>
                  <a:ext uri="{FF2B5EF4-FFF2-40B4-BE49-F238E27FC236}">
                    <a16:creationId xmlns:a16="http://schemas.microsoft.com/office/drawing/2014/main" id="{C19B67DF-0AA4-2954-DFA1-4DB59B7226EF}"/>
                  </a:ext>
                </a:extLst>
              </p:cNvPr>
              <p:cNvSpPr/>
              <p:nvPr/>
            </p:nvSpPr>
            <p:spPr>
              <a:xfrm>
                <a:off x="1349332" y="5626551"/>
                <a:ext cx="180020" cy="18362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BFD143B7-4C6E-B59C-9F1F-09B8822D99CD}"/>
                  </a:ext>
                </a:extLst>
              </p:cNvPr>
              <p:cNvSpPr/>
              <p:nvPr/>
            </p:nvSpPr>
            <p:spPr>
              <a:xfrm>
                <a:off x="1349332" y="5896241"/>
                <a:ext cx="180020" cy="18362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DCFAB069-8E5C-D749-56C4-B27186ECC564}"/>
                  </a:ext>
                </a:extLst>
              </p:cNvPr>
              <p:cNvSpPr/>
              <p:nvPr/>
            </p:nvSpPr>
            <p:spPr>
              <a:xfrm>
                <a:off x="1021968" y="5896241"/>
                <a:ext cx="180020" cy="18362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5C1BF14B-FB24-6CE2-9760-7614B4460D76}"/>
                  </a:ext>
                </a:extLst>
              </p:cNvPr>
              <p:cNvSpPr/>
              <p:nvPr/>
            </p:nvSpPr>
            <p:spPr>
              <a:xfrm>
                <a:off x="1782269" y="5043799"/>
                <a:ext cx="180020" cy="18362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34A741DA-5092-5D60-76B6-A057D73657BE}"/>
                  </a:ext>
                </a:extLst>
              </p:cNvPr>
              <p:cNvSpPr/>
              <p:nvPr/>
            </p:nvSpPr>
            <p:spPr>
              <a:xfrm>
                <a:off x="2131333" y="5051597"/>
                <a:ext cx="180020" cy="18362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58D32D27-9181-7537-2258-DE65C0AAF26F}"/>
                  </a:ext>
                </a:extLst>
              </p:cNvPr>
              <p:cNvSpPr/>
              <p:nvPr/>
            </p:nvSpPr>
            <p:spPr>
              <a:xfrm>
                <a:off x="2131333" y="5339074"/>
                <a:ext cx="180020" cy="18362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" name="타원 52">
                <a:extLst>
                  <a:ext uri="{FF2B5EF4-FFF2-40B4-BE49-F238E27FC236}">
                    <a16:creationId xmlns:a16="http://schemas.microsoft.com/office/drawing/2014/main" id="{1EFEA4E0-723E-C09D-C936-D82930F29AB1}"/>
                  </a:ext>
                </a:extLst>
              </p:cNvPr>
              <p:cNvSpPr/>
              <p:nvPr/>
            </p:nvSpPr>
            <p:spPr>
              <a:xfrm>
                <a:off x="1782269" y="5339074"/>
                <a:ext cx="180020" cy="18362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7B320A64-9235-CE17-76AD-EB26FF427135}"/>
                  </a:ext>
                </a:extLst>
              </p:cNvPr>
              <p:cNvSpPr/>
              <p:nvPr/>
            </p:nvSpPr>
            <p:spPr>
              <a:xfrm>
                <a:off x="1782269" y="5626551"/>
                <a:ext cx="180020" cy="18362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4052134C-432F-1EB8-DFF8-C99E8BD68ABC}"/>
                  </a:ext>
                </a:extLst>
              </p:cNvPr>
              <p:cNvSpPr/>
              <p:nvPr/>
            </p:nvSpPr>
            <p:spPr>
              <a:xfrm>
                <a:off x="2131333" y="5626551"/>
                <a:ext cx="180020" cy="18362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타원 55">
                <a:extLst>
                  <a:ext uri="{FF2B5EF4-FFF2-40B4-BE49-F238E27FC236}">
                    <a16:creationId xmlns:a16="http://schemas.microsoft.com/office/drawing/2014/main" id="{C611321B-9B18-9C41-0F32-A93CB70CBE96}"/>
                  </a:ext>
                </a:extLst>
              </p:cNvPr>
              <p:cNvSpPr/>
              <p:nvPr/>
            </p:nvSpPr>
            <p:spPr>
              <a:xfrm>
                <a:off x="2131333" y="5896241"/>
                <a:ext cx="180020" cy="18362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C73D55F1-9041-52C5-F96A-E90E81F2F0B7}"/>
                  </a:ext>
                </a:extLst>
              </p:cNvPr>
              <p:cNvSpPr/>
              <p:nvPr/>
            </p:nvSpPr>
            <p:spPr>
              <a:xfrm>
                <a:off x="1782269" y="5896241"/>
                <a:ext cx="180020" cy="18362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999CAFAE-1FC6-9319-B5F9-D9D856DA4B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68026" y="4904553"/>
                <a:ext cx="2262" cy="1265135"/>
              </a:xfrm>
              <a:prstGeom prst="line">
                <a:avLst/>
              </a:prstGeom>
              <a:ln w="22225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타원 72">
                <a:extLst>
                  <a:ext uri="{FF2B5EF4-FFF2-40B4-BE49-F238E27FC236}">
                    <a16:creationId xmlns:a16="http://schemas.microsoft.com/office/drawing/2014/main" id="{52C379C3-72B9-1E57-27E4-9089BF8C0256}"/>
                  </a:ext>
                </a:extLst>
              </p:cNvPr>
              <p:cNvSpPr/>
              <p:nvPr/>
            </p:nvSpPr>
            <p:spPr>
              <a:xfrm>
                <a:off x="1016912" y="5332951"/>
                <a:ext cx="180020" cy="18362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D0DCA756-8885-4EB0-734D-47579589C044}"/>
                </a:ext>
              </a:extLst>
            </p:cNvPr>
            <p:cNvSpPr txBox="1"/>
            <p:nvPr/>
          </p:nvSpPr>
          <p:spPr>
            <a:xfrm>
              <a:off x="2734081" y="3916523"/>
              <a:ext cx="231505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dirty="0" err="1">
                  <a:latin typeface="+mj-lt"/>
                </a:rPr>
                <a:t>percentageOfNodesToScore</a:t>
              </a:r>
              <a:r>
                <a:rPr lang="ko-KR" altLang="en-US" sz="1100" dirty="0">
                  <a:latin typeface="+mj-lt"/>
                </a:rPr>
                <a:t> 적용</a:t>
              </a:r>
              <a:br>
                <a:rPr lang="en-US" altLang="ko-KR" sz="1100" dirty="0">
                  <a:latin typeface="+mj-lt"/>
                </a:rPr>
              </a:br>
              <a:r>
                <a:rPr lang="en-US" altLang="ko-KR" sz="1100" dirty="0">
                  <a:latin typeface="+mj-lt"/>
                </a:rPr>
                <a:t>(default : 50%)</a:t>
              </a:r>
              <a:endParaRPr lang="ko-KR" altLang="en-US" sz="1100" dirty="0">
                <a:latin typeface="+mj-lt"/>
              </a:endParaRPr>
            </a:p>
          </p:txBody>
        </p:sp>
        <p:cxnSp>
          <p:nvCxnSpPr>
            <p:cNvPr id="84" name="직선 화살표 연결선 83">
              <a:extLst>
                <a:ext uri="{FF2B5EF4-FFF2-40B4-BE49-F238E27FC236}">
                  <a16:creationId xmlns:a16="http://schemas.microsoft.com/office/drawing/2014/main" id="{8093C319-5521-60FB-2C03-2E6E807B296C}"/>
                </a:ext>
              </a:extLst>
            </p:cNvPr>
            <p:cNvCxnSpPr>
              <a:cxnSpLocks/>
              <a:stCxn id="41" idx="3"/>
              <a:endCxn id="88" idx="1"/>
            </p:cNvCxnSpPr>
            <p:nvPr/>
          </p:nvCxnSpPr>
          <p:spPr>
            <a:xfrm>
              <a:off x="2517065" y="5217037"/>
              <a:ext cx="770623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C8B788D7-A9DB-54E5-6B5E-BC0D5D8F00DD}"/>
                </a:ext>
              </a:extLst>
            </p:cNvPr>
            <p:cNvGrpSpPr/>
            <p:nvPr/>
          </p:nvGrpSpPr>
          <p:grpSpPr>
            <a:xfrm>
              <a:off x="3287688" y="4527840"/>
              <a:ext cx="900100" cy="1378393"/>
              <a:chOff x="3287688" y="4858918"/>
              <a:chExt cx="900100" cy="1378393"/>
            </a:xfrm>
          </p:grpSpPr>
          <p:sp>
            <p:nvSpPr>
              <p:cNvPr id="88" name="직사각형 87">
                <a:extLst>
                  <a:ext uri="{FF2B5EF4-FFF2-40B4-BE49-F238E27FC236}">
                    <a16:creationId xmlns:a16="http://schemas.microsoft.com/office/drawing/2014/main" id="{ADE5AADD-E400-7152-424A-D630AAC31B4E}"/>
                  </a:ext>
                </a:extLst>
              </p:cNvPr>
              <p:cNvSpPr/>
              <p:nvPr/>
            </p:nvSpPr>
            <p:spPr>
              <a:xfrm>
                <a:off x="3287688" y="4858918"/>
                <a:ext cx="900100" cy="1378393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타원 88">
                <a:extLst>
                  <a:ext uri="{FF2B5EF4-FFF2-40B4-BE49-F238E27FC236}">
                    <a16:creationId xmlns:a16="http://schemas.microsoft.com/office/drawing/2014/main" id="{18E099C1-46BF-6B2F-796D-83B871DAF075}"/>
                  </a:ext>
                </a:extLst>
              </p:cNvPr>
              <p:cNvSpPr/>
              <p:nvPr/>
            </p:nvSpPr>
            <p:spPr>
              <a:xfrm>
                <a:off x="3484270" y="5051597"/>
                <a:ext cx="180020" cy="18362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0221C459-26C0-A5AA-9E6F-A1F7B297EBA8}"/>
                  </a:ext>
                </a:extLst>
              </p:cNvPr>
              <p:cNvSpPr/>
              <p:nvPr/>
            </p:nvSpPr>
            <p:spPr>
              <a:xfrm>
                <a:off x="3816690" y="5051597"/>
                <a:ext cx="180020" cy="18362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1" name="타원 90">
                <a:extLst>
                  <a:ext uri="{FF2B5EF4-FFF2-40B4-BE49-F238E27FC236}">
                    <a16:creationId xmlns:a16="http://schemas.microsoft.com/office/drawing/2014/main" id="{D4DAEBFE-1F9C-325A-91F5-015FCB4A1595}"/>
                  </a:ext>
                </a:extLst>
              </p:cNvPr>
              <p:cNvSpPr/>
              <p:nvPr/>
            </p:nvSpPr>
            <p:spPr>
              <a:xfrm>
                <a:off x="3816690" y="5339074"/>
                <a:ext cx="180020" cy="18362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2" name="타원 91">
                <a:extLst>
                  <a:ext uri="{FF2B5EF4-FFF2-40B4-BE49-F238E27FC236}">
                    <a16:creationId xmlns:a16="http://schemas.microsoft.com/office/drawing/2014/main" id="{D580C242-59A2-489F-849D-34B9ED77BD6F}"/>
                  </a:ext>
                </a:extLst>
              </p:cNvPr>
              <p:cNvSpPr/>
              <p:nvPr/>
            </p:nvSpPr>
            <p:spPr>
              <a:xfrm>
                <a:off x="3484270" y="5626551"/>
                <a:ext cx="180020" cy="18362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6DE4C263-1358-118C-E523-82A8F427110D}"/>
                  </a:ext>
                </a:extLst>
              </p:cNvPr>
              <p:cNvSpPr/>
              <p:nvPr/>
            </p:nvSpPr>
            <p:spPr>
              <a:xfrm>
                <a:off x="3816690" y="5626551"/>
                <a:ext cx="180020" cy="18362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4" name="타원 93">
                <a:extLst>
                  <a:ext uri="{FF2B5EF4-FFF2-40B4-BE49-F238E27FC236}">
                    <a16:creationId xmlns:a16="http://schemas.microsoft.com/office/drawing/2014/main" id="{9C98D9C3-7C28-3DCC-F2A1-785F2F30A13E}"/>
                  </a:ext>
                </a:extLst>
              </p:cNvPr>
              <p:cNvSpPr/>
              <p:nvPr/>
            </p:nvSpPr>
            <p:spPr>
              <a:xfrm>
                <a:off x="3816690" y="5896241"/>
                <a:ext cx="180020" cy="18362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DB03EBA4-9B08-4A6A-6D9A-EB6487CE56DB}"/>
                  </a:ext>
                </a:extLst>
              </p:cNvPr>
              <p:cNvSpPr/>
              <p:nvPr/>
            </p:nvSpPr>
            <p:spPr>
              <a:xfrm>
                <a:off x="3492459" y="5896241"/>
                <a:ext cx="180020" cy="18362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98A4B8A3-1BE2-CE84-7546-D720ECF205F8}"/>
                  </a:ext>
                </a:extLst>
              </p:cNvPr>
              <p:cNvSpPr/>
              <p:nvPr/>
            </p:nvSpPr>
            <p:spPr>
              <a:xfrm>
                <a:off x="3484270" y="5332951"/>
                <a:ext cx="180020" cy="18362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45115AEC-F390-F9B8-4D69-3D9F619406CD}"/>
                </a:ext>
              </a:extLst>
            </p:cNvPr>
            <p:cNvSpPr/>
            <p:nvPr/>
          </p:nvSpPr>
          <p:spPr>
            <a:xfrm>
              <a:off x="5268733" y="1853208"/>
              <a:ext cx="2483451" cy="42040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cxnSp>
          <p:nvCxnSpPr>
            <p:cNvPr id="104" name="직선 화살표 연결선 103">
              <a:extLst>
                <a:ext uri="{FF2B5EF4-FFF2-40B4-BE49-F238E27FC236}">
                  <a16:creationId xmlns:a16="http://schemas.microsoft.com/office/drawing/2014/main" id="{6C70A4F9-0F4B-30E6-9377-E74CA24FEF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4734" y="4385707"/>
              <a:ext cx="188251" cy="820335"/>
            </a:xfrm>
            <a:prstGeom prst="straightConnector1">
              <a:avLst/>
            </a:prstGeom>
            <a:ln w="19050">
              <a:solidFill>
                <a:schemeClr val="tx2">
                  <a:lumMod val="60000"/>
                  <a:lumOff val="4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E3EABBA7-F123-243B-BC5D-B446FCE32016}"/>
                </a:ext>
              </a:extLst>
            </p:cNvPr>
            <p:cNvSpPr/>
            <p:nvPr/>
          </p:nvSpPr>
          <p:spPr>
            <a:xfrm>
              <a:off x="5268733" y="1841595"/>
              <a:ext cx="891716" cy="291261"/>
            </a:xfrm>
            <a:prstGeom prst="rect">
              <a:avLst/>
            </a:prstGeom>
            <a:solidFill>
              <a:schemeClr val="tx2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bg1">
                      <a:lumMod val="95000"/>
                    </a:schemeClr>
                  </a:solidFill>
                </a:rPr>
                <a:t>Scoring</a:t>
              </a:r>
              <a:endParaRPr lang="ko-KR" altLang="en-US" sz="1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2AFD0B52-8339-3F97-5468-06CDD9FBAE66}"/>
                </a:ext>
              </a:extLst>
            </p:cNvPr>
            <p:cNvSpPr/>
            <p:nvPr/>
          </p:nvSpPr>
          <p:spPr>
            <a:xfrm>
              <a:off x="5659671" y="2352456"/>
              <a:ext cx="1713653" cy="921339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Priority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Preemption</a:t>
              </a:r>
              <a:br>
                <a:rPr lang="en-US" altLang="ko-KR" sz="1200" dirty="0">
                  <a:solidFill>
                    <a:schemeClr val="tx1"/>
                  </a:solidFill>
                </a:rPr>
              </a:br>
              <a:r>
                <a:rPr lang="en-US" altLang="ko-KR" sz="1200" dirty="0">
                  <a:solidFill>
                    <a:schemeClr val="tx1"/>
                  </a:solidFill>
                </a:rPr>
                <a:t>Topology</a:t>
              </a:r>
              <a:br>
                <a:rPr lang="en-US" altLang="ko-KR" sz="1200" dirty="0">
                  <a:solidFill>
                    <a:schemeClr val="tx1"/>
                  </a:solidFill>
                </a:rPr>
              </a:br>
              <a:r>
                <a:rPr lang="en-US" altLang="ko-KR" sz="1200" dirty="0">
                  <a:solidFill>
                    <a:schemeClr val="tx1"/>
                  </a:solidFill>
                </a:rPr>
                <a:t>Preemption</a:t>
              </a:r>
              <a:br>
                <a:rPr lang="en-US" altLang="ko-KR" sz="1200" dirty="0">
                  <a:solidFill>
                    <a:schemeClr val="tx1"/>
                  </a:solidFill>
                </a:rPr>
              </a:br>
              <a:r>
                <a:rPr lang="en-US" altLang="ko-KR" sz="1200" dirty="0">
                  <a:solidFill>
                    <a:schemeClr val="tx1"/>
                  </a:solidFill>
                </a:rPr>
                <a:t>Node Affinity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879BCD5C-787C-FE4A-C9DE-9817B51526C5}"/>
                </a:ext>
              </a:extLst>
            </p:cNvPr>
            <p:cNvSpPr/>
            <p:nvPr/>
          </p:nvSpPr>
          <p:spPr>
            <a:xfrm>
              <a:off x="5663788" y="3584206"/>
              <a:ext cx="1713653" cy="2322027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E12AA59D-1645-E715-A00F-9E1E65D0CF33}"/>
                </a:ext>
              </a:extLst>
            </p:cNvPr>
            <p:cNvSpPr/>
            <p:nvPr/>
          </p:nvSpPr>
          <p:spPr>
            <a:xfrm>
              <a:off x="5870035" y="4095455"/>
              <a:ext cx="178343" cy="18362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8363548A-1AEC-C938-40D2-27A60B4EB2F2}"/>
                </a:ext>
              </a:extLst>
            </p:cNvPr>
            <p:cNvSpPr/>
            <p:nvPr/>
          </p:nvSpPr>
          <p:spPr>
            <a:xfrm rot="10564356">
              <a:off x="5870036" y="4494740"/>
              <a:ext cx="178343" cy="18362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024850D7-3B48-C0EA-3CC7-D7BC20CFD055}"/>
                </a:ext>
              </a:extLst>
            </p:cNvPr>
            <p:cNvSpPr/>
            <p:nvPr/>
          </p:nvSpPr>
          <p:spPr>
            <a:xfrm rot="10564356">
              <a:off x="5870036" y="4925092"/>
              <a:ext cx="178343" cy="18362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>
              <a:extLst>
                <a:ext uri="{FF2B5EF4-FFF2-40B4-BE49-F238E27FC236}">
                  <a16:creationId xmlns:a16="http://schemas.microsoft.com/office/drawing/2014/main" id="{7CC7D68A-3383-C773-63D8-B2C5D0C670A2}"/>
                </a:ext>
              </a:extLst>
            </p:cNvPr>
            <p:cNvSpPr/>
            <p:nvPr/>
          </p:nvSpPr>
          <p:spPr>
            <a:xfrm rot="10564356">
              <a:off x="5870035" y="5356408"/>
              <a:ext cx="178343" cy="18362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EDD31D24-CF24-E727-D2AE-5F49038B7E3A}"/>
                </a:ext>
              </a:extLst>
            </p:cNvPr>
            <p:cNvSpPr txBox="1"/>
            <p:nvPr/>
          </p:nvSpPr>
          <p:spPr>
            <a:xfrm>
              <a:off x="6259681" y="4034533"/>
              <a:ext cx="75693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dirty="0">
                  <a:latin typeface="+mj-lt"/>
                </a:rPr>
                <a:t>score: 98</a:t>
              </a:r>
              <a:endParaRPr lang="ko-KR" altLang="en-US" sz="1100" dirty="0">
                <a:latin typeface="+mj-lt"/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C0A8E61A-3EB3-18F2-FE91-EA1C7D4769B0}"/>
                </a:ext>
              </a:extLst>
            </p:cNvPr>
            <p:cNvSpPr txBox="1"/>
            <p:nvPr/>
          </p:nvSpPr>
          <p:spPr>
            <a:xfrm>
              <a:off x="6259681" y="4463983"/>
              <a:ext cx="75693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dirty="0">
                  <a:latin typeface="+mj-lt"/>
                </a:rPr>
                <a:t>score: 95</a:t>
              </a:r>
              <a:endParaRPr lang="ko-KR" altLang="en-US" sz="1100" dirty="0">
                <a:latin typeface="+mj-lt"/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99913A22-14FC-0A5E-7FC9-2CCD2912090A}"/>
                </a:ext>
              </a:extLst>
            </p:cNvPr>
            <p:cNvSpPr txBox="1"/>
            <p:nvPr/>
          </p:nvSpPr>
          <p:spPr>
            <a:xfrm>
              <a:off x="6259681" y="4887874"/>
              <a:ext cx="75693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dirty="0">
                  <a:latin typeface="+mj-lt"/>
                </a:rPr>
                <a:t>score: 90</a:t>
              </a:r>
              <a:endParaRPr lang="ko-KR" altLang="en-US" sz="1100" dirty="0">
                <a:latin typeface="+mj-lt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2B592172-D645-E5F5-1AA2-771368DA7E09}"/>
                </a:ext>
              </a:extLst>
            </p:cNvPr>
            <p:cNvSpPr txBox="1"/>
            <p:nvPr/>
          </p:nvSpPr>
          <p:spPr>
            <a:xfrm>
              <a:off x="6259681" y="5284318"/>
              <a:ext cx="75693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dirty="0">
                  <a:latin typeface="+mj-lt"/>
                </a:rPr>
                <a:t>score: 88</a:t>
              </a:r>
              <a:endParaRPr lang="ko-KR" altLang="en-US" sz="1100" dirty="0">
                <a:latin typeface="+mj-lt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D755A294-944D-60BC-4EA2-901CD4351686}"/>
                </a:ext>
              </a:extLst>
            </p:cNvPr>
            <p:cNvSpPr txBox="1"/>
            <p:nvPr/>
          </p:nvSpPr>
          <p:spPr>
            <a:xfrm>
              <a:off x="6214023" y="5406078"/>
              <a:ext cx="4924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+mj-lt"/>
                </a:rPr>
                <a:t>......</a:t>
              </a:r>
              <a:endParaRPr lang="ko-KR" altLang="en-US" dirty="0">
                <a:latin typeface="+mj-lt"/>
              </a:endParaRPr>
            </a:p>
          </p:txBody>
        </p:sp>
        <p:cxnSp>
          <p:nvCxnSpPr>
            <p:cNvPr id="142" name="직선 화살표 연결선 141">
              <a:extLst>
                <a:ext uri="{FF2B5EF4-FFF2-40B4-BE49-F238E27FC236}">
                  <a16:creationId xmlns:a16="http://schemas.microsoft.com/office/drawing/2014/main" id="{4641873E-A897-D5F3-E7FD-509F6585694A}"/>
                </a:ext>
              </a:extLst>
            </p:cNvPr>
            <p:cNvCxnSpPr>
              <a:cxnSpLocks/>
              <a:stCxn id="111" idx="2"/>
              <a:endCxn id="123" idx="0"/>
            </p:cNvCxnSpPr>
            <p:nvPr/>
          </p:nvCxnSpPr>
          <p:spPr>
            <a:xfrm>
              <a:off x="6516498" y="3273795"/>
              <a:ext cx="4117" cy="310411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C26E5EC0-7B10-28FA-A19B-D37E4D36A0BD}"/>
                </a:ext>
              </a:extLst>
            </p:cNvPr>
            <p:cNvSpPr/>
            <p:nvPr/>
          </p:nvSpPr>
          <p:spPr>
            <a:xfrm>
              <a:off x="5659671" y="3590463"/>
              <a:ext cx="1713653" cy="291261"/>
            </a:xfrm>
            <a:prstGeom prst="rect">
              <a:avLst/>
            </a:prstGeom>
            <a:solidFill>
              <a:schemeClr val="tx2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bg1">
                      <a:lumMod val="95000"/>
                    </a:schemeClr>
                  </a:solidFill>
                </a:rPr>
                <a:t>Ranked Nodes</a:t>
              </a:r>
              <a:endParaRPr lang="ko-KR" altLang="en-US" sz="11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3E00297B-43F6-91F8-3CF8-A33F036B18A5}"/>
                </a:ext>
              </a:extLst>
            </p:cNvPr>
            <p:cNvSpPr/>
            <p:nvPr/>
          </p:nvSpPr>
          <p:spPr>
            <a:xfrm>
              <a:off x="7992079" y="1853208"/>
              <a:ext cx="3017111" cy="42040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506B1922-0E36-D04D-5859-4CF10DF74E85}"/>
                </a:ext>
              </a:extLst>
            </p:cNvPr>
            <p:cNvSpPr/>
            <p:nvPr/>
          </p:nvSpPr>
          <p:spPr>
            <a:xfrm>
              <a:off x="7992079" y="1841595"/>
              <a:ext cx="891716" cy="291261"/>
            </a:xfrm>
            <a:prstGeom prst="rect">
              <a:avLst/>
            </a:prstGeom>
            <a:solidFill>
              <a:schemeClr val="tx2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bg1">
                      <a:lumMod val="95000"/>
                    </a:schemeClr>
                  </a:solidFill>
                </a:rPr>
                <a:t>Binding</a:t>
              </a:r>
              <a:endParaRPr lang="ko-KR" altLang="en-US" sz="1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BE0F1274-F8D0-B895-74E1-5D43D1DFE80A}"/>
                </a:ext>
              </a:extLst>
            </p:cNvPr>
            <p:cNvSpPr/>
            <p:nvPr/>
          </p:nvSpPr>
          <p:spPr>
            <a:xfrm>
              <a:off x="8218098" y="3172094"/>
              <a:ext cx="1918923" cy="791564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높은 </a:t>
              </a:r>
              <a:r>
                <a:rPr lang="en-US" altLang="ko-KR" sz="1200" dirty="0">
                  <a:solidFill>
                    <a:schemeClr val="tx1"/>
                  </a:solidFill>
                </a:rPr>
                <a:t>score</a:t>
              </a:r>
              <a:r>
                <a:rPr lang="ko-KR" altLang="en-US" sz="1200" dirty="0">
                  <a:solidFill>
                    <a:schemeClr val="tx1"/>
                  </a:solidFill>
                </a:rPr>
                <a:t>를 가진 </a:t>
              </a:r>
              <a:r>
                <a:rPr lang="en-US" altLang="ko-KR" sz="1200" dirty="0">
                  <a:solidFill>
                    <a:schemeClr val="tx1"/>
                  </a:solidFill>
                </a:rPr>
                <a:t>Node</a:t>
              </a:r>
              <a:r>
                <a:rPr lang="ko-KR" altLang="en-US" sz="1200" dirty="0">
                  <a:solidFill>
                    <a:schemeClr val="tx1"/>
                  </a:solidFill>
                </a:rPr>
                <a:t>에 바인딩을 시도</a:t>
              </a:r>
            </a:p>
          </p:txBody>
        </p:sp>
        <p:cxnSp>
          <p:nvCxnSpPr>
            <p:cNvPr id="149" name="직선 화살표 연결선 148">
              <a:extLst>
                <a:ext uri="{FF2B5EF4-FFF2-40B4-BE49-F238E27FC236}">
                  <a16:creationId xmlns:a16="http://schemas.microsoft.com/office/drawing/2014/main" id="{3E2513B3-32E8-919D-D0BE-F1BCFC002D2E}"/>
                </a:ext>
              </a:extLst>
            </p:cNvPr>
            <p:cNvCxnSpPr>
              <a:cxnSpLocks/>
            </p:cNvCxnSpPr>
            <p:nvPr/>
          </p:nvCxnSpPr>
          <p:spPr>
            <a:xfrm>
              <a:off x="7176120" y="4059307"/>
              <a:ext cx="0" cy="1657134"/>
            </a:xfrm>
            <a:prstGeom prst="straightConnector1">
              <a:avLst/>
            </a:prstGeom>
            <a:ln w="317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47B3B0A2-DF77-3886-3E14-EEB1435A4293}"/>
                </a:ext>
              </a:extLst>
            </p:cNvPr>
            <p:cNvSpPr/>
            <p:nvPr/>
          </p:nvSpPr>
          <p:spPr>
            <a:xfrm>
              <a:off x="8213901" y="4822352"/>
              <a:ext cx="1918923" cy="572781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Pod</a:t>
              </a:r>
              <a:r>
                <a:rPr lang="ko-KR" altLang="en-US" sz="1200" dirty="0">
                  <a:solidFill>
                    <a:schemeClr val="tx1"/>
                  </a:solidFill>
                </a:rPr>
                <a:t>가 스케줄링됨</a:t>
              </a:r>
            </a:p>
          </p:txBody>
        </p:sp>
        <p:cxnSp>
          <p:nvCxnSpPr>
            <p:cNvPr id="152" name="직선 화살표 연결선 151">
              <a:extLst>
                <a:ext uri="{FF2B5EF4-FFF2-40B4-BE49-F238E27FC236}">
                  <a16:creationId xmlns:a16="http://schemas.microsoft.com/office/drawing/2014/main" id="{A962C301-A586-7B10-E9F7-80C1E3729CF9}"/>
                </a:ext>
              </a:extLst>
            </p:cNvPr>
            <p:cNvCxnSpPr>
              <a:cxnSpLocks/>
              <a:stCxn id="148" idx="2"/>
              <a:endCxn id="151" idx="0"/>
            </p:cNvCxnSpPr>
            <p:nvPr/>
          </p:nvCxnSpPr>
          <p:spPr>
            <a:xfrm flipH="1">
              <a:off x="9173363" y="3963658"/>
              <a:ext cx="4197" cy="85869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8BB08AC6-464A-0D00-6A06-4E4565999B6B}"/>
                </a:ext>
              </a:extLst>
            </p:cNvPr>
            <p:cNvSpPr txBox="1"/>
            <p:nvPr/>
          </p:nvSpPr>
          <p:spPr>
            <a:xfrm>
              <a:off x="9197754" y="4313364"/>
              <a:ext cx="46679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100" dirty="0">
                  <a:latin typeface="+mj-lt"/>
                </a:rPr>
                <a:t>성공</a:t>
              </a:r>
            </a:p>
          </p:txBody>
        </p:sp>
        <p:cxnSp>
          <p:nvCxnSpPr>
            <p:cNvPr id="158" name="연결선: 꺾임 157">
              <a:extLst>
                <a:ext uri="{FF2B5EF4-FFF2-40B4-BE49-F238E27FC236}">
                  <a16:creationId xmlns:a16="http://schemas.microsoft.com/office/drawing/2014/main" id="{DFEB9819-1E23-F3AF-ABC2-518DE7D5A565}"/>
                </a:ext>
              </a:extLst>
            </p:cNvPr>
            <p:cNvCxnSpPr>
              <a:stCxn id="148" idx="3"/>
              <a:endCxn id="148" idx="0"/>
            </p:cNvCxnSpPr>
            <p:nvPr/>
          </p:nvCxnSpPr>
          <p:spPr>
            <a:xfrm flipH="1" flipV="1">
              <a:off x="9177560" y="3172094"/>
              <a:ext cx="959461" cy="395782"/>
            </a:xfrm>
            <a:prstGeom prst="bentConnector4">
              <a:avLst>
                <a:gd name="adj1" fmla="val -54198"/>
                <a:gd name="adj2" fmla="val 150143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연결선: 구부러짐 161">
              <a:extLst>
                <a:ext uri="{FF2B5EF4-FFF2-40B4-BE49-F238E27FC236}">
                  <a16:creationId xmlns:a16="http://schemas.microsoft.com/office/drawing/2014/main" id="{7F3A400B-8F3A-AC1A-7275-D0D491D46E00}"/>
                </a:ext>
              </a:extLst>
            </p:cNvPr>
            <p:cNvCxnSpPr>
              <a:cxnSpLocks/>
              <a:stCxn id="123" idx="3"/>
              <a:endCxn id="148" idx="1"/>
            </p:cNvCxnSpPr>
            <p:nvPr/>
          </p:nvCxnSpPr>
          <p:spPr>
            <a:xfrm flipV="1">
              <a:off x="7377441" y="3567876"/>
              <a:ext cx="840657" cy="1177344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03696BE1-F250-EF07-B572-74EF1A119A59}"/>
                </a:ext>
              </a:extLst>
            </p:cNvPr>
            <p:cNvSpPr txBox="1"/>
            <p:nvPr/>
          </p:nvSpPr>
          <p:spPr>
            <a:xfrm>
              <a:off x="9090266" y="2523855"/>
              <a:ext cx="191892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latin typeface="+mj-lt"/>
                </a:rPr>
                <a:t>실패 </a:t>
              </a:r>
              <a:r>
                <a:rPr lang="en-US" altLang="ko-KR" sz="1100" dirty="0">
                  <a:latin typeface="+mj-lt"/>
                </a:rPr>
                <a:t>: </a:t>
              </a:r>
            </a:p>
            <a:p>
              <a:r>
                <a:rPr lang="ko-KR" altLang="en-US" sz="1100" dirty="0">
                  <a:latin typeface="+mj-lt"/>
                </a:rPr>
                <a:t>다음 </a:t>
              </a:r>
              <a:r>
                <a:rPr lang="en-US" altLang="ko-KR" sz="1100" dirty="0">
                  <a:latin typeface="+mj-lt"/>
                </a:rPr>
                <a:t>score </a:t>
              </a:r>
              <a:r>
                <a:rPr lang="ko-KR" altLang="en-US" sz="1100" dirty="0">
                  <a:latin typeface="+mj-lt"/>
                </a:rPr>
                <a:t>의 노드로 이동</a:t>
              </a:r>
            </a:p>
          </p:txBody>
        </p:sp>
      </p:grpSp>
      <p:cxnSp>
        <p:nvCxnSpPr>
          <p:cNvPr id="172" name="연결선: 구부러짐 171">
            <a:extLst>
              <a:ext uri="{FF2B5EF4-FFF2-40B4-BE49-F238E27FC236}">
                <a16:creationId xmlns:a16="http://schemas.microsoft.com/office/drawing/2014/main" id="{A8E021BF-BC7D-747D-B471-B8D40F2BFB15}"/>
              </a:ext>
            </a:extLst>
          </p:cNvPr>
          <p:cNvCxnSpPr>
            <a:cxnSpLocks/>
            <a:stCxn id="88" idx="3"/>
          </p:cNvCxnSpPr>
          <p:nvPr/>
        </p:nvCxnSpPr>
        <p:spPr>
          <a:xfrm flipV="1">
            <a:off x="4187788" y="4712721"/>
            <a:ext cx="1584176" cy="50431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62257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DB44E-3CE1-EF2C-F78A-E7BC68B28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2.4 </a:t>
            </a:r>
            <a:r>
              <a:rPr lang="en-US" altLang="ko-KR" dirty="0" err="1"/>
              <a:t>nodeSelector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41FD6F-C9F8-A97A-6BC1-9F1E49BE1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node label </a:t>
            </a:r>
            <a:r>
              <a:rPr lang="ko-KR" altLang="en-US" dirty="0"/>
              <a:t>지정</a:t>
            </a:r>
            <a:endParaRPr lang="en-US" altLang="ko-KR" dirty="0"/>
          </a:p>
          <a:p>
            <a:pPr lvl="1"/>
            <a:r>
              <a:rPr lang="en-US" altLang="ko-KR" dirty="0"/>
              <a:t>node</a:t>
            </a:r>
            <a:r>
              <a:rPr lang="ko-KR" altLang="en-US" dirty="0"/>
              <a:t>에 </a:t>
            </a:r>
            <a:r>
              <a:rPr lang="en-US" altLang="ko-KR" dirty="0"/>
              <a:t>label</a:t>
            </a:r>
            <a:r>
              <a:rPr lang="ko-KR" altLang="en-US" dirty="0"/>
              <a:t>을 지정하고 </a:t>
            </a:r>
            <a:r>
              <a:rPr lang="en-US" altLang="ko-KR" dirty="0"/>
              <a:t>pod</a:t>
            </a:r>
            <a:r>
              <a:rPr lang="ko-KR" altLang="en-US" dirty="0"/>
              <a:t>에서 </a:t>
            </a:r>
            <a:r>
              <a:rPr lang="en-US" altLang="ko-KR" dirty="0"/>
              <a:t>node</a:t>
            </a:r>
            <a:r>
              <a:rPr lang="ko-KR" altLang="en-US" dirty="0"/>
              <a:t>의 </a:t>
            </a:r>
            <a:r>
              <a:rPr lang="en-US" altLang="ko-KR" dirty="0"/>
              <a:t>label</a:t>
            </a:r>
            <a:r>
              <a:rPr lang="ko-KR" altLang="en-US" dirty="0"/>
              <a:t>을 지정하여 해당 노드에 </a:t>
            </a:r>
            <a:r>
              <a:rPr lang="en-US" altLang="ko-KR" dirty="0"/>
              <a:t>pod</a:t>
            </a:r>
            <a:r>
              <a:rPr lang="ko-KR" altLang="en-US" dirty="0"/>
              <a:t>를 </a:t>
            </a:r>
            <a:r>
              <a:rPr lang="ko-KR" altLang="en-US" dirty="0" err="1"/>
              <a:t>스케줄링함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node</a:t>
            </a:r>
            <a:r>
              <a:rPr lang="ko-KR" altLang="en-US" dirty="0"/>
              <a:t>에 </a:t>
            </a:r>
            <a:r>
              <a:rPr lang="en-US" altLang="ko-KR" dirty="0"/>
              <a:t>label </a:t>
            </a:r>
            <a:r>
              <a:rPr lang="ko-KR" altLang="en-US" dirty="0"/>
              <a:t>지정 </a:t>
            </a:r>
            <a:r>
              <a:rPr lang="en-US" altLang="ko-KR" dirty="0"/>
              <a:t>: </a:t>
            </a:r>
            <a:r>
              <a:rPr lang="en-US" altLang="ko-KR" dirty="0" err="1"/>
              <a:t>kubectl</a:t>
            </a:r>
            <a:r>
              <a:rPr lang="en-US" altLang="ko-KR" dirty="0"/>
              <a:t> label nodes </a:t>
            </a:r>
            <a:r>
              <a:rPr lang="ko-KR" altLang="en-US" dirty="0" err="1"/>
              <a:t>노드이름</a:t>
            </a:r>
            <a:r>
              <a:rPr lang="ko-KR" altLang="en-US" dirty="0"/>
              <a:t>  키</a:t>
            </a:r>
            <a:r>
              <a:rPr lang="en-US" altLang="ko-KR" dirty="0"/>
              <a:t>=</a:t>
            </a:r>
            <a:r>
              <a:rPr lang="ko-KR" altLang="en-US" dirty="0"/>
              <a:t>값</a:t>
            </a:r>
            <a:endParaRPr lang="en-US" altLang="ko-KR" dirty="0"/>
          </a:p>
          <a:p>
            <a:pPr lvl="2"/>
            <a:r>
              <a:rPr lang="en-US" altLang="ko-KR" dirty="0" err="1"/>
              <a:t>kubectl</a:t>
            </a:r>
            <a:r>
              <a:rPr lang="en-US" altLang="ko-KR" dirty="0"/>
              <a:t> label nodes </a:t>
            </a:r>
            <a:r>
              <a:rPr lang="en-US" altLang="ko-KR" dirty="0" err="1"/>
              <a:t>worker2</a:t>
            </a:r>
            <a:r>
              <a:rPr lang="en-US" altLang="ko-KR" dirty="0"/>
              <a:t> env=test</a:t>
            </a:r>
          </a:p>
          <a:p>
            <a:pPr lvl="1"/>
            <a:r>
              <a:rPr lang="en-US" altLang="ko-KR" dirty="0"/>
              <a:t>node</a:t>
            </a:r>
            <a:r>
              <a:rPr lang="ko-KR" altLang="en-US" dirty="0"/>
              <a:t>의 </a:t>
            </a:r>
            <a:r>
              <a:rPr lang="en-US" altLang="ko-KR" dirty="0"/>
              <a:t>label </a:t>
            </a:r>
            <a:r>
              <a:rPr lang="ko-KR" altLang="en-US" dirty="0"/>
              <a:t>삭제 </a:t>
            </a:r>
            <a:r>
              <a:rPr lang="en-US" altLang="ko-KR" dirty="0"/>
              <a:t>: </a:t>
            </a:r>
            <a:r>
              <a:rPr lang="ko-KR" altLang="en-US" dirty="0" err="1"/>
              <a:t>키이름</a:t>
            </a:r>
            <a:r>
              <a:rPr lang="ko-KR" altLang="en-US" dirty="0"/>
              <a:t> 뒤에 </a:t>
            </a:r>
            <a:r>
              <a:rPr lang="en-US" altLang="ko-KR" dirty="0"/>
              <a:t>-</a:t>
            </a:r>
            <a:r>
              <a:rPr lang="ko-KR" altLang="en-US" dirty="0"/>
              <a:t>를 붙여 삭제</a:t>
            </a:r>
            <a:endParaRPr lang="en-US" altLang="ko-KR" dirty="0"/>
          </a:p>
          <a:p>
            <a:pPr lvl="2"/>
            <a:r>
              <a:rPr lang="en-US" altLang="ko-KR" dirty="0" err="1"/>
              <a:t>kubectl</a:t>
            </a:r>
            <a:r>
              <a:rPr lang="en-US" altLang="ko-KR" dirty="0"/>
              <a:t> label nodes </a:t>
            </a:r>
            <a:r>
              <a:rPr lang="en-US" altLang="ko-KR" dirty="0" err="1"/>
              <a:t>worker2</a:t>
            </a:r>
            <a:r>
              <a:rPr lang="en-US" altLang="ko-KR" dirty="0"/>
              <a:t> env-</a:t>
            </a:r>
          </a:p>
          <a:p>
            <a:pPr lvl="2"/>
            <a:endParaRPr lang="en-US" altLang="ko-KR" dirty="0"/>
          </a:p>
          <a:p>
            <a:r>
              <a:rPr lang="en-US" altLang="ko-KR" dirty="0"/>
              <a:t>node</a:t>
            </a:r>
            <a:r>
              <a:rPr lang="ko-KR" altLang="en-US" dirty="0"/>
              <a:t>에 지정된 </a:t>
            </a:r>
            <a:r>
              <a:rPr lang="en-US" altLang="ko-KR" dirty="0"/>
              <a:t>label </a:t>
            </a:r>
            <a:r>
              <a:rPr lang="ko-KR" altLang="en-US" dirty="0"/>
              <a:t>확인</a:t>
            </a:r>
            <a:endParaRPr lang="en-US" altLang="ko-KR" dirty="0"/>
          </a:p>
          <a:p>
            <a:pPr lvl="1"/>
            <a:r>
              <a:rPr lang="ko-KR" altLang="en-US" dirty="0"/>
              <a:t>모든 노드의 </a:t>
            </a:r>
            <a:r>
              <a:rPr lang="en-US" altLang="ko-KR" dirty="0"/>
              <a:t>label </a:t>
            </a:r>
            <a:r>
              <a:rPr lang="ko-KR" altLang="en-US" dirty="0"/>
              <a:t>한번에 확인</a:t>
            </a:r>
            <a:endParaRPr lang="en-US" altLang="ko-KR" dirty="0"/>
          </a:p>
          <a:p>
            <a:pPr lvl="2"/>
            <a:r>
              <a:rPr lang="en-US" altLang="ko-KR" dirty="0" err="1"/>
              <a:t>kubectl</a:t>
            </a:r>
            <a:r>
              <a:rPr lang="en-US" altLang="ko-KR" dirty="0"/>
              <a:t> get nodes --show-labels</a:t>
            </a:r>
          </a:p>
          <a:p>
            <a:pPr lvl="1"/>
            <a:r>
              <a:rPr lang="ko-KR" altLang="en-US" dirty="0"/>
              <a:t>특정 노드의 전체 </a:t>
            </a:r>
            <a:r>
              <a:rPr lang="en-US" altLang="ko-KR" dirty="0"/>
              <a:t>label </a:t>
            </a:r>
            <a:r>
              <a:rPr lang="ko-KR" altLang="en-US" dirty="0"/>
              <a:t>확인</a:t>
            </a:r>
            <a:endParaRPr lang="en-US" altLang="ko-KR" dirty="0"/>
          </a:p>
          <a:p>
            <a:pPr lvl="2"/>
            <a:r>
              <a:rPr lang="en-US" altLang="ko-KR" dirty="0" err="1"/>
              <a:t>kubectl</a:t>
            </a:r>
            <a:r>
              <a:rPr lang="en-US" altLang="ko-KR" dirty="0"/>
              <a:t> get node  </a:t>
            </a:r>
            <a:r>
              <a:rPr lang="ko-KR" altLang="en-US" dirty="0" err="1"/>
              <a:t>노드명</a:t>
            </a:r>
            <a:r>
              <a:rPr lang="ko-KR" altLang="en-US" dirty="0"/>
              <a:t> </a:t>
            </a:r>
            <a:r>
              <a:rPr lang="en-US" altLang="ko-KR" dirty="0"/>
              <a:t> -o </a:t>
            </a:r>
            <a:r>
              <a:rPr lang="en-US" altLang="ko-KR" dirty="0" err="1"/>
              <a:t>json</a:t>
            </a:r>
            <a:r>
              <a:rPr lang="en-US" altLang="ko-KR" dirty="0"/>
              <a:t> | </a:t>
            </a:r>
            <a:r>
              <a:rPr lang="en-US" altLang="ko-KR" dirty="0" err="1"/>
              <a:t>jq</a:t>
            </a:r>
            <a:r>
              <a:rPr lang="en-US" altLang="ko-KR" dirty="0"/>
              <a:t> '.</a:t>
            </a:r>
            <a:r>
              <a:rPr lang="en-US" altLang="ko-KR" dirty="0" err="1"/>
              <a:t>metadata.labels</a:t>
            </a:r>
            <a:r>
              <a:rPr lang="en-US" altLang="ko-KR" dirty="0"/>
              <a:t>'</a:t>
            </a:r>
          </a:p>
          <a:p>
            <a:pPr lvl="1"/>
            <a:r>
              <a:rPr lang="ko-KR" altLang="en-US" dirty="0"/>
              <a:t>각 노드별 특정 </a:t>
            </a:r>
            <a:r>
              <a:rPr lang="en-US" altLang="ko-KR" dirty="0"/>
              <a:t>label</a:t>
            </a:r>
            <a:r>
              <a:rPr lang="ko-KR" altLang="en-US" dirty="0"/>
              <a:t>의 지정 여부 확인</a:t>
            </a:r>
            <a:endParaRPr lang="en-US" altLang="ko-KR" dirty="0"/>
          </a:p>
          <a:p>
            <a:pPr lvl="2"/>
            <a:r>
              <a:rPr lang="en-US" altLang="ko-KR" dirty="0" err="1"/>
              <a:t>kubectl</a:t>
            </a:r>
            <a:r>
              <a:rPr lang="en-US" altLang="ko-KR" dirty="0"/>
              <a:t> get nodes -L </a:t>
            </a:r>
            <a:r>
              <a:rPr lang="ko-KR" altLang="en-US" dirty="0" err="1"/>
              <a:t>키이름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00719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3D63C2-80D0-1240-0D24-3350A3AE3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2.4 </a:t>
            </a:r>
            <a:r>
              <a:rPr lang="en-US" altLang="ko-KR" dirty="0" err="1"/>
              <a:t>nodeSelector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501206-00EF-DEDB-35BA-F6ED8EB33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Pod</a:t>
            </a:r>
            <a:r>
              <a:rPr lang="ko-KR" altLang="en-US" dirty="0"/>
              <a:t> </a:t>
            </a:r>
            <a:r>
              <a:rPr lang="en-US" altLang="ko-KR" dirty="0"/>
              <a:t>Spec</a:t>
            </a:r>
            <a:r>
              <a:rPr lang="ko-KR" altLang="en-US" dirty="0"/>
              <a:t>에서 </a:t>
            </a:r>
            <a:r>
              <a:rPr lang="en-US" altLang="ko-KR" dirty="0" err="1"/>
              <a:t>nodeSelector</a:t>
            </a:r>
            <a:r>
              <a:rPr lang="en-US" altLang="ko-KR" dirty="0"/>
              <a:t> </a:t>
            </a:r>
            <a:r>
              <a:rPr lang="ko-KR" altLang="en-US" dirty="0"/>
              <a:t>지정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CA79EB-567A-B99C-D84C-2A0585190A6F}"/>
              </a:ext>
            </a:extLst>
          </p:cNvPr>
          <p:cNvSpPr txBox="1"/>
          <p:nvPr/>
        </p:nvSpPr>
        <p:spPr>
          <a:xfrm>
            <a:off x="673188" y="1653326"/>
            <a:ext cx="5818856" cy="501675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node-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selector1.yaml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apiVersion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apps/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v1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kind: Deployment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metadata: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-deploy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namespace: default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spec: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replicas: 2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...(</a:t>
            </a:r>
            <a:r>
              <a:rPr lang="ko-KR" altLang="en-US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생략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)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template: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metadata: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...(</a:t>
            </a:r>
            <a:r>
              <a:rPr lang="ko-KR" altLang="en-US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생략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)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spec: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nodeSelector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env: test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containers: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- name: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image: stepanowon/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nodeapp-slim:1.0.0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ports: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-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containerPort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8080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F2A77F-82AA-748C-74F8-632D736F6147}"/>
              </a:ext>
            </a:extLst>
          </p:cNvPr>
          <p:cNvSpPr txBox="1"/>
          <p:nvPr/>
        </p:nvSpPr>
        <p:spPr>
          <a:xfrm>
            <a:off x="6931726" y="1652954"/>
            <a:ext cx="5112566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worker2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에 레이블 부여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/>
              <a:t>kubectl</a:t>
            </a:r>
            <a:r>
              <a:rPr lang="en-US" altLang="ko-KR" sz="1600" dirty="0"/>
              <a:t> label nodes </a:t>
            </a:r>
            <a:r>
              <a:rPr lang="en-US" altLang="ko-KR" sz="1600" dirty="0" err="1"/>
              <a:t>worker2</a:t>
            </a:r>
            <a:r>
              <a:rPr lang="en-US" altLang="ko-KR" sz="1600" dirty="0"/>
              <a:t> env=test</a:t>
            </a:r>
          </a:p>
          <a:p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왼쪽의 예제 적용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apply -f node-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selector1.yaml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pod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가 생성된 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worker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노드 확인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get pods -o wide</a:t>
            </a:r>
          </a:p>
          <a:p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테스트 후 삭제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delete -f node-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selector1.yaml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worker2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의 레이블 삭제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/>
              <a:t>kubectl</a:t>
            </a:r>
            <a:r>
              <a:rPr lang="en-US" altLang="ko-KR" sz="1600" dirty="0"/>
              <a:t> label nodes </a:t>
            </a:r>
            <a:r>
              <a:rPr lang="en-US" altLang="ko-KR" sz="1600" dirty="0" err="1"/>
              <a:t>worker2</a:t>
            </a:r>
            <a:r>
              <a:rPr lang="en-US" altLang="ko-KR" sz="1600" dirty="0"/>
              <a:t> env-</a:t>
            </a:r>
          </a:p>
        </p:txBody>
      </p:sp>
    </p:spTree>
    <p:extLst>
      <p:ext uri="{BB962C8B-B14F-4D97-AF65-F5344CB8AC3E}">
        <p14:creationId xmlns:p14="http://schemas.microsoft.com/office/powerpoint/2010/main" val="10740978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56F3F2-79E0-BB0C-C5BA-D10A1F9D4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2.5 affinity, anti-affinity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5C2C39-7F05-B215-6CC3-5866D1FAD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/>
              <a:t>Affinity</a:t>
            </a:r>
          </a:p>
          <a:p>
            <a:pPr lvl="1"/>
            <a:r>
              <a:rPr lang="en-US" altLang="ko-KR" sz="2000" dirty="0" err="1"/>
              <a:t>nodeSelector</a:t>
            </a:r>
            <a:r>
              <a:rPr lang="ko-KR" altLang="en-US" sz="2000" dirty="0"/>
              <a:t>의 단점을 보완하는 스케줄링 방법 </a:t>
            </a:r>
            <a:endParaRPr lang="en-US" altLang="ko-KR" sz="2000" dirty="0"/>
          </a:p>
          <a:p>
            <a:pPr lvl="2"/>
            <a:r>
              <a:rPr lang="en-US" altLang="ko-KR" sz="1600" dirty="0" err="1"/>
              <a:t>nodeSelector</a:t>
            </a:r>
            <a:r>
              <a:rPr lang="ko-KR" altLang="en-US" sz="1600" dirty="0"/>
              <a:t>는 일치비교</a:t>
            </a:r>
            <a:r>
              <a:rPr lang="en-US" altLang="ko-KR" sz="1600" dirty="0"/>
              <a:t>(equality)</a:t>
            </a:r>
            <a:r>
              <a:rPr lang="ko-KR" altLang="en-US" sz="1600" dirty="0"/>
              <a:t>만 지원함</a:t>
            </a:r>
            <a:endParaRPr lang="en-US" altLang="ko-KR" sz="1600" dirty="0"/>
          </a:p>
          <a:p>
            <a:pPr lvl="1"/>
            <a:r>
              <a:rPr lang="ko-KR" altLang="en-US" sz="2000" dirty="0"/>
              <a:t>더욱 다양하고 확장된 </a:t>
            </a:r>
            <a:r>
              <a:rPr lang="en-US" altLang="ko-KR" sz="2000" dirty="0"/>
              <a:t>label </a:t>
            </a:r>
            <a:r>
              <a:rPr lang="ko-KR" altLang="en-US" sz="2000" dirty="0"/>
              <a:t>선택 기능 제공</a:t>
            </a:r>
            <a:endParaRPr lang="en-US" altLang="ko-KR" sz="2000" dirty="0"/>
          </a:p>
          <a:p>
            <a:pPr lvl="1"/>
            <a:r>
              <a:rPr lang="en-US" altLang="ko-KR" sz="2000" dirty="0"/>
              <a:t>Affinity </a:t>
            </a:r>
            <a:r>
              <a:rPr lang="ko-KR" altLang="en-US" sz="2000" dirty="0"/>
              <a:t>종류</a:t>
            </a:r>
            <a:r>
              <a:rPr lang="en-US" altLang="ko-KR" sz="2000" dirty="0"/>
              <a:t>: </a:t>
            </a:r>
            <a:r>
              <a:rPr lang="en-US" altLang="ko-KR" sz="2000" dirty="0" err="1"/>
              <a:t>nodeAffinity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 err="1"/>
              <a:t>podAffinity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podAntiAffinity</a:t>
            </a:r>
            <a:endParaRPr lang="en-US" altLang="ko-KR" sz="2000" dirty="0"/>
          </a:p>
          <a:p>
            <a:pPr lvl="1"/>
            <a:r>
              <a:rPr lang="ko-KR" altLang="en-US" sz="2000" dirty="0"/>
              <a:t>강제</a:t>
            </a:r>
            <a:r>
              <a:rPr lang="en-US" altLang="ko-KR" sz="2000" dirty="0"/>
              <a:t>/</a:t>
            </a:r>
            <a:r>
              <a:rPr lang="ko-KR" altLang="en-US" sz="2000" dirty="0"/>
              <a:t>선호 선택</a:t>
            </a:r>
            <a:endParaRPr lang="en-US" altLang="ko-KR" sz="2000" dirty="0"/>
          </a:p>
          <a:p>
            <a:pPr lvl="2"/>
            <a:r>
              <a:rPr lang="en-US" altLang="ko-KR" sz="1600" dirty="0" err="1"/>
              <a:t>requiredDuringSchedulingIgnoredDuringExecution</a:t>
            </a:r>
            <a:r>
              <a:rPr lang="en-US" altLang="ko-KR" sz="1600" dirty="0"/>
              <a:t> : </a:t>
            </a:r>
            <a:r>
              <a:rPr lang="ko-KR" altLang="en-US" sz="1600" dirty="0"/>
              <a:t>강제 조건</a:t>
            </a:r>
            <a:r>
              <a:rPr lang="en-US" altLang="ko-KR" sz="1600" dirty="0"/>
              <a:t>(Hard)</a:t>
            </a:r>
          </a:p>
          <a:p>
            <a:pPr lvl="3"/>
            <a:r>
              <a:rPr lang="ko-KR" altLang="en-US" sz="1400" dirty="0"/>
              <a:t>규칙이 만족되지 않으면 </a:t>
            </a:r>
            <a:r>
              <a:rPr lang="en-US" altLang="ko-KR" sz="1400" dirty="0"/>
              <a:t>Pod</a:t>
            </a:r>
            <a:r>
              <a:rPr lang="ko-KR" altLang="en-US" sz="1400" dirty="0"/>
              <a:t>가 </a:t>
            </a:r>
            <a:r>
              <a:rPr lang="ko-KR" altLang="en-US" sz="1400" dirty="0" err="1"/>
              <a:t>스케줄링되지</a:t>
            </a:r>
            <a:r>
              <a:rPr lang="ko-KR" altLang="en-US" sz="1400" dirty="0"/>
              <a:t> 않음</a:t>
            </a:r>
            <a:endParaRPr lang="en-US" altLang="ko-KR" sz="1400" dirty="0"/>
          </a:p>
          <a:p>
            <a:pPr lvl="2"/>
            <a:r>
              <a:rPr lang="en-US" altLang="ko-KR" sz="1600" dirty="0" err="1"/>
              <a:t>preferredDuringSchedulingIgnoredDuringExecution</a:t>
            </a:r>
            <a:r>
              <a:rPr lang="en-US" altLang="ko-KR" sz="1600" dirty="0"/>
              <a:t> : </a:t>
            </a:r>
            <a:r>
              <a:rPr lang="ko-KR" altLang="en-US" sz="1600" dirty="0"/>
              <a:t>선호 조건</a:t>
            </a:r>
            <a:r>
              <a:rPr lang="en-US" altLang="ko-KR" sz="1600" dirty="0"/>
              <a:t>(Soft)</a:t>
            </a:r>
          </a:p>
          <a:p>
            <a:pPr lvl="3"/>
            <a:r>
              <a:rPr lang="ko-KR" altLang="en-US" sz="1400" dirty="0"/>
              <a:t>규칙에 부합되지 않더라도 </a:t>
            </a:r>
            <a:r>
              <a:rPr lang="en-US" altLang="ko-KR" sz="1400" dirty="0"/>
              <a:t>Pod</a:t>
            </a:r>
            <a:r>
              <a:rPr lang="ko-KR" altLang="en-US" sz="1400" dirty="0"/>
              <a:t>는 스케줄링됨</a:t>
            </a:r>
            <a:endParaRPr lang="en-US" altLang="ko-KR" sz="1400" dirty="0"/>
          </a:p>
          <a:p>
            <a:pPr lvl="1"/>
            <a:r>
              <a:rPr lang="ko-KR" altLang="en-US" sz="2000" dirty="0"/>
              <a:t>다양한 연산자</a:t>
            </a:r>
            <a:endParaRPr lang="en-US" altLang="ko-KR" sz="2000" dirty="0"/>
          </a:p>
          <a:p>
            <a:pPr lvl="2"/>
            <a:r>
              <a:rPr lang="en-US" altLang="ko-KR" sz="1600" dirty="0"/>
              <a:t>Exists, In, Gt, Lt : Affinity</a:t>
            </a:r>
          </a:p>
          <a:p>
            <a:pPr lvl="2"/>
            <a:r>
              <a:rPr lang="en-US" altLang="ko-KR" sz="1600" dirty="0"/>
              <a:t>NotIn, </a:t>
            </a:r>
            <a:r>
              <a:rPr lang="en-US" altLang="ko-KR" sz="1600" dirty="0" err="1"/>
              <a:t>DoesNotExist</a:t>
            </a:r>
            <a:r>
              <a:rPr lang="en-US" altLang="ko-KR" sz="1600" dirty="0"/>
              <a:t> : Anti-affinity</a:t>
            </a:r>
          </a:p>
          <a:p>
            <a:pPr lvl="1"/>
            <a:r>
              <a:rPr lang="en-US" altLang="ko-KR" sz="2000" dirty="0"/>
              <a:t>Weight : </a:t>
            </a:r>
            <a:r>
              <a:rPr lang="ko-KR" altLang="en-US" sz="2000" dirty="0"/>
              <a:t>가중치</a:t>
            </a:r>
            <a:endParaRPr lang="en-US" altLang="ko-KR" sz="2000" dirty="0"/>
          </a:p>
          <a:p>
            <a:pPr lvl="2"/>
            <a:r>
              <a:rPr lang="en-US" altLang="ko-KR" sz="1600" dirty="0" err="1"/>
              <a:t>preferredDuringSchedulingIgnoredDuringExecution</a:t>
            </a:r>
            <a:r>
              <a:rPr lang="en-US" altLang="ko-KR" sz="1600" dirty="0"/>
              <a:t> </a:t>
            </a:r>
            <a:r>
              <a:rPr lang="ko-KR" altLang="en-US" sz="1600" dirty="0"/>
              <a:t>를 적용할 때 </a:t>
            </a:r>
            <a:r>
              <a:rPr lang="en-US" altLang="ko-KR" sz="1600" dirty="0"/>
              <a:t>Weight </a:t>
            </a:r>
            <a:r>
              <a:rPr lang="ko-KR" altLang="en-US" sz="1600" dirty="0"/>
              <a:t>부여</a:t>
            </a:r>
            <a:endParaRPr lang="en-US" altLang="ko-KR" sz="1600" dirty="0"/>
          </a:p>
          <a:p>
            <a:pPr lvl="2"/>
            <a:r>
              <a:rPr lang="en-US" altLang="ko-KR" sz="1600" dirty="0"/>
              <a:t>Node </a:t>
            </a:r>
            <a:r>
              <a:rPr lang="ko-KR" altLang="en-US" sz="1600" dirty="0"/>
              <a:t>별로 가중치를 반영한 합산 값이 가장 큰 </a:t>
            </a:r>
            <a:r>
              <a:rPr lang="en-US" altLang="ko-KR" sz="1600" dirty="0"/>
              <a:t>Node</a:t>
            </a:r>
            <a:r>
              <a:rPr lang="ko-KR" altLang="en-US" sz="1600" dirty="0"/>
              <a:t>에 </a:t>
            </a:r>
            <a:r>
              <a:rPr lang="en-US" altLang="ko-KR" sz="1600" dirty="0"/>
              <a:t>Pod</a:t>
            </a:r>
            <a:r>
              <a:rPr lang="ko-KR" altLang="en-US" sz="1600" dirty="0"/>
              <a:t>가 할당됨</a:t>
            </a:r>
            <a:r>
              <a:rPr lang="en-US" altLang="ko-KR" sz="1600" dirty="0"/>
              <a:t>.</a:t>
            </a:r>
          </a:p>
          <a:p>
            <a:pPr lvl="1"/>
            <a:r>
              <a:rPr lang="en-US" altLang="ko-KR" sz="1900" dirty="0" err="1"/>
              <a:t>topologyKey</a:t>
            </a:r>
            <a:r>
              <a:rPr lang="en-US" altLang="ko-KR" sz="1900" dirty="0"/>
              <a:t> : Node, Rack, Zone, Region (</a:t>
            </a:r>
            <a:r>
              <a:rPr lang="ko-KR" altLang="en-US" sz="1900" dirty="0"/>
              <a:t>기본</a:t>
            </a:r>
            <a:r>
              <a:rPr lang="en-US" altLang="ko-KR" sz="1900" dirty="0"/>
              <a:t>: Node)</a:t>
            </a:r>
          </a:p>
        </p:txBody>
      </p:sp>
    </p:spTree>
    <p:extLst>
      <p:ext uri="{BB962C8B-B14F-4D97-AF65-F5344CB8AC3E}">
        <p14:creationId xmlns:p14="http://schemas.microsoft.com/office/powerpoint/2010/main" val="6714158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806DB5-090F-4142-513A-F86179475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2.5 affinity, anti-affinity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95CFA7-568B-5340-4697-E66C04715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dirty="0" err="1"/>
              <a:t>nodeAffinity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podAffinity</a:t>
            </a:r>
            <a:r>
              <a:rPr lang="en-US" altLang="ko-KR" dirty="0"/>
              <a:t>, </a:t>
            </a:r>
            <a:r>
              <a:rPr lang="en-US" altLang="ko-KR" dirty="0" err="1"/>
              <a:t>podAntiAffinity</a:t>
            </a:r>
            <a:endParaRPr lang="en-US" altLang="ko-KR" dirty="0"/>
          </a:p>
          <a:p>
            <a:pPr lvl="2"/>
            <a:r>
              <a:rPr lang="en-US" altLang="ko-KR" dirty="0" err="1"/>
              <a:t>nodeAffinity</a:t>
            </a:r>
            <a:endParaRPr lang="en-US" altLang="ko-KR" dirty="0"/>
          </a:p>
          <a:p>
            <a:pPr lvl="3"/>
            <a:r>
              <a:rPr lang="en-US" altLang="ko-KR" dirty="0"/>
              <a:t>Node</a:t>
            </a:r>
            <a:r>
              <a:rPr lang="ko-KR" altLang="en-US" dirty="0"/>
              <a:t>의 </a:t>
            </a:r>
            <a:r>
              <a:rPr lang="en-US" altLang="ko-KR" dirty="0"/>
              <a:t>label</a:t>
            </a:r>
            <a:r>
              <a:rPr lang="ko-KR" altLang="en-US" dirty="0"/>
              <a:t>을 기준으로 새 </a:t>
            </a:r>
            <a:r>
              <a:rPr lang="en-US" altLang="ko-KR" dirty="0"/>
              <a:t>Pod</a:t>
            </a:r>
            <a:r>
              <a:rPr lang="ko-KR" altLang="en-US" dirty="0"/>
              <a:t>를 선택된 </a:t>
            </a:r>
            <a:r>
              <a:rPr lang="en-US" altLang="ko-KR" dirty="0"/>
              <a:t>Node</a:t>
            </a:r>
            <a:r>
              <a:rPr lang="ko-KR" altLang="en-US" dirty="0"/>
              <a:t>에 </a:t>
            </a:r>
            <a:r>
              <a:rPr lang="ko-KR" altLang="en-US" dirty="0" err="1"/>
              <a:t>스케줄링함</a:t>
            </a:r>
            <a:endParaRPr lang="en-US" altLang="ko-KR" dirty="0"/>
          </a:p>
          <a:p>
            <a:pPr lvl="2"/>
            <a:r>
              <a:rPr lang="en-US" altLang="ko-KR" dirty="0" err="1"/>
              <a:t>podAffinity</a:t>
            </a:r>
            <a:endParaRPr lang="en-US" altLang="ko-KR" dirty="0"/>
          </a:p>
          <a:p>
            <a:pPr lvl="3"/>
            <a:r>
              <a:rPr lang="ko-KR" altLang="en-US" dirty="0"/>
              <a:t>규칙</a:t>
            </a:r>
            <a:r>
              <a:rPr lang="en-US" altLang="ko-KR" dirty="0"/>
              <a:t>Y</a:t>
            </a:r>
            <a:r>
              <a:rPr lang="ko-KR" altLang="en-US" dirty="0"/>
              <a:t>를 충족하는 하나 이상의 </a:t>
            </a:r>
            <a:r>
              <a:rPr lang="en-US" altLang="ko-KR" dirty="0"/>
              <a:t>Pod</a:t>
            </a:r>
            <a:r>
              <a:rPr lang="ko-KR" altLang="en-US" dirty="0"/>
              <a:t>를 </a:t>
            </a:r>
            <a:r>
              <a:rPr lang="ko-KR" altLang="en-US" dirty="0" err="1"/>
              <a:t>실행중이라면</a:t>
            </a:r>
            <a:r>
              <a:rPr lang="ko-KR" altLang="en-US" dirty="0"/>
              <a:t> 이 </a:t>
            </a:r>
            <a:r>
              <a:rPr lang="en-US" altLang="ko-KR" dirty="0"/>
              <a:t>Pod</a:t>
            </a:r>
            <a:r>
              <a:rPr lang="ko-KR" altLang="en-US" dirty="0"/>
              <a:t>는 기존 </a:t>
            </a:r>
            <a:r>
              <a:rPr lang="en-US" altLang="ko-KR" dirty="0"/>
              <a:t>Pod</a:t>
            </a:r>
            <a:r>
              <a:rPr lang="ko-KR" altLang="en-US" dirty="0"/>
              <a:t>가 실행중인 노드에 배치되어야 함</a:t>
            </a:r>
            <a:endParaRPr lang="en-US" altLang="ko-KR" dirty="0"/>
          </a:p>
          <a:p>
            <a:pPr lvl="3"/>
            <a:r>
              <a:rPr lang="ko-KR" altLang="en-US" dirty="0"/>
              <a:t>기존에 실행중인 </a:t>
            </a:r>
            <a:r>
              <a:rPr lang="en-US" altLang="ko-KR" dirty="0"/>
              <a:t>Pod</a:t>
            </a:r>
            <a:r>
              <a:rPr lang="ko-KR" altLang="en-US" dirty="0"/>
              <a:t>의 정보를 참조하여 새 </a:t>
            </a:r>
            <a:r>
              <a:rPr lang="en-US" altLang="ko-KR" dirty="0"/>
              <a:t>Pod</a:t>
            </a:r>
            <a:r>
              <a:rPr lang="ko-KR" altLang="en-US" dirty="0"/>
              <a:t>를 같은 </a:t>
            </a:r>
            <a:r>
              <a:rPr lang="en-US" altLang="ko-KR" dirty="0"/>
              <a:t>Node</a:t>
            </a:r>
            <a:r>
              <a:rPr lang="ko-KR" altLang="en-US" dirty="0"/>
              <a:t>에 </a:t>
            </a:r>
            <a:r>
              <a:rPr lang="ko-KR" altLang="en-US" dirty="0" err="1"/>
              <a:t>스케줄링함</a:t>
            </a:r>
            <a:endParaRPr lang="en-US" altLang="ko-KR" dirty="0"/>
          </a:p>
          <a:p>
            <a:pPr lvl="2"/>
            <a:r>
              <a:rPr lang="en-US" altLang="ko-KR" dirty="0" err="1"/>
              <a:t>podAntiAffinity</a:t>
            </a:r>
            <a:endParaRPr lang="en-US" altLang="ko-KR" dirty="0"/>
          </a:p>
          <a:p>
            <a:pPr lvl="3"/>
            <a:r>
              <a:rPr lang="ko-KR" altLang="en-US" dirty="0"/>
              <a:t>규칙</a:t>
            </a:r>
            <a:r>
              <a:rPr lang="en-US" altLang="ko-KR" dirty="0"/>
              <a:t>Y</a:t>
            </a:r>
            <a:r>
              <a:rPr lang="ko-KR" altLang="en-US" dirty="0"/>
              <a:t>를 충족하는 하나 이상의 </a:t>
            </a:r>
            <a:r>
              <a:rPr lang="en-US" altLang="ko-KR" dirty="0"/>
              <a:t>Pod</a:t>
            </a:r>
            <a:r>
              <a:rPr lang="ko-KR" altLang="en-US" dirty="0"/>
              <a:t>를 </a:t>
            </a:r>
            <a:r>
              <a:rPr lang="ko-KR" altLang="en-US" dirty="0" err="1"/>
              <a:t>실행중이라면</a:t>
            </a:r>
            <a:r>
              <a:rPr lang="ko-KR" altLang="en-US" dirty="0"/>
              <a:t> 새로 생성하는 </a:t>
            </a:r>
            <a:r>
              <a:rPr lang="en-US" altLang="ko-KR" dirty="0"/>
              <a:t>Pod</a:t>
            </a:r>
            <a:r>
              <a:rPr lang="ko-KR" altLang="en-US" dirty="0"/>
              <a:t>는 기존 </a:t>
            </a:r>
            <a:r>
              <a:rPr lang="en-US" altLang="ko-KR" dirty="0"/>
              <a:t>Pod</a:t>
            </a:r>
            <a:r>
              <a:rPr lang="ko-KR" altLang="en-US" dirty="0"/>
              <a:t>가 실행중인 노드에 배치되지 못함</a:t>
            </a:r>
            <a:endParaRPr lang="en-US" altLang="ko-KR" dirty="0"/>
          </a:p>
          <a:p>
            <a:pPr lvl="3"/>
            <a:r>
              <a:rPr lang="ko-KR" altLang="en-US" dirty="0"/>
              <a:t>기존에 실행중인 </a:t>
            </a:r>
            <a:r>
              <a:rPr lang="en-US" altLang="ko-KR" dirty="0"/>
              <a:t>Pod</a:t>
            </a:r>
            <a:r>
              <a:rPr lang="ko-KR" altLang="en-US" dirty="0"/>
              <a:t>의 정보를 참조하여 새 </a:t>
            </a:r>
            <a:r>
              <a:rPr lang="en-US" altLang="ko-KR" dirty="0"/>
              <a:t>Pod</a:t>
            </a:r>
            <a:r>
              <a:rPr lang="ko-KR" altLang="en-US" dirty="0"/>
              <a:t>를 다른 </a:t>
            </a:r>
            <a:r>
              <a:rPr lang="en-US" altLang="ko-KR" dirty="0"/>
              <a:t>Node</a:t>
            </a:r>
            <a:r>
              <a:rPr lang="ko-KR" altLang="en-US" dirty="0"/>
              <a:t>에 </a:t>
            </a:r>
            <a:r>
              <a:rPr lang="ko-KR" altLang="en-US" dirty="0" err="1"/>
              <a:t>스케줄링하므로</a:t>
            </a:r>
            <a:r>
              <a:rPr lang="ko-KR" altLang="en-US" dirty="0"/>
              <a:t> </a:t>
            </a:r>
            <a:r>
              <a:rPr lang="en-US" altLang="ko-KR" dirty="0"/>
              <a:t>Pod</a:t>
            </a:r>
            <a:r>
              <a:rPr lang="ko-KR" altLang="en-US" dirty="0"/>
              <a:t> 들은 여러 노드로 강제 분산되어 배치됨</a:t>
            </a:r>
            <a:endParaRPr lang="en-US" altLang="ko-KR" dirty="0"/>
          </a:p>
          <a:p>
            <a:pPr lvl="1"/>
            <a:r>
              <a:rPr lang="en-US" altLang="ko-KR" dirty="0"/>
              <a:t>X</a:t>
            </a:r>
            <a:r>
              <a:rPr lang="ko-KR" altLang="en-US" dirty="0"/>
              <a:t>규칙</a:t>
            </a:r>
            <a:r>
              <a:rPr lang="en-US" altLang="ko-KR" dirty="0"/>
              <a:t>, Y</a:t>
            </a:r>
            <a:r>
              <a:rPr lang="ko-KR" altLang="en-US" dirty="0"/>
              <a:t>규칙</a:t>
            </a:r>
            <a:endParaRPr lang="en-US" altLang="ko-KR" dirty="0"/>
          </a:p>
          <a:p>
            <a:pPr lvl="2"/>
            <a:r>
              <a:rPr lang="ko-KR" altLang="en-US" dirty="0"/>
              <a:t>규칙 </a:t>
            </a:r>
            <a:r>
              <a:rPr lang="en-US" altLang="ko-KR" dirty="0"/>
              <a:t>X : </a:t>
            </a:r>
            <a:r>
              <a:rPr lang="ko-KR" altLang="en-US" dirty="0" err="1"/>
              <a:t>스케줄링할</a:t>
            </a:r>
            <a:r>
              <a:rPr lang="ko-KR" altLang="en-US" dirty="0"/>
              <a:t> </a:t>
            </a:r>
            <a:r>
              <a:rPr lang="en-US" altLang="ko-KR" dirty="0"/>
              <a:t>Pod</a:t>
            </a:r>
          </a:p>
          <a:p>
            <a:pPr lvl="3"/>
            <a:r>
              <a:rPr lang="ko-KR" altLang="en-US" dirty="0"/>
              <a:t>새로 생성하는 </a:t>
            </a:r>
            <a:r>
              <a:rPr lang="en-US" altLang="ko-KR" dirty="0"/>
              <a:t>Pod</a:t>
            </a:r>
            <a:r>
              <a:rPr lang="ko-KR" altLang="en-US" dirty="0"/>
              <a:t>가 기존 </a:t>
            </a:r>
            <a:r>
              <a:rPr lang="en-US" altLang="ko-KR" dirty="0"/>
              <a:t>Pod</a:t>
            </a:r>
            <a:r>
              <a:rPr lang="ko-KR" altLang="en-US" dirty="0"/>
              <a:t>와 어떤 조건으로 같은 </a:t>
            </a:r>
            <a:r>
              <a:rPr lang="en-US" altLang="ko-KR" dirty="0"/>
              <a:t>Topology(</a:t>
            </a:r>
            <a:r>
              <a:rPr lang="ko-KR" altLang="en-US" dirty="0"/>
              <a:t>예</a:t>
            </a:r>
            <a:r>
              <a:rPr lang="en-US" altLang="ko-KR" dirty="0"/>
              <a:t>:Node, Rack, Zone, Region)</a:t>
            </a:r>
            <a:r>
              <a:rPr lang="ko-KR" altLang="en-US" dirty="0"/>
              <a:t>에 배치되어야 하는지 지정</a:t>
            </a:r>
            <a:endParaRPr lang="en-US" altLang="ko-KR" dirty="0"/>
          </a:p>
          <a:p>
            <a:pPr lvl="3"/>
            <a:r>
              <a:rPr lang="en-US" altLang="ko-KR" dirty="0"/>
              <a:t>"</a:t>
            </a:r>
            <a:r>
              <a:rPr lang="ko-KR" altLang="en-US" dirty="0"/>
              <a:t>나</a:t>
            </a:r>
            <a:r>
              <a:rPr lang="en-US" altLang="ko-KR" dirty="0"/>
              <a:t>(</a:t>
            </a:r>
            <a:r>
              <a:rPr lang="ko-KR" altLang="en-US" dirty="0"/>
              <a:t>생성하려는 </a:t>
            </a:r>
            <a:r>
              <a:rPr lang="en-US" altLang="ko-KR" dirty="0"/>
              <a:t>Pod)</a:t>
            </a:r>
            <a:r>
              <a:rPr lang="ko-KR" altLang="en-US" dirty="0"/>
              <a:t>는</a:t>
            </a:r>
            <a:r>
              <a:rPr lang="en-US" altLang="ko-KR" dirty="0"/>
              <a:t> </a:t>
            </a:r>
            <a:r>
              <a:rPr lang="ko-KR" altLang="en-US" dirty="0"/>
              <a:t>누구와 같은 </a:t>
            </a:r>
            <a:r>
              <a:rPr lang="en-US" altLang="ko-KR" dirty="0"/>
              <a:t>Topology</a:t>
            </a:r>
            <a:r>
              <a:rPr lang="ko-KR" altLang="en-US" dirty="0"/>
              <a:t>에 배치될 것이다</a:t>
            </a:r>
            <a:r>
              <a:rPr lang="en-US" altLang="ko-KR" dirty="0"/>
              <a:t>"</a:t>
            </a:r>
          </a:p>
          <a:p>
            <a:pPr lvl="2"/>
            <a:r>
              <a:rPr lang="ko-KR" altLang="en-US" dirty="0"/>
              <a:t>규칙 </a:t>
            </a:r>
            <a:r>
              <a:rPr lang="en-US" altLang="ko-KR" dirty="0"/>
              <a:t>Y : </a:t>
            </a:r>
            <a:r>
              <a:rPr lang="ko-KR" altLang="en-US" dirty="0"/>
              <a:t>기존 실행중인 </a:t>
            </a:r>
            <a:r>
              <a:rPr lang="en-US" altLang="ko-KR" dirty="0"/>
              <a:t>Pod</a:t>
            </a:r>
          </a:p>
          <a:p>
            <a:pPr lvl="3"/>
            <a:r>
              <a:rPr lang="ko-KR" altLang="en-US" dirty="0"/>
              <a:t>기존 </a:t>
            </a:r>
            <a:r>
              <a:rPr lang="en-US" altLang="ko-KR" dirty="0"/>
              <a:t>Pod</a:t>
            </a:r>
            <a:r>
              <a:rPr lang="ko-KR" altLang="en-US" dirty="0"/>
              <a:t>가 있는 </a:t>
            </a:r>
            <a:r>
              <a:rPr lang="en-US" altLang="ko-KR" dirty="0"/>
              <a:t>Topology</a:t>
            </a:r>
            <a:r>
              <a:rPr lang="ko-KR" altLang="en-US" dirty="0"/>
              <a:t>에 새로운 </a:t>
            </a:r>
            <a:r>
              <a:rPr lang="en-US" altLang="ko-KR" dirty="0"/>
              <a:t>Pod</a:t>
            </a:r>
            <a:r>
              <a:rPr lang="ko-KR" altLang="en-US" dirty="0"/>
              <a:t>를 배치할 수 있는지 지정</a:t>
            </a:r>
            <a:endParaRPr lang="en-US" altLang="ko-KR" dirty="0"/>
          </a:p>
          <a:p>
            <a:pPr lvl="3"/>
            <a:r>
              <a:rPr lang="en-US" altLang="ko-KR" dirty="0"/>
              <a:t>"</a:t>
            </a:r>
            <a:r>
              <a:rPr lang="ko-KR" altLang="en-US" dirty="0"/>
              <a:t>내</a:t>
            </a:r>
            <a:r>
              <a:rPr lang="en-US" altLang="ko-KR" dirty="0"/>
              <a:t>(</a:t>
            </a:r>
            <a:r>
              <a:rPr lang="ko-KR" altLang="en-US" dirty="0"/>
              <a:t>기존 </a:t>
            </a:r>
            <a:r>
              <a:rPr lang="en-US" altLang="ko-KR" dirty="0"/>
              <a:t>Pod)</a:t>
            </a:r>
            <a:r>
              <a:rPr lang="ko-KR" altLang="en-US" dirty="0"/>
              <a:t>가 있는 </a:t>
            </a:r>
            <a:r>
              <a:rPr lang="en-US" altLang="ko-KR" dirty="0"/>
              <a:t>Topology</a:t>
            </a:r>
            <a:r>
              <a:rPr lang="ko-KR" altLang="en-US" dirty="0"/>
              <a:t>에 너는 배치될 수 있어</a:t>
            </a:r>
            <a:r>
              <a:rPr lang="en-US" altLang="ko-KR" dirty="0"/>
              <a:t>"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874960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F36854-9982-B8C9-8490-EB6F3F225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2.5 affinity, anti-affinity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864B70-2F68-036B-490A-8A80EC6A9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nodeAffinity</a:t>
            </a:r>
            <a:r>
              <a:rPr lang="ko-KR" altLang="en-US" dirty="0"/>
              <a:t> 예시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229A78-8E42-2A76-5C94-A7FD4D9CF96C}"/>
              </a:ext>
            </a:extLst>
          </p:cNvPr>
          <p:cNvSpPr txBox="1"/>
          <p:nvPr/>
        </p:nvSpPr>
        <p:spPr>
          <a:xfrm>
            <a:off x="587388" y="1520788"/>
            <a:ext cx="4932548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nodeAffinity1.yaml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apiVersion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v1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kind: Pod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metadata: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name: nginx-pod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spec: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affinity: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nodeAffinity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requiredDuringSchedulingIgnoredDuringExecution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nodeSelectorTerms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-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matchExpressions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- key: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kubernetes.io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/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os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operator: In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values: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-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linux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containers: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- name: nginx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image: nginx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5EB56A-6BB1-BFD7-1381-219FC07E2AB7}"/>
              </a:ext>
            </a:extLst>
          </p:cNvPr>
          <p:cNvSpPr txBox="1"/>
          <p:nvPr/>
        </p:nvSpPr>
        <p:spPr>
          <a:xfrm>
            <a:off x="5743436" y="1520788"/>
            <a:ext cx="6365231" cy="5262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nodeAffinity2.yaml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apiVersion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v1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kind: Pod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metadata: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name: nginx-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pod2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spec: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affinity: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nodeAffinity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preferredDuringSchedulingIgnoredDuringExecution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- weight: 50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preference: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matchExpressions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- key: memory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  operator: In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  values: ["high"]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- weight: 10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preference: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matchExpressions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- key: core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  operator: In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  values: ["2", "4"]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containers: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- name: nginx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image: nginx</a:t>
            </a:r>
          </a:p>
        </p:txBody>
      </p:sp>
    </p:spTree>
    <p:extLst>
      <p:ext uri="{BB962C8B-B14F-4D97-AF65-F5344CB8AC3E}">
        <p14:creationId xmlns:p14="http://schemas.microsoft.com/office/powerpoint/2010/main" val="36453495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578618-D9D1-F5B7-BDED-7CD6F9FCE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2.5 affinity, anti-affinity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C0665F-389A-F724-31DE-8A9EA7BF8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예제 </a:t>
            </a:r>
            <a:r>
              <a:rPr lang="en-US" altLang="ko-KR" dirty="0"/>
              <a:t>1 </a:t>
            </a:r>
          </a:p>
          <a:p>
            <a:pPr lvl="1"/>
            <a:r>
              <a:rPr lang="en-US" altLang="ko-KR" dirty="0"/>
              <a:t>node</a:t>
            </a:r>
            <a:r>
              <a:rPr lang="ko-KR" altLang="en-US" dirty="0"/>
              <a:t>에 </a:t>
            </a:r>
            <a:r>
              <a:rPr lang="en-US" altLang="ko-KR" dirty="0"/>
              <a:t>label </a:t>
            </a:r>
            <a:r>
              <a:rPr lang="ko-KR" altLang="en-US" dirty="0"/>
              <a:t>부여</a:t>
            </a:r>
            <a:endParaRPr lang="en-US" altLang="ko-KR" dirty="0"/>
          </a:p>
          <a:p>
            <a:pPr lvl="2"/>
            <a:r>
              <a:rPr lang="en-US" altLang="ko-KR" dirty="0" err="1"/>
              <a:t>kubectl</a:t>
            </a:r>
            <a:r>
              <a:rPr lang="en-US" altLang="ko-KR" dirty="0"/>
              <a:t> label nodes </a:t>
            </a:r>
            <a:r>
              <a:rPr lang="en-US" altLang="ko-KR" dirty="0" err="1"/>
              <a:t>worker1</a:t>
            </a:r>
            <a:r>
              <a:rPr lang="en-US" altLang="ko-KR" dirty="0"/>
              <a:t> memory=4</a:t>
            </a:r>
          </a:p>
          <a:p>
            <a:pPr lvl="2"/>
            <a:r>
              <a:rPr lang="en-US" altLang="ko-KR" dirty="0" err="1"/>
              <a:t>kubectl</a:t>
            </a:r>
            <a:r>
              <a:rPr lang="en-US" altLang="ko-KR" dirty="0"/>
              <a:t> label nodes </a:t>
            </a:r>
            <a:r>
              <a:rPr lang="en-US" altLang="ko-KR" dirty="0" err="1"/>
              <a:t>worker2</a:t>
            </a:r>
            <a:r>
              <a:rPr lang="en-US" altLang="ko-KR" dirty="0"/>
              <a:t> memory=8</a:t>
            </a:r>
          </a:p>
          <a:p>
            <a:pPr lvl="1"/>
            <a:r>
              <a:rPr lang="en-US" altLang="ko-KR" dirty="0" err="1"/>
              <a:t>affinity1.yaml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55D2D5-3B6B-73B1-1A54-76E0FCD840ED}"/>
              </a:ext>
            </a:extLst>
          </p:cNvPr>
          <p:cNvSpPr txBox="1"/>
          <p:nvPr/>
        </p:nvSpPr>
        <p:spPr>
          <a:xfrm>
            <a:off x="781200" y="2924944"/>
            <a:ext cx="4594720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예제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1 : memory &lt; 6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인 노드에 스케줄링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apiVersion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 apps/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v1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kind: Deployment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metadata: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namespace: default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spec: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replicas: 2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selector: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matchLabels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app: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template: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metadata: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name: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labels: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app: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E23BF1-708F-1D48-479A-BF588FB2DF88}"/>
              </a:ext>
            </a:extLst>
          </p:cNvPr>
          <p:cNvSpPr txBox="1"/>
          <p:nvPr/>
        </p:nvSpPr>
        <p:spPr>
          <a:xfrm>
            <a:off x="5519936" y="2924944"/>
            <a:ext cx="6300700" cy="310854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spec: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affinity: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nodeAffinity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requiredDuringSchedulingIgnoredDuringExecution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nodeSelectorTerms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-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matchExpressions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- key: memory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  operator: Lt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  values: [ "6" ]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containers: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- name: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image: stepanowon/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nodeapp-slim:1.0.0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ports: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-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containerPort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 8080</a:t>
            </a:r>
          </a:p>
        </p:txBody>
      </p:sp>
    </p:spTree>
    <p:extLst>
      <p:ext uri="{BB962C8B-B14F-4D97-AF65-F5344CB8AC3E}">
        <p14:creationId xmlns:p14="http://schemas.microsoft.com/office/powerpoint/2010/main" val="38666649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1119A8-D1BF-8CEA-B31F-FA8A9B180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2.5 affinity, anti-affinity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98E3C1-8937-9527-2543-C1F015A78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 dirty="0"/>
              <a:t>예제 적용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7CDEE7-9B8A-F792-E7CB-3703E2930470}"/>
              </a:ext>
            </a:extLst>
          </p:cNvPr>
          <p:cNvSpPr txBox="1"/>
          <p:nvPr/>
        </p:nvSpPr>
        <p:spPr>
          <a:xfrm>
            <a:off x="875419" y="1484784"/>
            <a:ext cx="11100475" cy="24622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$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apply -f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affinity1.yaml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deployment.apps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/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created</a:t>
            </a:r>
          </a:p>
          <a:p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$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get pods -o wide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NAME                       READY   STATUS    RESTARTS   AGE   IP               NODE      NOMINATED NODE   READINESS GATES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nodeapp-6fd8b884c6-bd8fv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1/1     Running   0          7s    10.244.235.135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worker1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&lt;none&gt;           &lt;none&gt;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nodeapp-6fd8b884c6-dfqkk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1/1     Running   0          7s    10.244.235.136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worker1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&lt;none&gt;           &lt;none&gt;</a:t>
            </a:r>
          </a:p>
          <a:p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테스트 후 종료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$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delete -f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affinity1.yaml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deployment.apps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"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" deleted</a:t>
            </a:r>
          </a:p>
        </p:txBody>
      </p:sp>
    </p:spTree>
    <p:extLst>
      <p:ext uri="{BB962C8B-B14F-4D97-AF65-F5344CB8AC3E}">
        <p14:creationId xmlns:p14="http://schemas.microsoft.com/office/powerpoint/2010/main" val="38044499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679C7F-0C08-E0BA-33FD-013807E09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2.5 affinity, anti-affinity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B9ECD0-DC0B-23A8-8E95-E5043DC2E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2</a:t>
            </a:r>
          </a:p>
          <a:p>
            <a:pPr lvl="1"/>
            <a:r>
              <a:rPr lang="en-US" altLang="ko-KR" dirty="0" err="1"/>
              <a:t>affinity2.yaml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575F6B-4DD0-8B7A-7E2A-E81A22F75950}"/>
              </a:ext>
            </a:extLst>
          </p:cNvPr>
          <p:cNvSpPr txBox="1"/>
          <p:nvPr/>
        </p:nvSpPr>
        <p:spPr>
          <a:xfrm>
            <a:off x="803412" y="1983321"/>
            <a:ext cx="6372708" cy="440120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생략된 부분은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affinity1.yaml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과 동일함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apiVersion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 apps/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v1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kind: Deployment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metadata: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namespace: default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spec: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......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template: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......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spec: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affinity: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nodeAffinity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requiredDuringSchedulingIgnoredDuringExecution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nodeSelectorTerms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-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matchExpressions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          #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조건에 부합하는 노드 없음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- key: memory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  operator: Gt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  values: [ "8" ]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......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A2C49C-CBA2-55E5-AB12-E0C6BFB6D8E7}"/>
              </a:ext>
            </a:extLst>
          </p:cNvPr>
          <p:cNvSpPr txBox="1"/>
          <p:nvPr/>
        </p:nvSpPr>
        <p:spPr>
          <a:xfrm>
            <a:off x="5915980" y="2305615"/>
            <a:ext cx="5832648" cy="224676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$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apply -f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affinity2.yaml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deployment.apps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/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created</a:t>
            </a:r>
          </a:p>
          <a:p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$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get pods -o wide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NAME                       READY   STATUS    ......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nodeapp-69b9c6fd9f-j82f9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0/1    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Pending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......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nodeapp-69b9c6fd9f-zv99k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0/1    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Pending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......</a:t>
            </a:r>
          </a:p>
          <a:p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$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delete -f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affinity2.yaml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deployment.apps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"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" deleted</a:t>
            </a:r>
          </a:p>
        </p:txBody>
      </p:sp>
    </p:spTree>
    <p:extLst>
      <p:ext uri="{BB962C8B-B14F-4D97-AF65-F5344CB8AC3E}">
        <p14:creationId xmlns:p14="http://schemas.microsoft.com/office/powerpoint/2010/main" val="1947769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F81001-C523-A012-68D1-BBD9397B0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2.5 affinity, anti-affinity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A74C0F-8395-C71D-F526-C40313264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3</a:t>
            </a:r>
          </a:p>
          <a:p>
            <a:pPr lvl="1"/>
            <a:r>
              <a:rPr lang="en-US" altLang="ko-KR" dirty="0"/>
              <a:t>node</a:t>
            </a:r>
            <a:r>
              <a:rPr lang="ko-KR" altLang="en-US" dirty="0"/>
              <a:t> 추가 </a:t>
            </a:r>
            <a:r>
              <a:rPr lang="en-US" altLang="ko-KR" dirty="0"/>
              <a:t>: </a:t>
            </a:r>
            <a:r>
              <a:rPr lang="en-US" altLang="ko-KR" dirty="0" err="1"/>
              <a:t>worker3</a:t>
            </a:r>
            <a:endParaRPr lang="en-US" altLang="ko-KR" dirty="0"/>
          </a:p>
          <a:p>
            <a:pPr lvl="2"/>
            <a:r>
              <a:rPr lang="en-US" altLang="ko-KR" dirty="0"/>
              <a:t>master </a:t>
            </a:r>
            <a:r>
              <a:rPr lang="ko-KR" altLang="en-US" dirty="0"/>
              <a:t>에서 다음 명령어를 실행하여 </a:t>
            </a:r>
            <a:r>
              <a:rPr lang="en-US" altLang="ko-KR" dirty="0" err="1"/>
              <a:t>kubeadmin</a:t>
            </a:r>
            <a:r>
              <a:rPr lang="en-US" altLang="ko-KR" dirty="0"/>
              <a:t> join </a:t>
            </a:r>
            <a:r>
              <a:rPr lang="ko-KR" altLang="en-US" dirty="0"/>
              <a:t>명령어 획득</a:t>
            </a:r>
            <a:endParaRPr lang="en-US" altLang="ko-KR" dirty="0"/>
          </a:p>
          <a:p>
            <a:pPr lvl="3"/>
            <a:r>
              <a:rPr lang="en-US" altLang="ko-KR" dirty="0" err="1"/>
              <a:t>kubeadm</a:t>
            </a:r>
            <a:r>
              <a:rPr lang="en-US" altLang="ko-KR" dirty="0"/>
              <a:t> token create --print-join-command </a:t>
            </a:r>
          </a:p>
          <a:p>
            <a:pPr lvl="2"/>
            <a:r>
              <a:rPr lang="ko-KR" altLang="en-US" dirty="0"/>
              <a:t>획득한 명령어를 </a:t>
            </a:r>
            <a:r>
              <a:rPr lang="en-US" altLang="ko-KR" dirty="0" err="1"/>
              <a:t>worker3</a:t>
            </a:r>
            <a:r>
              <a:rPr lang="ko-KR" altLang="en-US" dirty="0"/>
              <a:t>에서 실행하여 </a:t>
            </a:r>
            <a:r>
              <a:rPr lang="en-US" altLang="ko-KR" dirty="0" err="1"/>
              <a:t>k8s</a:t>
            </a:r>
            <a:r>
              <a:rPr lang="en-US" altLang="ko-KR" dirty="0"/>
              <a:t> </a:t>
            </a:r>
            <a:r>
              <a:rPr lang="ko-KR" altLang="en-US" dirty="0"/>
              <a:t>클러스터에 조인</a:t>
            </a:r>
            <a:endParaRPr lang="en-US" altLang="ko-KR" dirty="0"/>
          </a:p>
          <a:p>
            <a:pPr lvl="3"/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en-US" altLang="ko-KR" dirty="0" err="1"/>
              <a:t>kubeadm</a:t>
            </a:r>
            <a:r>
              <a:rPr lang="en-US" altLang="ko-KR" dirty="0"/>
              <a:t> join 192.168.56.201:6443 --token &lt;token&gt; --discovery-token-ca-cert-hash </a:t>
            </a:r>
            <a:r>
              <a:rPr lang="en-US" altLang="ko-KR" dirty="0" err="1"/>
              <a:t>sha256</a:t>
            </a:r>
            <a:r>
              <a:rPr lang="en-US" altLang="ko-KR" dirty="0"/>
              <a:t>:&lt;hash&gt; </a:t>
            </a:r>
          </a:p>
          <a:p>
            <a:pPr lvl="1"/>
            <a:r>
              <a:rPr lang="en-US" altLang="ko-KR" dirty="0"/>
              <a:t>label </a:t>
            </a:r>
            <a:r>
              <a:rPr lang="ko-KR" altLang="en-US" dirty="0"/>
              <a:t>추가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label</a:t>
            </a:r>
            <a:r>
              <a:rPr lang="ko-KR" altLang="en-US" dirty="0"/>
              <a:t> 확인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FCCF1D-57C2-5667-BB62-3EFD973C38AE}"/>
              </a:ext>
            </a:extLst>
          </p:cNvPr>
          <p:cNvSpPr txBox="1"/>
          <p:nvPr/>
        </p:nvSpPr>
        <p:spPr>
          <a:xfrm>
            <a:off x="874810" y="4888902"/>
            <a:ext cx="10324728" cy="160043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$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get nodes -L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env,memory,kubernetes.io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/hostname</a:t>
            </a:r>
          </a:p>
          <a:p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NAME      STATUS   ROLES           AGE    VERSION  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ENV    MEMORY   HOSTNAME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master    Ready    control-plane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125m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v1.30.13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  master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worker1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Ready    &lt;none&gt;      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120m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v1.30.13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4    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worker1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worker2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Ready    &lt;none&gt;      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120m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v1.30.13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test   8    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worker2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worker3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Ready    &lt;none&gt;      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119m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v1.30.13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test        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worker3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067E88-CEDE-AA9C-9E1F-307E700F2D0B}"/>
              </a:ext>
            </a:extLst>
          </p:cNvPr>
          <p:cNvSpPr txBox="1"/>
          <p:nvPr/>
        </p:nvSpPr>
        <p:spPr>
          <a:xfrm>
            <a:off x="874810" y="3501008"/>
            <a:ext cx="10324728" cy="7386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nl-NL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kubectl label nodes worker1 memory=4 --overwrite</a:t>
            </a:r>
          </a:p>
          <a:p>
            <a:r>
              <a:rPr lang="nl-NL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kubectl label nodes worker2 memory=8 env=test --overwrite</a:t>
            </a:r>
          </a:p>
          <a:p>
            <a:r>
              <a:rPr lang="nl-NL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kubectl label nodes worker3 env=test --overwrite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86698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D880BB-3443-543E-C04D-68F5ED865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2.5 affinity, anti-affinity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238FCA-39EB-FBAE-5B31-4729378F4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dirty="0" err="1"/>
              <a:t>affinity3.yaml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32C5D4-78FD-5458-D0AE-27730CA46FC8}"/>
              </a:ext>
            </a:extLst>
          </p:cNvPr>
          <p:cNvSpPr txBox="1"/>
          <p:nvPr/>
        </p:nvSpPr>
        <p:spPr>
          <a:xfrm>
            <a:off x="767408" y="1448780"/>
            <a:ext cx="4788532" cy="461664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apiVersion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 apps/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v1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kind: Deployment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metadata: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namespace: default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spec: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replicas: 4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selector: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matchLabels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app: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template: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metadata: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name: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labels: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app: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spec: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containers: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- name: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image: stepanowon/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nodeapp-slim:1.0.0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ports: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-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containerPort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 8080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B5FF3E-B129-ACDF-2EFD-B0BEDA303FAB}"/>
              </a:ext>
            </a:extLst>
          </p:cNvPr>
          <p:cNvSpPr txBox="1"/>
          <p:nvPr/>
        </p:nvSpPr>
        <p:spPr>
          <a:xfrm>
            <a:off x="5627948" y="1448780"/>
            <a:ext cx="5688632" cy="224676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affinity: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podAntiAffinity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requiredDuringSchedulingIgnoredDuringExecution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-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labelSelector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matchExpressions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- key: app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  operator: In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  values: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  -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topologyKey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 "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kubernetes.io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/hostname"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72FE84-5676-E793-DC9E-F25D962A3F82}"/>
              </a:ext>
            </a:extLst>
          </p:cNvPr>
          <p:cNvSpPr txBox="1"/>
          <p:nvPr/>
        </p:nvSpPr>
        <p:spPr>
          <a:xfrm>
            <a:off x="5670856" y="3983580"/>
            <a:ext cx="631615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** </a:t>
            </a:r>
            <a:r>
              <a:rPr lang="ko-KR" altLang="en-US" sz="1600" dirty="0"/>
              <a:t>강제</a:t>
            </a:r>
            <a:r>
              <a:rPr lang="en-US" altLang="ko-KR" sz="1600" dirty="0"/>
              <a:t>(required~) </a:t>
            </a:r>
            <a:r>
              <a:rPr lang="ko-KR" altLang="en-US" sz="1600" dirty="0"/>
              <a:t>적용 사항</a:t>
            </a:r>
            <a:endParaRPr lang="en-US" altLang="ko-KR" sz="1600" dirty="0"/>
          </a:p>
          <a:p>
            <a:r>
              <a:rPr lang="en-US" altLang="ko-KR" sz="1600" dirty="0"/>
              <a:t>** </a:t>
            </a:r>
            <a:r>
              <a:rPr lang="en-US" altLang="ko-KR" sz="1600" dirty="0" err="1"/>
              <a:t>podAntiAffinty</a:t>
            </a:r>
            <a:r>
              <a:rPr lang="en-US" altLang="ko-KR" sz="1600" dirty="0"/>
              <a:t> </a:t>
            </a:r>
          </a:p>
          <a:p>
            <a:r>
              <a:rPr lang="en-US" altLang="ko-KR" sz="1600" dirty="0"/>
              <a:t>** </a:t>
            </a:r>
            <a:r>
              <a:rPr lang="en-US" altLang="ko-KR" sz="1600" dirty="0" err="1"/>
              <a:t>topologyKey</a:t>
            </a:r>
            <a:r>
              <a:rPr lang="en-US" altLang="ko-KR" sz="1600" dirty="0"/>
              <a:t>: hostname</a:t>
            </a:r>
          </a:p>
          <a:p>
            <a:r>
              <a:rPr lang="en-US" altLang="ko-KR" sz="1600" dirty="0"/>
              <a:t>** </a:t>
            </a:r>
            <a:r>
              <a:rPr lang="ko-KR" altLang="en-US" sz="1600" dirty="0"/>
              <a:t>규칙 </a:t>
            </a:r>
            <a:r>
              <a:rPr lang="en-US" altLang="ko-KR" sz="1600" dirty="0"/>
              <a:t>Y : </a:t>
            </a:r>
            <a:r>
              <a:rPr lang="ko-KR" altLang="en-US" sz="1600" dirty="0"/>
              <a:t>특정 </a:t>
            </a:r>
            <a:r>
              <a:rPr lang="en-US" altLang="ko-KR" sz="1600" dirty="0"/>
              <a:t>node(host)</a:t>
            </a:r>
            <a:r>
              <a:rPr lang="ko-KR" altLang="en-US" sz="1600" dirty="0"/>
              <a:t>에서 이미 </a:t>
            </a:r>
            <a:r>
              <a:rPr lang="en-US" altLang="ko-KR" sz="1600" dirty="0"/>
              <a:t>app=</a:t>
            </a:r>
            <a:r>
              <a:rPr lang="en-US" altLang="ko-KR" sz="1600" dirty="0" err="1"/>
              <a:t>nodeapp</a:t>
            </a:r>
            <a:r>
              <a:rPr lang="en-US" altLang="ko-KR" sz="1600" dirty="0"/>
              <a:t> label</a:t>
            </a:r>
            <a:r>
              <a:rPr lang="ko-KR" altLang="en-US" sz="1600" dirty="0"/>
              <a:t>을 가진</a:t>
            </a:r>
            <a:endParaRPr lang="en-US" altLang="ko-KR" sz="1600" dirty="0"/>
          </a:p>
          <a:p>
            <a:r>
              <a:rPr lang="en-US" altLang="ko-KR" sz="1600" dirty="0"/>
              <a:t>pod</a:t>
            </a:r>
            <a:r>
              <a:rPr lang="ko-KR" altLang="en-US" sz="1600" dirty="0"/>
              <a:t>가 </a:t>
            </a:r>
            <a:r>
              <a:rPr lang="ko-KR" altLang="en-US" sz="1600" dirty="0" err="1"/>
              <a:t>실행중이라면</a:t>
            </a:r>
            <a:r>
              <a:rPr lang="ko-KR" altLang="en-US" sz="1600" dirty="0"/>
              <a:t>  새로운 </a:t>
            </a:r>
            <a:r>
              <a:rPr lang="en-US" altLang="ko-KR" sz="1600" dirty="0"/>
              <a:t>pod</a:t>
            </a:r>
            <a:r>
              <a:rPr lang="ko-KR" altLang="en-US" sz="1600" dirty="0"/>
              <a:t>를 그 </a:t>
            </a:r>
            <a:r>
              <a:rPr lang="en-US" altLang="ko-KR" sz="1600" dirty="0"/>
              <a:t>host</a:t>
            </a:r>
            <a:r>
              <a:rPr lang="ko-KR" altLang="en-US" sz="1600" dirty="0"/>
              <a:t>에 </a:t>
            </a:r>
            <a:r>
              <a:rPr lang="ko-KR" altLang="en-US" sz="1600" dirty="0" err="1"/>
              <a:t>스케줄링할</a:t>
            </a:r>
            <a:r>
              <a:rPr lang="ko-KR" altLang="en-US" sz="1600" dirty="0"/>
              <a:t> 수 없음</a:t>
            </a:r>
            <a:endParaRPr lang="en-US" altLang="ko-KR" sz="1600" dirty="0"/>
          </a:p>
          <a:p>
            <a:r>
              <a:rPr lang="en-US" altLang="ko-KR" sz="1600" dirty="0"/>
              <a:t>**</a:t>
            </a:r>
            <a:r>
              <a:rPr lang="ko-KR" altLang="en-US" sz="1600" dirty="0"/>
              <a:t> 따라서 각 </a:t>
            </a:r>
            <a:r>
              <a:rPr lang="en-US" altLang="ko-KR" sz="1600" dirty="0"/>
              <a:t>host</a:t>
            </a:r>
            <a:r>
              <a:rPr lang="ko-KR" altLang="en-US" sz="1600" dirty="0"/>
              <a:t>마다 </a:t>
            </a:r>
            <a:r>
              <a:rPr lang="en-US" altLang="ko-KR" sz="1600" dirty="0"/>
              <a:t>app=</a:t>
            </a:r>
            <a:r>
              <a:rPr lang="en-US" altLang="ko-KR" sz="1600" dirty="0" err="1"/>
              <a:t>nodeapp</a:t>
            </a:r>
            <a:r>
              <a:rPr lang="en-US" altLang="ko-KR" sz="1600" dirty="0"/>
              <a:t> pod</a:t>
            </a:r>
            <a:r>
              <a:rPr lang="ko-KR" altLang="en-US" sz="1600" dirty="0"/>
              <a:t>가 </a:t>
            </a:r>
            <a:r>
              <a:rPr lang="ko-KR" altLang="en-US" sz="1600" dirty="0" err="1"/>
              <a:t>하나씩만</a:t>
            </a:r>
            <a:r>
              <a:rPr lang="ko-KR" altLang="en-US" sz="1600" dirty="0"/>
              <a:t> 실행</a:t>
            </a:r>
            <a:endParaRPr lang="en-US" altLang="ko-KR" sz="1600" dirty="0"/>
          </a:p>
          <a:p>
            <a:r>
              <a:rPr lang="en-US" altLang="ko-KR" sz="1600" dirty="0"/>
              <a:t>** </a:t>
            </a:r>
            <a:r>
              <a:rPr lang="en-US" altLang="ko-KR" sz="1600" dirty="0" err="1"/>
              <a:t>replicas:4</a:t>
            </a:r>
            <a:r>
              <a:rPr lang="en-US" altLang="ko-KR" sz="1600" dirty="0"/>
              <a:t> </a:t>
            </a:r>
            <a:r>
              <a:rPr lang="ko-KR" altLang="en-US" sz="1600" dirty="0"/>
              <a:t>이므로 </a:t>
            </a:r>
            <a:r>
              <a:rPr lang="en-US" altLang="ko-KR" sz="1600" dirty="0"/>
              <a:t>(node</a:t>
            </a:r>
            <a:r>
              <a:rPr lang="ko-KR" altLang="en-US" sz="1600" dirty="0"/>
              <a:t>가 </a:t>
            </a:r>
            <a:r>
              <a:rPr lang="en-US" altLang="ko-KR" sz="1600" dirty="0"/>
              <a:t>3</a:t>
            </a:r>
            <a:r>
              <a:rPr lang="ko-KR" altLang="en-US" sz="1600" dirty="0" err="1"/>
              <a:t>개일때</a:t>
            </a:r>
            <a:r>
              <a:rPr lang="en-US" altLang="ko-KR" sz="1600" dirty="0"/>
              <a:t>) </a:t>
            </a:r>
            <a:r>
              <a:rPr lang="ko-KR" altLang="en-US" sz="1600" dirty="0"/>
              <a:t>하나의 </a:t>
            </a:r>
            <a:r>
              <a:rPr lang="en-US" altLang="ko-KR" sz="1600" dirty="0"/>
              <a:t>pod</a:t>
            </a:r>
            <a:r>
              <a:rPr lang="ko-KR" altLang="en-US" sz="1600" dirty="0"/>
              <a:t>는 </a:t>
            </a:r>
            <a:r>
              <a:rPr lang="en-US" altLang="ko-KR" sz="1600" dirty="0"/>
              <a:t>pending </a:t>
            </a:r>
          </a:p>
          <a:p>
            <a:r>
              <a:rPr lang="ko-KR" altLang="en-US" sz="1600" dirty="0"/>
              <a:t>상태가 됨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437431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534388-5A6B-A232-C57F-472C0355E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2.5 affinity, anti-affinity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F77C7C-0994-E881-A0F5-2054B7537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 dirty="0"/>
              <a:t>예제 테스트 후 종료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예제</a:t>
            </a:r>
            <a:r>
              <a:rPr lang="en-US" altLang="ko-KR" dirty="0"/>
              <a:t>4 : </a:t>
            </a:r>
            <a:r>
              <a:rPr lang="en-US" altLang="ko-KR" dirty="0" err="1"/>
              <a:t>affinity4.yaml</a:t>
            </a:r>
            <a:endParaRPr lang="en-US" altLang="ko-KR" dirty="0"/>
          </a:p>
          <a:p>
            <a:pPr lvl="1"/>
            <a:r>
              <a:rPr lang="en-US" altLang="ko-KR" dirty="0" err="1"/>
              <a:t>affinity3.yaml</a:t>
            </a:r>
            <a:r>
              <a:rPr lang="ko-KR" altLang="en-US" dirty="0"/>
              <a:t>에서 </a:t>
            </a:r>
            <a:r>
              <a:rPr lang="en-US" altLang="ko-KR" dirty="0" err="1"/>
              <a:t>podAntiAffinity</a:t>
            </a:r>
            <a:r>
              <a:rPr lang="ko-KR" altLang="en-US" dirty="0"/>
              <a:t>를 </a:t>
            </a:r>
            <a:r>
              <a:rPr lang="en-US" altLang="ko-KR" dirty="0" err="1"/>
              <a:t>podAffinity</a:t>
            </a:r>
            <a:r>
              <a:rPr lang="ko-KR" altLang="en-US" dirty="0"/>
              <a:t>로 변경한다면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모두 한 노드에 </a:t>
            </a:r>
            <a:r>
              <a:rPr lang="en-US" altLang="ko-KR" dirty="0"/>
              <a:t>pod</a:t>
            </a:r>
            <a:r>
              <a:rPr lang="ko-KR" altLang="en-US" dirty="0"/>
              <a:t>가 생성됨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6492A8-64A0-12E8-916B-903D78357A3F}"/>
              </a:ext>
            </a:extLst>
          </p:cNvPr>
          <p:cNvSpPr txBox="1"/>
          <p:nvPr/>
        </p:nvSpPr>
        <p:spPr>
          <a:xfrm>
            <a:off x="767407" y="1448780"/>
            <a:ext cx="11208487" cy="28931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$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apply -f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affinity3.yaml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deployment.apps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/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created</a:t>
            </a:r>
          </a:p>
          <a:p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$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get pods -o wide</a:t>
            </a:r>
          </a:p>
          <a:p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NAME                      READY   STATUS    RESTARTS   AGE   IP               NODE      NOMINATED NODE   READINESS GATES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nodeapp-599bd6fc9-fd6rc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0/1    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Pending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0          4s    &lt;none&gt;          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&lt;none&gt;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&lt;none&gt;           &lt;none&gt;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nodeapp-599bd6fc9-njmjs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1/1     Running   0          4s    10.244.235.138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worker1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&lt;none&gt;           &lt;none&gt;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nodeapp-599bd6fc9-pw96x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1/1     Running   0          4s    10.244.182.30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worker3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&lt;none&gt;           &lt;none&gt;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nodeapp-599bd6fc9-qnkng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1/1     Running   0          4s    10.244.189.71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worker2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&lt;none&gt;           &lt;none&gt;</a:t>
            </a:r>
          </a:p>
          <a:p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$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delete -f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affinity3.yaml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deployment.apps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"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" deleted</a:t>
            </a:r>
          </a:p>
        </p:txBody>
      </p:sp>
    </p:spTree>
    <p:extLst>
      <p:ext uri="{BB962C8B-B14F-4D97-AF65-F5344CB8AC3E}">
        <p14:creationId xmlns:p14="http://schemas.microsoft.com/office/powerpoint/2010/main" val="30523516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5620C9-287B-7E13-7C09-78B971F01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2.5 affinity, anti-affinity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4344C0-9A48-EB47-A8D0-2E7845E9A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5 : </a:t>
            </a:r>
            <a:r>
              <a:rPr lang="ko-KR" altLang="en-US" dirty="0"/>
              <a:t> </a:t>
            </a:r>
            <a:r>
              <a:rPr lang="en-US" altLang="ko-KR" dirty="0"/>
              <a:t>affinity5.yaml</a:t>
            </a:r>
          </a:p>
          <a:p>
            <a:pPr lvl="1"/>
            <a:r>
              <a:rPr lang="en-US" altLang="ko-KR" dirty="0" err="1"/>
              <a:t>nodeAffinity</a:t>
            </a:r>
            <a:r>
              <a:rPr lang="ko-KR" altLang="en-US" dirty="0"/>
              <a:t>와 </a:t>
            </a:r>
            <a:r>
              <a:rPr lang="en-US" altLang="ko-KR" dirty="0" err="1"/>
              <a:t>podAntiAffinity</a:t>
            </a:r>
            <a:r>
              <a:rPr lang="ko-KR" altLang="en-US" dirty="0"/>
              <a:t>의 조합</a:t>
            </a:r>
            <a:endParaRPr lang="en-US" altLang="ko-KR" dirty="0"/>
          </a:p>
          <a:p>
            <a:pPr lvl="2"/>
            <a:r>
              <a:rPr lang="en-US" altLang="ko-KR" dirty="0"/>
              <a:t>AND </a:t>
            </a:r>
            <a:r>
              <a:rPr lang="ko-KR" altLang="en-US" dirty="0"/>
              <a:t>조합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64770A-9119-2876-8E9F-D87DC0675438}"/>
              </a:ext>
            </a:extLst>
          </p:cNvPr>
          <p:cNvSpPr txBox="1"/>
          <p:nvPr/>
        </p:nvSpPr>
        <p:spPr>
          <a:xfrm>
            <a:off x="659397" y="2204864"/>
            <a:ext cx="5652628" cy="418576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......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affinity: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nodeAffinity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requiredDuringSchedulingIgnoredDuringExecution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nodeSelectorTerms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-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matchExpressions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- key: env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  operator: In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  values: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  - test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podAntiAffinity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requiredDuringSchedulingIgnoredDuringExecution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-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labelSelector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matchExpressions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- key: app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  operator: In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  values: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  -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topologyKey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 "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kubernetes.io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/hostname"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1BA5AD-C68E-C5CB-1EFB-DDAC69D9EB47}"/>
              </a:ext>
            </a:extLst>
          </p:cNvPr>
          <p:cNvSpPr txBox="1"/>
          <p:nvPr/>
        </p:nvSpPr>
        <p:spPr>
          <a:xfrm>
            <a:off x="6600056" y="2348880"/>
            <a:ext cx="475144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en-US" altLang="ko-KR" dirty="0" err="1"/>
              <a:t>nodeAffinity</a:t>
            </a:r>
            <a:r>
              <a:rPr lang="ko-KR" altLang="en-US" dirty="0"/>
              <a:t> 에 의해서 </a:t>
            </a:r>
            <a:r>
              <a:rPr lang="en-US" altLang="ko-KR" dirty="0"/>
              <a:t>env=test label</a:t>
            </a:r>
            <a:r>
              <a:rPr lang="ko-KR" altLang="en-US" dirty="0"/>
              <a:t>을 </a:t>
            </a:r>
            <a:endParaRPr lang="en-US" altLang="ko-KR" dirty="0"/>
          </a:p>
          <a:p>
            <a:r>
              <a:rPr lang="ko-KR" altLang="en-US" dirty="0"/>
              <a:t>가진 노드에만 스케줄링됨</a:t>
            </a:r>
            <a:endParaRPr lang="en-US" altLang="ko-KR" dirty="0"/>
          </a:p>
          <a:p>
            <a:r>
              <a:rPr lang="en-US" altLang="ko-KR" dirty="0"/>
              <a:t>   --&gt; </a:t>
            </a:r>
            <a:r>
              <a:rPr lang="en-US" altLang="ko-KR" dirty="0" err="1"/>
              <a:t>worker2</a:t>
            </a:r>
            <a:r>
              <a:rPr lang="en-US" altLang="ko-KR" dirty="0"/>
              <a:t>, </a:t>
            </a:r>
            <a:r>
              <a:rPr lang="en-US" altLang="ko-KR" dirty="0" err="1"/>
              <a:t>worker3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                      **AND**</a:t>
            </a:r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en-US" altLang="ko-KR" dirty="0" err="1"/>
              <a:t>podAntiAffinity</a:t>
            </a:r>
            <a:r>
              <a:rPr lang="en-US" altLang="ko-KR" dirty="0"/>
              <a:t> </a:t>
            </a:r>
            <a:r>
              <a:rPr lang="ko-KR" altLang="en-US" dirty="0"/>
              <a:t>에 의해 각 노드당 </a:t>
            </a:r>
            <a:r>
              <a:rPr lang="en-US" altLang="ko-KR" dirty="0"/>
              <a:t>app=</a:t>
            </a:r>
            <a:r>
              <a:rPr lang="en-US" altLang="ko-KR" dirty="0" err="1"/>
              <a:t>nodeapp</a:t>
            </a:r>
            <a:r>
              <a:rPr lang="en-US" altLang="ko-KR" dirty="0"/>
              <a:t> label</a:t>
            </a:r>
            <a:r>
              <a:rPr lang="ko-KR" altLang="en-US" dirty="0"/>
              <a:t>이 있는 </a:t>
            </a:r>
            <a:r>
              <a:rPr lang="en-US" altLang="ko-KR" dirty="0"/>
              <a:t>pod </a:t>
            </a:r>
            <a:r>
              <a:rPr lang="ko-KR" altLang="en-US" dirty="0"/>
              <a:t>하나씩 스케줄링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==&gt;  2</a:t>
            </a:r>
            <a:r>
              <a:rPr lang="ko-KR" altLang="en-US" dirty="0"/>
              <a:t>개의 </a:t>
            </a:r>
            <a:r>
              <a:rPr lang="en-US" altLang="ko-KR" dirty="0"/>
              <a:t>pod pending</a:t>
            </a:r>
          </a:p>
        </p:txBody>
      </p:sp>
    </p:spTree>
    <p:extLst>
      <p:ext uri="{BB962C8B-B14F-4D97-AF65-F5344CB8AC3E}">
        <p14:creationId xmlns:p14="http://schemas.microsoft.com/office/powerpoint/2010/main" val="7586717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D971D2-4E70-C89A-7EF7-5EC92CCD3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2.5 affinity, anti-affinity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FD908A-5A1F-D236-7201-BC4C8D166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주의 사항</a:t>
            </a:r>
            <a:endParaRPr lang="en-US" altLang="ko-KR" dirty="0"/>
          </a:p>
          <a:p>
            <a:pPr lvl="1"/>
            <a:r>
              <a:rPr lang="en-US" altLang="ko-KR" dirty="0" err="1">
                <a:solidFill>
                  <a:srgbClr val="000000"/>
                </a:solidFill>
                <a:latin typeface="open sans" panose="020B0606030504020204" pitchFamily="34" charset="0"/>
              </a:rPr>
              <a:t>pod</a:t>
            </a:r>
            <a:r>
              <a:rPr lang="en-US" altLang="ko-KR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Affinity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와 </a:t>
            </a:r>
            <a:r>
              <a:rPr lang="en-US" altLang="ko-KR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podAntiAffinity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는 상당한 양의 프로세싱을 필요로 하기 때문에 대규모 클러스터에서는 스케줄링 속도가 크게 느려질 수 있음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 </a:t>
            </a:r>
          </a:p>
          <a:p>
            <a:pPr lvl="2"/>
            <a:r>
              <a:rPr lang="ko-KR" altLang="en-US" dirty="0">
                <a:solidFill>
                  <a:srgbClr val="000000"/>
                </a:solidFill>
                <a:latin typeface="open sans" panose="020B0606030504020204" pitchFamily="34" charset="0"/>
              </a:rPr>
              <a:t>따라서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수백 개의 노드를 사용하는 대규모 클러스터에서는 추천하지 않음</a:t>
            </a:r>
            <a:endParaRPr lang="en-US" altLang="ko-KR" b="0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  <a:p>
            <a:pPr lvl="1"/>
            <a:r>
              <a:rPr lang="en-US" altLang="ko-KR" dirty="0" err="1"/>
              <a:t>podAntiAffinity</a:t>
            </a:r>
            <a:r>
              <a:rPr lang="ko-KR" altLang="en-US" dirty="0"/>
              <a:t>를 사용할 때는</a:t>
            </a:r>
            <a:r>
              <a:rPr lang="en-US" altLang="ko-KR" dirty="0"/>
              <a:t> </a:t>
            </a:r>
            <a:r>
              <a:rPr lang="ko-KR" altLang="en-US" dirty="0"/>
              <a:t>노드에 일관된 레이블을 지정해야 함</a:t>
            </a:r>
            <a:endParaRPr lang="en-US" altLang="ko-KR" dirty="0"/>
          </a:p>
          <a:p>
            <a:pPr lvl="2"/>
            <a:r>
              <a:rPr lang="ko-KR" altLang="en-US" dirty="0"/>
              <a:t>모든 노드는 </a:t>
            </a:r>
            <a:r>
              <a:rPr lang="en-US" altLang="ko-KR" dirty="0" err="1"/>
              <a:t>topologyKey</a:t>
            </a:r>
            <a:r>
              <a:rPr lang="en-US" altLang="ko-KR" dirty="0"/>
              <a:t> </a:t>
            </a:r>
            <a:r>
              <a:rPr lang="ko-KR" altLang="en-US" dirty="0"/>
              <a:t>와 매칭되는 적절한 레이블을 가지고 있어야 함</a:t>
            </a:r>
            <a:endParaRPr lang="en-US" altLang="ko-KR" dirty="0"/>
          </a:p>
          <a:p>
            <a:pPr lvl="2"/>
            <a:r>
              <a:rPr lang="ko-KR" altLang="en-US" dirty="0"/>
              <a:t>일부 노드에만 지정된 </a:t>
            </a:r>
            <a:r>
              <a:rPr lang="en-US" altLang="ko-KR" dirty="0" err="1"/>
              <a:t>topologyKey</a:t>
            </a:r>
            <a:r>
              <a:rPr lang="en-US" altLang="ko-KR" dirty="0"/>
              <a:t> </a:t>
            </a:r>
            <a:r>
              <a:rPr lang="ko-KR" altLang="en-US" dirty="0"/>
              <a:t>레이블이 있는 경우에는 의도하지 않은 동작이 발생할 수 있음</a:t>
            </a:r>
            <a:r>
              <a:rPr lang="en-US" altLang="ko-KR" dirty="0"/>
              <a:t> </a:t>
            </a:r>
          </a:p>
          <a:p>
            <a:pPr lvl="2"/>
            <a:endParaRPr lang="en-US" altLang="ko-KR" dirty="0"/>
          </a:p>
          <a:p>
            <a:r>
              <a:rPr lang="ko-KR" altLang="en-US" dirty="0"/>
              <a:t>레이블 제거</a:t>
            </a:r>
            <a:endParaRPr lang="en-US" altLang="ko-KR" dirty="0"/>
          </a:p>
          <a:p>
            <a:pPr lvl="1"/>
            <a:r>
              <a:rPr lang="en-US" altLang="ko-KR" dirty="0" err="1"/>
              <a:t>kubectl</a:t>
            </a:r>
            <a:r>
              <a:rPr lang="en-US" altLang="ko-KR" dirty="0"/>
              <a:t> label nodes </a:t>
            </a:r>
            <a:r>
              <a:rPr lang="en-US" altLang="ko-KR" dirty="0" err="1"/>
              <a:t>worker1</a:t>
            </a:r>
            <a:r>
              <a:rPr lang="en-US" altLang="ko-KR" dirty="0"/>
              <a:t> memory-</a:t>
            </a:r>
          </a:p>
          <a:p>
            <a:pPr lvl="1"/>
            <a:r>
              <a:rPr lang="en-US" altLang="ko-KR" dirty="0" err="1"/>
              <a:t>kubectl</a:t>
            </a:r>
            <a:r>
              <a:rPr lang="en-US" altLang="ko-KR" dirty="0"/>
              <a:t> label nodes </a:t>
            </a:r>
            <a:r>
              <a:rPr lang="en-US" altLang="ko-KR" dirty="0" err="1"/>
              <a:t>worker2</a:t>
            </a:r>
            <a:r>
              <a:rPr lang="en-US" altLang="ko-KR" dirty="0"/>
              <a:t> memory- env-</a:t>
            </a:r>
          </a:p>
          <a:p>
            <a:pPr lvl="1"/>
            <a:r>
              <a:rPr lang="en-US" altLang="ko-KR" dirty="0" err="1"/>
              <a:t>kubectl</a:t>
            </a:r>
            <a:r>
              <a:rPr lang="en-US" altLang="ko-KR" dirty="0"/>
              <a:t> label nodes </a:t>
            </a:r>
            <a:r>
              <a:rPr lang="en-US" altLang="ko-KR" dirty="0" err="1"/>
              <a:t>worker3</a:t>
            </a:r>
            <a:r>
              <a:rPr lang="en-US" altLang="ko-KR" dirty="0"/>
              <a:t> env-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28767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2D67F-7738-EEEC-C076-44B902052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2.6 taints,</a:t>
            </a:r>
            <a:r>
              <a:rPr lang="ko-KR" altLang="en-US" dirty="0"/>
              <a:t> </a:t>
            </a:r>
            <a:r>
              <a:rPr lang="en-US" altLang="ko-KR" dirty="0"/>
              <a:t>tolerations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C4C7F4-85D5-5528-6CD6-1387543B5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taints</a:t>
            </a:r>
            <a:r>
              <a:rPr lang="ko-KR" altLang="en-US" dirty="0"/>
              <a:t>와 </a:t>
            </a:r>
            <a:r>
              <a:rPr lang="en-US" altLang="ko-KR" dirty="0"/>
              <a:t>tolerations</a:t>
            </a:r>
          </a:p>
          <a:p>
            <a:pPr lvl="1"/>
            <a:r>
              <a:rPr lang="en-US" altLang="ko-KR" dirty="0"/>
              <a:t>taints</a:t>
            </a:r>
          </a:p>
          <a:p>
            <a:pPr lvl="2"/>
            <a:r>
              <a:rPr lang="en-US" altLang="ko-KR" dirty="0"/>
              <a:t>Node</a:t>
            </a:r>
            <a:r>
              <a:rPr lang="ko-KR" altLang="en-US" dirty="0"/>
              <a:t>에 부여하는 오염</a:t>
            </a:r>
            <a:r>
              <a:rPr lang="en-US" altLang="ko-KR" dirty="0"/>
              <a:t>,</a:t>
            </a:r>
            <a:r>
              <a:rPr lang="ko-KR" altLang="en-US" dirty="0"/>
              <a:t>얼룩</a:t>
            </a:r>
            <a:r>
              <a:rPr lang="en-US" altLang="ko-KR" dirty="0"/>
              <a:t>(taint). taint</a:t>
            </a:r>
            <a:r>
              <a:rPr lang="ko-KR" altLang="en-US" dirty="0"/>
              <a:t>가 부여된 </a:t>
            </a:r>
            <a:r>
              <a:rPr lang="en-US" altLang="ko-KR" dirty="0"/>
              <a:t>Node</a:t>
            </a:r>
            <a:r>
              <a:rPr lang="ko-KR" altLang="en-US" dirty="0"/>
              <a:t>에는</a:t>
            </a:r>
            <a:r>
              <a:rPr lang="en-US" altLang="ko-KR" dirty="0"/>
              <a:t>(</a:t>
            </a:r>
            <a:r>
              <a:rPr lang="ko-KR" altLang="en-US" dirty="0"/>
              <a:t>얼룩이 묻었으므로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Pod</a:t>
            </a:r>
            <a:r>
              <a:rPr lang="ko-KR" altLang="en-US" dirty="0"/>
              <a:t>가 </a:t>
            </a:r>
            <a:r>
              <a:rPr lang="ko-KR" altLang="en-US" dirty="0" err="1"/>
              <a:t>스케줄링되지</a:t>
            </a:r>
            <a:r>
              <a:rPr lang="ko-KR" altLang="en-US" dirty="0"/>
              <a:t> 않음</a:t>
            </a:r>
            <a:endParaRPr lang="en-US" altLang="ko-KR" dirty="0"/>
          </a:p>
          <a:p>
            <a:pPr lvl="1"/>
            <a:r>
              <a:rPr lang="en-US" altLang="ko-KR" dirty="0"/>
              <a:t>tolerations</a:t>
            </a:r>
          </a:p>
          <a:p>
            <a:pPr lvl="2"/>
            <a:r>
              <a:rPr lang="en-US" altLang="ko-KR" dirty="0"/>
              <a:t>Pod</a:t>
            </a:r>
            <a:r>
              <a:rPr lang="ko-KR" altLang="en-US" dirty="0"/>
              <a:t>에 부여하는 속성</a:t>
            </a:r>
            <a:r>
              <a:rPr lang="en-US" altLang="ko-KR" dirty="0"/>
              <a:t>. toleration</a:t>
            </a:r>
            <a:r>
              <a:rPr lang="ko-KR" altLang="en-US" dirty="0"/>
              <a:t>이 지정된 </a:t>
            </a:r>
            <a:r>
              <a:rPr lang="en-US" altLang="ko-KR" dirty="0"/>
              <a:t>Pod</a:t>
            </a:r>
            <a:r>
              <a:rPr lang="ko-KR" altLang="en-US" dirty="0"/>
              <a:t>는 </a:t>
            </a:r>
            <a:r>
              <a:rPr lang="en-US" altLang="ko-KR" dirty="0"/>
              <a:t>taint</a:t>
            </a:r>
            <a:r>
              <a:rPr lang="ko-KR" altLang="en-US" dirty="0"/>
              <a:t>가 부여된 노드에 스케줄링을 허용할 수 있음</a:t>
            </a:r>
            <a:endParaRPr lang="en-US" altLang="ko-KR" dirty="0"/>
          </a:p>
          <a:p>
            <a:pPr lvl="2"/>
            <a:r>
              <a:rPr lang="en-US" altLang="ko-KR" dirty="0"/>
              <a:t>"</a:t>
            </a:r>
            <a:r>
              <a:rPr lang="ko-KR" altLang="en-US" dirty="0"/>
              <a:t>오염되었지만 그걸 참고 </a:t>
            </a:r>
            <a:r>
              <a:rPr lang="ko-KR" altLang="en-US" dirty="0" err="1"/>
              <a:t>스케줄링하겠어</a:t>
            </a:r>
            <a:r>
              <a:rPr lang="en-US" altLang="ko-KR" dirty="0"/>
              <a:t>!"</a:t>
            </a:r>
          </a:p>
          <a:p>
            <a:r>
              <a:rPr lang="en-US" altLang="ko-KR" dirty="0"/>
              <a:t>taint </a:t>
            </a:r>
            <a:r>
              <a:rPr lang="ko-KR" altLang="en-US" dirty="0"/>
              <a:t>지정</a:t>
            </a:r>
            <a:r>
              <a:rPr lang="en-US" altLang="ko-KR" dirty="0"/>
              <a:t>/</a:t>
            </a:r>
            <a:r>
              <a:rPr lang="ko-KR" altLang="en-US" dirty="0"/>
              <a:t>해제</a:t>
            </a:r>
            <a:endParaRPr lang="en-US" altLang="ko-KR" dirty="0"/>
          </a:p>
          <a:p>
            <a:pPr lvl="1"/>
            <a:r>
              <a:rPr lang="ko-KR" altLang="en-US" dirty="0"/>
              <a:t>지정 </a:t>
            </a:r>
            <a:r>
              <a:rPr lang="en-US" altLang="ko-KR" dirty="0"/>
              <a:t>: </a:t>
            </a:r>
            <a:r>
              <a:rPr lang="en-US" altLang="ko-KR" dirty="0" err="1"/>
              <a:t>kubectl</a:t>
            </a:r>
            <a:r>
              <a:rPr lang="ko-KR" altLang="en-US" dirty="0"/>
              <a:t> </a:t>
            </a:r>
            <a:r>
              <a:rPr lang="en-US" altLang="ko-KR" dirty="0"/>
              <a:t>taint</a:t>
            </a:r>
            <a:r>
              <a:rPr lang="ko-KR" altLang="en-US" dirty="0"/>
              <a:t> </a:t>
            </a:r>
            <a:r>
              <a:rPr lang="en-US" altLang="ko-KR" dirty="0"/>
              <a:t>node</a:t>
            </a:r>
            <a:r>
              <a:rPr lang="ko-KR" altLang="en-US" dirty="0"/>
              <a:t> </a:t>
            </a:r>
            <a:r>
              <a:rPr lang="ko-KR" altLang="en-US" dirty="0" err="1"/>
              <a:t>노드명</a:t>
            </a:r>
            <a:r>
              <a:rPr lang="ko-KR" altLang="en-US" dirty="0"/>
              <a:t> 키</a:t>
            </a:r>
            <a:r>
              <a:rPr lang="en-US" altLang="ko-KR" dirty="0"/>
              <a:t>=</a:t>
            </a:r>
            <a:r>
              <a:rPr lang="ko-KR" altLang="en-US" dirty="0"/>
              <a:t>값</a:t>
            </a:r>
            <a:r>
              <a:rPr lang="en-US" altLang="ko-KR" dirty="0"/>
              <a:t>:</a:t>
            </a:r>
            <a:r>
              <a:rPr lang="ko-KR" altLang="en-US" dirty="0"/>
              <a:t>이펙트</a:t>
            </a:r>
            <a:endParaRPr lang="en-US" altLang="ko-KR" dirty="0"/>
          </a:p>
          <a:p>
            <a:pPr lvl="2"/>
            <a:r>
              <a:rPr lang="ko-KR" altLang="en-US" dirty="0"/>
              <a:t>예시</a:t>
            </a:r>
            <a:r>
              <a:rPr lang="en-US" altLang="ko-KR" dirty="0"/>
              <a:t>) </a:t>
            </a:r>
            <a:r>
              <a:rPr lang="en-US" altLang="ko-KR" dirty="0" err="1"/>
              <a:t>kubectl</a:t>
            </a:r>
            <a:r>
              <a:rPr lang="en-US" altLang="ko-KR" dirty="0"/>
              <a:t> taint node </a:t>
            </a:r>
            <a:r>
              <a:rPr lang="en-US" altLang="ko-KR" dirty="0" err="1"/>
              <a:t>worker1</a:t>
            </a:r>
            <a:r>
              <a:rPr lang="en-US" altLang="ko-KR" dirty="0"/>
              <a:t>  </a:t>
            </a:r>
            <a:r>
              <a:rPr lang="en-US" altLang="ko-KR" dirty="0" err="1"/>
              <a:t>key1</a:t>
            </a:r>
            <a:r>
              <a:rPr lang="en-US" altLang="ko-KR" dirty="0"/>
              <a:t>=</a:t>
            </a:r>
            <a:r>
              <a:rPr lang="en-US" altLang="ko-KR" dirty="0" err="1"/>
              <a:t>value1:NoSchedule</a:t>
            </a:r>
            <a:endParaRPr lang="en-US" altLang="ko-KR" dirty="0"/>
          </a:p>
          <a:p>
            <a:pPr lvl="1"/>
            <a:r>
              <a:rPr lang="ko-KR" altLang="en-US" dirty="0"/>
              <a:t>해제 </a:t>
            </a:r>
            <a:r>
              <a:rPr lang="en-US" altLang="ko-KR" dirty="0"/>
              <a:t>: </a:t>
            </a:r>
            <a:r>
              <a:rPr lang="en-US" altLang="ko-KR" dirty="0" err="1"/>
              <a:t>kubectl</a:t>
            </a:r>
            <a:r>
              <a:rPr lang="en-US" altLang="ko-KR" dirty="0"/>
              <a:t> taint node </a:t>
            </a:r>
            <a:r>
              <a:rPr lang="ko-KR" altLang="en-US" dirty="0" err="1"/>
              <a:t>노드명</a:t>
            </a:r>
            <a:r>
              <a:rPr lang="ko-KR" altLang="en-US" dirty="0"/>
              <a:t> 키</a:t>
            </a:r>
            <a:r>
              <a:rPr lang="en-US" altLang="ko-KR" dirty="0"/>
              <a:t>=</a:t>
            </a:r>
            <a:r>
              <a:rPr lang="ko-KR" altLang="en-US" dirty="0"/>
              <a:t>값</a:t>
            </a:r>
            <a:r>
              <a:rPr lang="en-US" altLang="ko-KR" dirty="0"/>
              <a:t>:</a:t>
            </a:r>
            <a:r>
              <a:rPr lang="ko-KR" altLang="en-US" dirty="0"/>
              <a:t>이펙트</a:t>
            </a:r>
            <a:r>
              <a:rPr lang="en-US" altLang="ko-KR" dirty="0"/>
              <a:t>-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이펙트</a:t>
            </a:r>
            <a:r>
              <a:rPr lang="en-US" altLang="ko-KR" dirty="0"/>
              <a:t>(Effect)</a:t>
            </a:r>
          </a:p>
          <a:p>
            <a:pPr lvl="2"/>
            <a:r>
              <a:rPr lang="en-US" altLang="ko-KR" dirty="0" err="1"/>
              <a:t>NoSchedule</a:t>
            </a:r>
            <a:r>
              <a:rPr lang="en-US" altLang="ko-KR" dirty="0"/>
              <a:t> : toleration</a:t>
            </a:r>
            <a:r>
              <a:rPr lang="ko-KR" altLang="en-US" dirty="0"/>
              <a:t> 이 지정된 경우에만 스케줄링 허용</a:t>
            </a:r>
            <a:r>
              <a:rPr lang="en-US" altLang="ko-KR" dirty="0"/>
              <a:t>. </a:t>
            </a:r>
            <a:r>
              <a:rPr lang="ko-KR" altLang="en-US" dirty="0"/>
              <a:t>기존 </a:t>
            </a:r>
            <a:r>
              <a:rPr lang="en-US" altLang="ko-KR" dirty="0"/>
              <a:t>Pod</a:t>
            </a:r>
            <a:r>
              <a:rPr lang="ko-KR" altLang="en-US" dirty="0"/>
              <a:t>는 계속해서 실행됨</a:t>
            </a:r>
            <a:endParaRPr lang="en-US" altLang="ko-KR" dirty="0"/>
          </a:p>
          <a:p>
            <a:pPr lvl="2"/>
            <a:r>
              <a:rPr lang="en-US" altLang="ko-KR" dirty="0" err="1"/>
              <a:t>PereferNoSchedule</a:t>
            </a:r>
            <a:r>
              <a:rPr lang="en-US" altLang="ko-KR" dirty="0"/>
              <a:t>: </a:t>
            </a:r>
            <a:r>
              <a:rPr lang="ko-KR" altLang="en-US" dirty="0"/>
              <a:t>가능하면 </a:t>
            </a:r>
            <a:r>
              <a:rPr lang="ko-KR" altLang="en-US" dirty="0" err="1"/>
              <a:t>스케줄링하지</a:t>
            </a:r>
            <a:r>
              <a:rPr lang="ko-KR" altLang="en-US" dirty="0"/>
              <a:t> 않음</a:t>
            </a:r>
            <a:r>
              <a:rPr lang="en-US" altLang="ko-KR" dirty="0"/>
              <a:t>. </a:t>
            </a:r>
            <a:r>
              <a:rPr lang="ko-KR" altLang="en-US" dirty="0"/>
              <a:t>필수가 아니므로 </a:t>
            </a:r>
            <a:r>
              <a:rPr lang="en-US" altLang="ko-KR" dirty="0"/>
              <a:t>toleration</a:t>
            </a:r>
            <a:r>
              <a:rPr lang="ko-KR" altLang="en-US" dirty="0"/>
              <a:t>이 지정되지 않은 경우에도 스케줄링 될 수 있음</a:t>
            </a:r>
            <a:endParaRPr lang="en-US" altLang="ko-KR" dirty="0"/>
          </a:p>
          <a:p>
            <a:pPr lvl="2"/>
            <a:r>
              <a:rPr lang="en-US" altLang="ko-KR" dirty="0" err="1"/>
              <a:t>NoExecute</a:t>
            </a:r>
            <a:r>
              <a:rPr lang="en-US" altLang="ko-KR" dirty="0"/>
              <a:t> : </a:t>
            </a:r>
            <a:r>
              <a:rPr lang="en-US" altLang="ko-KR" dirty="0" err="1"/>
              <a:t>NoSchedule</a:t>
            </a:r>
            <a:r>
              <a:rPr lang="en-US" altLang="ko-KR" dirty="0"/>
              <a:t> </a:t>
            </a:r>
            <a:r>
              <a:rPr lang="ko-KR" altLang="en-US" dirty="0"/>
              <a:t>기능 </a:t>
            </a:r>
            <a:r>
              <a:rPr lang="en-US" altLang="ko-KR" dirty="0"/>
              <a:t>+ </a:t>
            </a:r>
            <a:r>
              <a:rPr lang="ko-KR" altLang="en-US" dirty="0"/>
              <a:t>기존 </a:t>
            </a:r>
            <a:r>
              <a:rPr lang="en-US" altLang="ko-KR" dirty="0"/>
              <a:t>Pod</a:t>
            </a:r>
            <a:r>
              <a:rPr lang="ko-KR" altLang="en-US" dirty="0"/>
              <a:t>도 </a:t>
            </a:r>
            <a:r>
              <a:rPr lang="en-US" altLang="ko-KR" dirty="0"/>
              <a:t>toleration</a:t>
            </a:r>
            <a:r>
              <a:rPr lang="ko-KR" altLang="en-US" dirty="0"/>
              <a:t> 이 없다면 </a:t>
            </a:r>
            <a:r>
              <a:rPr lang="en-US" altLang="ko-KR" dirty="0"/>
              <a:t>Pod</a:t>
            </a:r>
            <a:r>
              <a:rPr lang="ko-KR" altLang="en-US" dirty="0"/>
              <a:t>는 제거됨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39788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8DE35-00F4-7C33-D712-79B603851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2.6 taints,</a:t>
            </a:r>
            <a:r>
              <a:rPr lang="ko-KR" altLang="en-US" dirty="0"/>
              <a:t> </a:t>
            </a:r>
            <a:r>
              <a:rPr lang="en-US" altLang="ko-KR" dirty="0"/>
              <a:t>tolerations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007E90-3421-4E4F-4C33-174687791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endParaRPr lang="en-US" altLang="ko-KR" dirty="0"/>
          </a:p>
          <a:p>
            <a:pPr lvl="1"/>
            <a:r>
              <a:rPr lang="en-US" altLang="ko-KR" dirty="0"/>
              <a:t>taint </a:t>
            </a:r>
            <a:r>
              <a:rPr lang="ko-KR" altLang="en-US" dirty="0"/>
              <a:t>부여 </a:t>
            </a:r>
            <a:r>
              <a:rPr lang="en-US" altLang="ko-KR" dirty="0"/>
              <a:t>: </a:t>
            </a:r>
            <a:r>
              <a:rPr lang="en-US" altLang="ko-KR" dirty="0" err="1"/>
              <a:t>worker3</a:t>
            </a:r>
            <a:r>
              <a:rPr lang="ko-KR" altLang="en-US" dirty="0"/>
              <a:t>에는 </a:t>
            </a:r>
            <a:r>
              <a:rPr lang="en-US" altLang="ko-KR" dirty="0"/>
              <a:t>taint </a:t>
            </a:r>
            <a:r>
              <a:rPr lang="ko-KR" altLang="en-US" dirty="0"/>
              <a:t>부여하지 않음</a:t>
            </a:r>
            <a:endParaRPr lang="en-US" altLang="ko-KR" dirty="0"/>
          </a:p>
          <a:p>
            <a:pPr lvl="2"/>
            <a:r>
              <a:rPr lang="en-US" altLang="ko-KR" dirty="0" err="1"/>
              <a:t>kubectl</a:t>
            </a:r>
            <a:r>
              <a:rPr lang="en-US" altLang="ko-KR" dirty="0"/>
              <a:t> taint node </a:t>
            </a:r>
            <a:r>
              <a:rPr lang="en-US" altLang="ko-KR" dirty="0" err="1"/>
              <a:t>worker1</a:t>
            </a:r>
            <a:r>
              <a:rPr lang="en-US" altLang="ko-KR" dirty="0"/>
              <a:t>  app=</a:t>
            </a:r>
            <a:r>
              <a:rPr lang="en-US" altLang="ko-KR" dirty="0" err="1"/>
              <a:t>nodeapp:NoSchedule</a:t>
            </a:r>
            <a:endParaRPr lang="en-US" altLang="ko-KR" dirty="0"/>
          </a:p>
          <a:p>
            <a:pPr lvl="2"/>
            <a:r>
              <a:rPr lang="en-US" altLang="ko-KR" dirty="0" err="1"/>
              <a:t>kubectl</a:t>
            </a:r>
            <a:r>
              <a:rPr lang="en-US" altLang="ko-KR" dirty="0"/>
              <a:t> taint node </a:t>
            </a:r>
            <a:r>
              <a:rPr lang="en-US" altLang="ko-KR" dirty="0" err="1"/>
              <a:t>worker2</a:t>
            </a:r>
            <a:r>
              <a:rPr lang="en-US" altLang="ko-KR" dirty="0"/>
              <a:t>  app=</a:t>
            </a:r>
            <a:r>
              <a:rPr lang="en-US" altLang="ko-KR" dirty="0" err="1"/>
              <a:t>nodeapp:NoSchedule</a:t>
            </a:r>
            <a:endParaRPr lang="en-US" altLang="ko-KR" dirty="0"/>
          </a:p>
          <a:p>
            <a:pPr lvl="1"/>
            <a:r>
              <a:rPr lang="en-US" altLang="ko-KR" dirty="0"/>
              <a:t>no-</a:t>
            </a:r>
            <a:r>
              <a:rPr lang="en-US" altLang="ko-KR" dirty="0" err="1"/>
              <a:t>toleration.yaml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E8ADC5-4F06-A46D-C96E-A04F3E94C727}"/>
              </a:ext>
            </a:extLst>
          </p:cNvPr>
          <p:cNvSpPr txBox="1"/>
          <p:nvPr/>
        </p:nvSpPr>
        <p:spPr>
          <a:xfrm>
            <a:off x="875420" y="2924944"/>
            <a:ext cx="4536504" cy="332398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apiVersion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 apps/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v1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kind: Deployment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metadata: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namespace: default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spec: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replicas: 3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selector: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matchLabels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app: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template: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metadata: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name: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labels: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app: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4398C3-157D-674E-9F33-FC3D21A097EF}"/>
              </a:ext>
            </a:extLst>
          </p:cNvPr>
          <p:cNvSpPr txBox="1"/>
          <p:nvPr/>
        </p:nvSpPr>
        <p:spPr>
          <a:xfrm>
            <a:off x="5627948" y="2918152"/>
            <a:ext cx="4536504" cy="13849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spec: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containers: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- name: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image: stepanowon/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nodeapp-slim:1.0.0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ports: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-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containerPort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 8080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859CEC-A27F-7035-07C4-CA4784509919}"/>
              </a:ext>
            </a:extLst>
          </p:cNvPr>
          <p:cNvSpPr txBox="1"/>
          <p:nvPr/>
        </p:nvSpPr>
        <p:spPr>
          <a:xfrm>
            <a:off x="5730169" y="4571392"/>
            <a:ext cx="47514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** toleration </a:t>
            </a:r>
            <a:r>
              <a:rPr lang="ko-KR" altLang="en-US" dirty="0"/>
              <a:t>이 지정되지 않았으므로 </a:t>
            </a:r>
            <a:r>
              <a:rPr lang="en-US" altLang="ko-KR" dirty="0"/>
              <a:t>taint</a:t>
            </a:r>
            <a:r>
              <a:rPr lang="ko-KR" altLang="en-US" dirty="0"/>
              <a:t>가 부여되지 않은 </a:t>
            </a:r>
            <a:r>
              <a:rPr lang="en-US" altLang="ko-KR" dirty="0" err="1"/>
              <a:t>worker3</a:t>
            </a:r>
            <a:r>
              <a:rPr lang="ko-KR" altLang="en-US" dirty="0"/>
              <a:t>에만 </a:t>
            </a:r>
            <a:r>
              <a:rPr lang="en-US" altLang="ko-KR" dirty="0"/>
              <a:t>pod</a:t>
            </a:r>
            <a:r>
              <a:rPr lang="ko-KR" altLang="en-US" dirty="0"/>
              <a:t>가 생성됨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224657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B347A-9F2C-3305-A9D5-3D581BA8F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2.6 taints,</a:t>
            </a:r>
            <a:r>
              <a:rPr lang="ko-KR" altLang="en-US" dirty="0"/>
              <a:t> </a:t>
            </a:r>
            <a:r>
              <a:rPr lang="en-US" altLang="ko-KR" dirty="0"/>
              <a:t>tolerations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EA9065-69AB-9B73-026B-9F9F78FBA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toleration.yaml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taint </a:t>
            </a:r>
            <a:r>
              <a:rPr lang="ko-KR" altLang="en-US" dirty="0"/>
              <a:t>제거</a:t>
            </a:r>
            <a:endParaRPr lang="en-US" altLang="ko-KR" dirty="0"/>
          </a:p>
          <a:p>
            <a:pPr lvl="2"/>
            <a:r>
              <a:rPr lang="en-US" altLang="ko-KR" dirty="0" err="1"/>
              <a:t>kubectl</a:t>
            </a:r>
            <a:r>
              <a:rPr lang="en-US" altLang="ko-KR" dirty="0"/>
              <a:t> taint node </a:t>
            </a:r>
            <a:r>
              <a:rPr lang="en-US" altLang="ko-KR" dirty="0" err="1"/>
              <a:t>worker1</a:t>
            </a:r>
            <a:r>
              <a:rPr lang="en-US" altLang="ko-KR" dirty="0"/>
              <a:t>  app=</a:t>
            </a:r>
            <a:r>
              <a:rPr lang="en-US" altLang="ko-KR" dirty="0" err="1"/>
              <a:t>nodeapp:NoSchedule</a:t>
            </a:r>
            <a:r>
              <a:rPr lang="en-US" altLang="ko-KR" dirty="0"/>
              <a:t>-</a:t>
            </a:r>
          </a:p>
          <a:p>
            <a:pPr lvl="2"/>
            <a:r>
              <a:rPr lang="en-US" altLang="ko-KR" dirty="0" err="1"/>
              <a:t>kubectl</a:t>
            </a:r>
            <a:r>
              <a:rPr lang="en-US" altLang="ko-KR" dirty="0"/>
              <a:t> taint node </a:t>
            </a:r>
            <a:r>
              <a:rPr lang="en-US" altLang="ko-KR" dirty="0" err="1"/>
              <a:t>worker2</a:t>
            </a:r>
            <a:r>
              <a:rPr lang="en-US" altLang="ko-KR" dirty="0"/>
              <a:t>  app=</a:t>
            </a:r>
            <a:r>
              <a:rPr lang="en-US" altLang="ko-KR" dirty="0" err="1"/>
              <a:t>nodeapp:NoSchedule</a:t>
            </a:r>
            <a:r>
              <a:rPr lang="en-US" altLang="ko-KR" dirty="0"/>
              <a:t>-</a:t>
            </a:r>
          </a:p>
          <a:p>
            <a:pPr lvl="2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28D271-602B-F505-9407-C162B2149A7E}"/>
              </a:ext>
            </a:extLst>
          </p:cNvPr>
          <p:cNvSpPr txBox="1"/>
          <p:nvPr/>
        </p:nvSpPr>
        <p:spPr>
          <a:xfrm>
            <a:off x="587388" y="1520788"/>
            <a:ext cx="4824536" cy="332398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apiVersion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 apps/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v1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kind: Deployment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metadata: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namespace: default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spec: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replicas: 3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selector: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matchLabels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app: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template: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metadata: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name: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labels: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app: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8F73D4-2802-CF52-E8A9-DFFEC3A52F06}"/>
              </a:ext>
            </a:extLst>
          </p:cNvPr>
          <p:cNvSpPr txBox="1"/>
          <p:nvPr/>
        </p:nvSpPr>
        <p:spPr>
          <a:xfrm>
            <a:off x="5555940" y="1520788"/>
            <a:ext cx="4824536" cy="224676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spec: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tolerations: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- effect: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NoSchedule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key: app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value: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containers: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- name: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image: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stepanowon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/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nodeapp:1.0.0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ports: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-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containerPort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 8080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DAA9D8-B0A7-5915-7D7C-E71A4B924724}"/>
              </a:ext>
            </a:extLst>
          </p:cNvPr>
          <p:cNvSpPr txBox="1"/>
          <p:nvPr/>
        </p:nvSpPr>
        <p:spPr>
          <a:xfrm>
            <a:off x="5765292" y="4055588"/>
            <a:ext cx="47514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** toleration </a:t>
            </a:r>
            <a:r>
              <a:rPr lang="ko-KR" altLang="en-US" dirty="0"/>
              <a:t>이 지정되었으므로 </a:t>
            </a:r>
            <a:r>
              <a:rPr lang="en-US" altLang="ko-KR" dirty="0"/>
              <a:t>taint</a:t>
            </a:r>
            <a:r>
              <a:rPr lang="ko-KR" altLang="en-US" dirty="0"/>
              <a:t>가 부여된 </a:t>
            </a:r>
            <a:r>
              <a:rPr lang="en-US" altLang="ko-KR" dirty="0"/>
              <a:t>Node</a:t>
            </a:r>
            <a:r>
              <a:rPr lang="ko-KR" altLang="en-US" dirty="0"/>
              <a:t>에도 </a:t>
            </a:r>
            <a:r>
              <a:rPr lang="ko-KR" altLang="en-US" dirty="0" err="1"/>
              <a:t>스케줄링함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--&gt; </a:t>
            </a:r>
            <a:r>
              <a:rPr lang="en-US" altLang="ko-KR" dirty="0" err="1"/>
              <a:t>worker1</a:t>
            </a:r>
            <a:r>
              <a:rPr lang="en-US" altLang="ko-KR" dirty="0"/>
              <a:t>, </a:t>
            </a:r>
            <a:r>
              <a:rPr lang="en-US" altLang="ko-KR" dirty="0" err="1"/>
              <a:t>worker2</a:t>
            </a:r>
            <a:r>
              <a:rPr lang="ko-KR" altLang="en-US" dirty="0"/>
              <a:t>에도 스케줄링됨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060893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42C523-3949-3D84-FCB9-AB6696978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2.7 priority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FB3D93-B998-66D7-429E-212C5BC3A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Priority(</a:t>
            </a:r>
            <a:r>
              <a:rPr lang="ko-KR" altLang="en-US" dirty="0"/>
              <a:t>우선순위</a:t>
            </a:r>
            <a:r>
              <a:rPr lang="en-US" altLang="ko-KR" dirty="0"/>
              <a:t>)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 err="1"/>
              <a:t>k8s</a:t>
            </a:r>
            <a:r>
              <a:rPr lang="ko-KR" altLang="en-US" dirty="0"/>
              <a:t>에서 </a:t>
            </a:r>
            <a:r>
              <a:rPr lang="en-US" altLang="ko-KR" dirty="0"/>
              <a:t>Pod</a:t>
            </a:r>
            <a:r>
              <a:rPr lang="ko-KR" altLang="en-US" dirty="0"/>
              <a:t>의 중요도에 따라 실행</a:t>
            </a:r>
            <a:r>
              <a:rPr lang="en-US" altLang="ko-KR" dirty="0"/>
              <a:t>/</a:t>
            </a:r>
            <a:r>
              <a:rPr lang="ko-KR" altLang="en-US" dirty="0"/>
              <a:t>제거의 우선 순위를 지정하기 위한 기능</a:t>
            </a:r>
            <a:endParaRPr lang="en-US" altLang="ko-KR" dirty="0"/>
          </a:p>
          <a:p>
            <a:pPr lvl="1"/>
            <a:r>
              <a:rPr lang="ko-KR" altLang="en-US" dirty="0"/>
              <a:t>선점</a:t>
            </a:r>
            <a:r>
              <a:rPr lang="en-US" altLang="ko-KR" dirty="0"/>
              <a:t>(Preemption)</a:t>
            </a:r>
          </a:p>
          <a:p>
            <a:pPr lvl="2"/>
            <a:r>
              <a:rPr lang="ko-KR" altLang="en-US" dirty="0"/>
              <a:t>우선 순위가 높은 </a:t>
            </a:r>
            <a:r>
              <a:rPr lang="en-US" altLang="ko-KR" dirty="0"/>
              <a:t>Pod</a:t>
            </a:r>
            <a:r>
              <a:rPr lang="ko-KR" altLang="en-US" dirty="0"/>
              <a:t>가 </a:t>
            </a:r>
            <a:r>
              <a:rPr lang="en-US" altLang="ko-KR" dirty="0"/>
              <a:t>Node</a:t>
            </a:r>
            <a:r>
              <a:rPr lang="ko-KR" altLang="en-US" dirty="0"/>
              <a:t>에 스케줄링 될 수 있도록 우선 순위가 낮은 </a:t>
            </a:r>
            <a:r>
              <a:rPr lang="en-US" altLang="ko-KR" dirty="0"/>
              <a:t>Pod </a:t>
            </a:r>
            <a:r>
              <a:rPr lang="ko-KR" altLang="en-US" dirty="0"/>
              <a:t>를 </a:t>
            </a:r>
            <a:r>
              <a:rPr lang="ko-KR" altLang="en-US" dirty="0" err="1"/>
              <a:t>종료시키는</a:t>
            </a:r>
            <a:r>
              <a:rPr lang="ko-KR" altLang="en-US" dirty="0"/>
              <a:t> 작업</a:t>
            </a:r>
            <a:endParaRPr lang="en-US" altLang="ko-KR" dirty="0"/>
          </a:p>
          <a:p>
            <a:pPr lvl="1"/>
            <a:r>
              <a:rPr lang="ko-KR" altLang="en-US" dirty="0"/>
              <a:t>퇴출</a:t>
            </a:r>
            <a:r>
              <a:rPr lang="en-US" altLang="ko-KR" dirty="0"/>
              <a:t>(Eviction)</a:t>
            </a:r>
          </a:p>
          <a:p>
            <a:pPr lvl="2"/>
            <a:r>
              <a:rPr lang="ko-KR" altLang="en-US" dirty="0"/>
              <a:t>리소스가 부족한 </a:t>
            </a:r>
            <a:r>
              <a:rPr lang="en-US" altLang="ko-KR" dirty="0"/>
              <a:t>Node</a:t>
            </a:r>
            <a:r>
              <a:rPr lang="ko-KR" altLang="en-US" dirty="0"/>
              <a:t>에서 하나 이상의 </a:t>
            </a:r>
            <a:r>
              <a:rPr lang="en-US" altLang="ko-KR" dirty="0"/>
              <a:t>Pod</a:t>
            </a:r>
            <a:r>
              <a:rPr lang="ko-KR" altLang="en-US" dirty="0"/>
              <a:t>를 사전에 </a:t>
            </a:r>
            <a:r>
              <a:rPr lang="ko-KR" altLang="en-US" dirty="0" err="1"/>
              <a:t>종료시키는</a:t>
            </a:r>
            <a:r>
              <a:rPr lang="ko-KR" altLang="en-US" dirty="0"/>
              <a:t> 것</a:t>
            </a:r>
          </a:p>
          <a:p>
            <a:endParaRPr lang="en-US" altLang="ko-KR" dirty="0"/>
          </a:p>
          <a:p>
            <a:r>
              <a:rPr lang="en-US" altLang="ko-KR" dirty="0"/>
              <a:t>Priority</a:t>
            </a:r>
            <a:r>
              <a:rPr lang="ko-KR" altLang="en-US" dirty="0"/>
              <a:t> 적용 방법</a:t>
            </a:r>
            <a:endParaRPr lang="en-US" altLang="ko-KR" dirty="0"/>
          </a:p>
          <a:p>
            <a:pPr lvl="1"/>
            <a:r>
              <a:rPr lang="en-US" altLang="ko-KR" dirty="0" err="1"/>
              <a:t>PriorityClass</a:t>
            </a:r>
            <a:r>
              <a:rPr lang="ko-KR" altLang="en-US" dirty="0"/>
              <a:t>를 설정하고 </a:t>
            </a:r>
            <a:r>
              <a:rPr lang="en-US" altLang="ko-KR" dirty="0"/>
              <a:t>value</a:t>
            </a:r>
            <a:r>
              <a:rPr lang="ko-KR" altLang="en-US" dirty="0"/>
              <a:t>를 부여함</a:t>
            </a:r>
            <a:endParaRPr lang="en-US" altLang="ko-KR" dirty="0"/>
          </a:p>
          <a:p>
            <a:pPr lvl="1"/>
            <a:r>
              <a:rPr lang="en-US" altLang="ko-KR" dirty="0"/>
              <a:t>value</a:t>
            </a:r>
            <a:r>
              <a:rPr lang="ko-KR" altLang="en-US" dirty="0"/>
              <a:t>가 클수록 우선순위가 높음</a:t>
            </a:r>
            <a:endParaRPr lang="en-US" altLang="ko-KR" dirty="0"/>
          </a:p>
          <a:p>
            <a:pPr lvl="1"/>
            <a:r>
              <a:rPr lang="ko-KR" altLang="en-US" dirty="0"/>
              <a:t>생성된 </a:t>
            </a:r>
            <a:r>
              <a:rPr lang="en-US" altLang="ko-KR" dirty="0" err="1"/>
              <a:t>priorityClass</a:t>
            </a:r>
            <a:r>
              <a:rPr lang="ko-KR" altLang="en-US" dirty="0"/>
              <a:t>를 </a:t>
            </a:r>
            <a:r>
              <a:rPr lang="en-US" altLang="ko-KR" dirty="0"/>
              <a:t>pod</a:t>
            </a:r>
            <a:r>
              <a:rPr lang="ko-KR" altLang="en-US" dirty="0"/>
              <a:t>를 생성할 때 지정함</a:t>
            </a:r>
            <a:endParaRPr lang="en-US" altLang="ko-KR" dirty="0"/>
          </a:p>
          <a:p>
            <a:pPr lvl="2"/>
            <a:r>
              <a:rPr lang="en-US" altLang="ko-KR" dirty="0"/>
              <a:t>Pod Spec</a:t>
            </a:r>
            <a:r>
              <a:rPr lang="ko-KR" altLang="en-US" dirty="0"/>
              <a:t>의 </a:t>
            </a:r>
            <a:r>
              <a:rPr lang="en-US" altLang="ko-KR" dirty="0" err="1"/>
              <a:t>spec.priorityClassName</a:t>
            </a:r>
            <a:r>
              <a:rPr lang="ko-KR" altLang="en-US" dirty="0"/>
              <a:t>으로 지정</a:t>
            </a:r>
            <a:endParaRPr lang="en-US" altLang="ko-KR" dirty="0"/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85932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2C81BD-D37D-E8B9-8164-123164CA8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2.7 priority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7E640F-0420-70AC-93C0-E8A7471FC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PriorityClass</a:t>
            </a:r>
            <a:r>
              <a:rPr lang="en-US" altLang="ko-KR" dirty="0"/>
              <a:t> </a:t>
            </a:r>
            <a:r>
              <a:rPr lang="ko-KR" altLang="en-US" dirty="0"/>
              <a:t>설정 </a:t>
            </a:r>
            <a:r>
              <a:rPr lang="en-US" altLang="ko-KR" dirty="0"/>
              <a:t>: </a:t>
            </a:r>
            <a:r>
              <a:rPr lang="ko-KR" altLang="en-US" dirty="0"/>
              <a:t>두개의 </a:t>
            </a:r>
            <a:r>
              <a:rPr lang="en-US" altLang="ko-KR" dirty="0" err="1"/>
              <a:t>priorityClass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21D54B-F562-4407-5BBB-5BD1F1B67116}"/>
              </a:ext>
            </a:extLst>
          </p:cNvPr>
          <p:cNvSpPr txBox="1"/>
          <p:nvPr/>
        </p:nvSpPr>
        <p:spPr>
          <a:xfrm>
            <a:off x="515949" y="1623568"/>
            <a:ext cx="11148860" cy="42780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priority.yaml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apiVersion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scheduling.k8s.io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/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v1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kind: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PriorityClass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metadata: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name: high-priority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value: 100</a:t>
            </a: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globalDefault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false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description: "High-priority-Pods"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---</a:t>
            </a: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apiVersion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scheduling.k8s.io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/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v1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kind: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PriorityClass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metadata: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name: low-priority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value: 1</a:t>
            </a: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globalDefault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true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description: "Low-priority-Pods"</a:t>
            </a:r>
          </a:p>
        </p:txBody>
      </p:sp>
    </p:spTree>
    <p:extLst>
      <p:ext uri="{BB962C8B-B14F-4D97-AF65-F5344CB8AC3E}">
        <p14:creationId xmlns:p14="http://schemas.microsoft.com/office/powerpoint/2010/main" val="6438771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279C35-BD42-A8CD-2160-BDB0644B4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2.7 priority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21925D-7959-7989-5CA9-836F33CFD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두개의 </a:t>
            </a:r>
            <a:r>
              <a:rPr lang="en-US" altLang="ko-KR" dirty="0" err="1"/>
              <a:t>deployment.yaml</a:t>
            </a:r>
            <a:r>
              <a:rPr lang="en-US" altLang="ko-KR" dirty="0"/>
              <a:t> </a:t>
            </a:r>
            <a:r>
              <a:rPr lang="ko-KR" altLang="en-US" dirty="0"/>
              <a:t>생성 </a:t>
            </a:r>
            <a:r>
              <a:rPr lang="en-US" altLang="ko-KR" dirty="0"/>
              <a:t>: deploy-</a:t>
            </a:r>
            <a:r>
              <a:rPr lang="en-US" altLang="ko-KR" dirty="0" err="1"/>
              <a:t>low.yaml</a:t>
            </a:r>
            <a:r>
              <a:rPr lang="en-US" altLang="ko-KR" dirty="0"/>
              <a:t>, deploy-</a:t>
            </a:r>
            <a:r>
              <a:rPr lang="en-US" altLang="ko-KR" dirty="0" err="1"/>
              <a:t>high.yaml</a:t>
            </a:r>
            <a:endParaRPr lang="en-US" altLang="ko-KR" dirty="0"/>
          </a:p>
          <a:p>
            <a:pPr lvl="1"/>
            <a:r>
              <a:rPr lang="en-US" altLang="ko-KR" dirty="0"/>
              <a:t>deploy-</a:t>
            </a:r>
            <a:r>
              <a:rPr lang="en-US" altLang="ko-KR" dirty="0" err="1"/>
              <a:t>high.yaml</a:t>
            </a:r>
            <a:r>
              <a:rPr lang="ko-KR" altLang="en-US" dirty="0"/>
              <a:t>은 </a:t>
            </a:r>
            <a:r>
              <a:rPr lang="en-US" altLang="ko-KR" dirty="0" err="1"/>
              <a:t>priorityClassName</a:t>
            </a:r>
            <a:r>
              <a:rPr lang="ko-KR" altLang="en-US" dirty="0"/>
              <a:t>만 다름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FF11ED-92A2-DB67-45DB-8FB2F79C0316}"/>
              </a:ext>
            </a:extLst>
          </p:cNvPr>
          <p:cNvSpPr txBox="1"/>
          <p:nvPr/>
        </p:nvSpPr>
        <p:spPr>
          <a:xfrm>
            <a:off x="515664" y="1916832"/>
            <a:ext cx="5580051" cy="42780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 deploy-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low.yaml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apiVersion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apps/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v1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kind: Deployment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metadata: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name: low-deployment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spec: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replicas: 4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selector: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matchLabels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app: low-deploy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template: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metadata: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name: my-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labels: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app: low-deploy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spec: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priorityClassName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 "low-priority"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0FFB44-9D5F-00C0-8520-CA6ED1B7300E}"/>
              </a:ext>
            </a:extLst>
          </p:cNvPr>
          <p:cNvSpPr txBox="1"/>
          <p:nvPr/>
        </p:nvSpPr>
        <p:spPr>
          <a:xfrm>
            <a:off x="6240016" y="1916832"/>
            <a:ext cx="5580051" cy="255454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containers: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- name: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image: stepanowon/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nodeapp-slim:1.0.0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ports: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-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containerPort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8080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resources: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limits: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memory: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1000Mi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requests: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memory: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700Mi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65761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0E09D-2A37-FD4E-23CA-AAE8AB036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2.7 priority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166F44-0242-7CC5-3323-B99D5D1F5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기능 테스트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6680CA-9829-6ABE-7FA4-8CC2595FF5A9}"/>
              </a:ext>
            </a:extLst>
          </p:cNvPr>
          <p:cNvSpPr txBox="1"/>
          <p:nvPr/>
        </p:nvSpPr>
        <p:spPr>
          <a:xfrm>
            <a:off x="515949" y="1623568"/>
            <a:ext cx="11148860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priorityclass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생성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apply -f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priority.yaml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낮은 우선 순위의 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pod 4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개 생성 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--&gt; 4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개 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Pod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정상 상태 확인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apply -f deploy-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low.yaml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get pods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높은 우선 순위의 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Pod 4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개 생성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apply -f deploy-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high.yaml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 Pod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목록을 조회하여 우선순위가 낮은 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Pod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들이 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Eviction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됨을 확인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 Eviction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된 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Pod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들은 리소스가 </a:t>
            </a:r>
            <a:r>
              <a:rPr lang="ko-KR" altLang="en-US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여유있을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때까지 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Pending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상태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테스트 후 리소스 정리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delete -f deploy-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high.yaml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delete -f deploy-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low.yaml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delete -f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priority.yaml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13B855D-D2C3-A8BD-1D59-0D2906842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201" y="4818379"/>
            <a:ext cx="5953918" cy="1724967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1DDC1588-BD39-0BAB-C6F8-7AB0E9CC60D4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7140116" y="4437112"/>
            <a:ext cx="1674186" cy="12787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E7D0035-67AA-C6EE-B401-0727E0D10F45}"/>
              </a:ext>
            </a:extLst>
          </p:cNvPr>
          <p:cNvSpPr/>
          <p:nvPr/>
        </p:nvSpPr>
        <p:spPr>
          <a:xfrm>
            <a:off x="8004212" y="5715835"/>
            <a:ext cx="1620180" cy="864096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16811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83D59A-A3F5-5D6A-32FB-BE82B9F6E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Node </a:t>
            </a:r>
            <a:r>
              <a:rPr lang="ko-KR" altLang="en-US" dirty="0"/>
              <a:t>관리와 안정성</a:t>
            </a:r>
            <a:r>
              <a:rPr lang="en-US" altLang="ko-KR" dirty="0"/>
              <a:t> </a:t>
            </a:r>
            <a:r>
              <a:rPr lang="ko-KR" altLang="en-US" dirty="0"/>
              <a:t>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B1213B-F7F9-7EAA-36B1-C4B7176E2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Cordon, Drain</a:t>
            </a:r>
          </a:p>
          <a:p>
            <a:r>
              <a:rPr lang="en-US" altLang="ko-KR" dirty="0"/>
              <a:t>PDB</a:t>
            </a:r>
          </a:p>
          <a:p>
            <a:r>
              <a:rPr lang="en-US" altLang="ko-KR" dirty="0" err="1"/>
              <a:t>HPA</a:t>
            </a:r>
            <a:endParaRPr lang="en-US" altLang="ko-KR" dirty="0"/>
          </a:p>
          <a:p>
            <a:r>
              <a:rPr lang="en-US" altLang="ko-KR" dirty="0"/>
              <a:t>VPA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24006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83B3E1-4A4D-BC21-6C5F-FC1E1C07D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Cordon, Drain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200780-6BC4-D592-6DE2-7088F7CFC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cordon</a:t>
            </a:r>
          </a:p>
          <a:p>
            <a:pPr lvl="1"/>
            <a:r>
              <a:rPr lang="ko-KR" altLang="en-US" dirty="0"/>
              <a:t>사전적 의미 </a:t>
            </a:r>
            <a:r>
              <a:rPr lang="en-US" altLang="ko-KR" dirty="0"/>
              <a:t>: </a:t>
            </a:r>
            <a:r>
              <a:rPr lang="ko-KR" altLang="en-US" dirty="0"/>
              <a:t>저지선</a:t>
            </a:r>
            <a:r>
              <a:rPr lang="en-US" altLang="ko-KR" dirty="0"/>
              <a:t>, </a:t>
            </a:r>
            <a:r>
              <a:rPr lang="ko-KR" altLang="en-US" dirty="0"/>
              <a:t>비상경계선</a:t>
            </a:r>
            <a:r>
              <a:rPr lang="en-US" altLang="ko-KR" dirty="0"/>
              <a:t>, </a:t>
            </a:r>
            <a:r>
              <a:rPr lang="ko-KR" altLang="en-US" dirty="0" err="1"/>
              <a:t>차단막</a:t>
            </a:r>
            <a:endParaRPr lang="en-US" altLang="ko-KR" dirty="0"/>
          </a:p>
          <a:p>
            <a:pPr lvl="1"/>
            <a:r>
              <a:rPr lang="ko-KR" altLang="en-US" dirty="0"/>
              <a:t>지정한 </a:t>
            </a:r>
            <a:r>
              <a:rPr lang="en-US" altLang="ko-KR" dirty="0"/>
              <a:t>Node</a:t>
            </a:r>
            <a:r>
              <a:rPr lang="ko-KR" altLang="en-US" dirty="0"/>
              <a:t>에 </a:t>
            </a:r>
            <a:r>
              <a:rPr lang="en-US" altLang="ko-KR" dirty="0"/>
              <a:t>Pod</a:t>
            </a:r>
            <a:r>
              <a:rPr lang="ko-KR" altLang="en-US" dirty="0"/>
              <a:t>가 </a:t>
            </a:r>
            <a:r>
              <a:rPr lang="ko-KR" altLang="en-US" dirty="0" err="1"/>
              <a:t>스케줄링되지</a:t>
            </a:r>
            <a:r>
              <a:rPr lang="ko-KR" altLang="en-US" dirty="0"/>
              <a:t> 못하도록 막음</a:t>
            </a:r>
            <a:r>
              <a:rPr lang="en-US" altLang="ko-KR" dirty="0"/>
              <a:t>. </a:t>
            </a:r>
            <a:r>
              <a:rPr lang="ko-KR" altLang="en-US" dirty="0"/>
              <a:t>기존 </a:t>
            </a:r>
            <a:r>
              <a:rPr lang="en-US" altLang="ko-KR" dirty="0"/>
              <a:t>Pod</a:t>
            </a:r>
            <a:r>
              <a:rPr lang="ko-KR" altLang="en-US" dirty="0"/>
              <a:t>는 계속 실행</a:t>
            </a:r>
            <a:endParaRPr lang="en-US" altLang="ko-KR" dirty="0"/>
          </a:p>
          <a:p>
            <a:pPr lvl="1"/>
            <a:r>
              <a:rPr lang="en-US" altLang="ko-KR" dirty="0"/>
              <a:t>cordon </a:t>
            </a:r>
            <a:r>
              <a:rPr lang="ko-KR" altLang="en-US" dirty="0"/>
              <a:t>예시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  <a:r>
              <a:rPr lang="en-US" altLang="ko-KR" dirty="0" err="1"/>
              <a:t>kubectl</a:t>
            </a:r>
            <a:r>
              <a:rPr lang="en-US" altLang="ko-KR" dirty="0"/>
              <a:t> cordon </a:t>
            </a:r>
            <a:r>
              <a:rPr lang="ko-KR" altLang="en-US" dirty="0" err="1"/>
              <a:t>노드명</a:t>
            </a:r>
            <a:endParaRPr lang="en-US" altLang="ko-KR" dirty="0"/>
          </a:p>
          <a:p>
            <a:pPr lvl="1"/>
            <a:r>
              <a:rPr lang="en-US" altLang="ko-KR" dirty="0"/>
              <a:t>cordon </a:t>
            </a:r>
            <a:r>
              <a:rPr lang="ko-KR" altLang="en-US" dirty="0"/>
              <a:t>해제 예시</a:t>
            </a:r>
            <a:endParaRPr lang="en-US" altLang="ko-KR" dirty="0"/>
          </a:p>
          <a:p>
            <a:pPr lvl="2"/>
            <a:r>
              <a:rPr lang="en-US" altLang="ko-KR" dirty="0" err="1"/>
              <a:t>kubectl</a:t>
            </a:r>
            <a:r>
              <a:rPr lang="en-US" altLang="ko-KR" dirty="0"/>
              <a:t> </a:t>
            </a:r>
            <a:r>
              <a:rPr lang="en-US" altLang="ko-KR" dirty="0" err="1"/>
              <a:t>uncordon</a:t>
            </a:r>
            <a:r>
              <a:rPr lang="en-US" altLang="ko-KR" dirty="0"/>
              <a:t> </a:t>
            </a:r>
            <a:r>
              <a:rPr lang="ko-KR" altLang="en-US" dirty="0" err="1"/>
              <a:t>노드명</a:t>
            </a:r>
            <a:endParaRPr lang="en-US" altLang="ko-KR" dirty="0"/>
          </a:p>
          <a:p>
            <a:r>
              <a:rPr lang="en-US" altLang="ko-KR" dirty="0"/>
              <a:t>drain</a:t>
            </a:r>
          </a:p>
          <a:p>
            <a:pPr lvl="1"/>
            <a:r>
              <a:rPr lang="en-US" altLang="ko-KR" dirty="0"/>
              <a:t>Node</a:t>
            </a:r>
            <a:r>
              <a:rPr lang="ko-KR" altLang="en-US" dirty="0"/>
              <a:t>를 비운다는 의미</a:t>
            </a:r>
            <a:endParaRPr lang="en-US" altLang="ko-KR" dirty="0"/>
          </a:p>
          <a:p>
            <a:pPr lvl="1"/>
            <a:r>
              <a:rPr lang="en-US" altLang="ko-KR" dirty="0"/>
              <a:t>Node </a:t>
            </a:r>
            <a:r>
              <a:rPr lang="ko-KR" altLang="en-US" dirty="0"/>
              <a:t>에 새로운 </a:t>
            </a:r>
            <a:r>
              <a:rPr lang="en-US" altLang="ko-KR" dirty="0"/>
              <a:t>Pod </a:t>
            </a:r>
            <a:r>
              <a:rPr lang="ko-KR" altLang="en-US" dirty="0"/>
              <a:t>가 </a:t>
            </a:r>
            <a:r>
              <a:rPr lang="ko-KR" altLang="en-US" dirty="0" err="1"/>
              <a:t>스케줄링되지</a:t>
            </a:r>
            <a:r>
              <a:rPr lang="ko-KR" altLang="en-US" dirty="0"/>
              <a:t> 못하도록 막고 실행중인 </a:t>
            </a:r>
            <a:r>
              <a:rPr lang="en-US" altLang="ko-KR" dirty="0"/>
              <a:t>Pod</a:t>
            </a:r>
            <a:r>
              <a:rPr lang="ko-KR" altLang="en-US" dirty="0"/>
              <a:t>를 모두 </a:t>
            </a:r>
            <a:r>
              <a:rPr lang="ko-KR" altLang="en-US" dirty="0" err="1"/>
              <a:t>퇴출시킴</a:t>
            </a:r>
            <a:endParaRPr lang="en-US" altLang="ko-KR" dirty="0"/>
          </a:p>
          <a:p>
            <a:pPr lvl="2"/>
            <a:r>
              <a:rPr lang="en-US" altLang="ko-KR" dirty="0"/>
              <a:t>Cordon --&gt; Eviction</a:t>
            </a:r>
          </a:p>
          <a:p>
            <a:pPr lvl="1"/>
            <a:r>
              <a:rPr lang="ko-KR" altLang="en-US" dirty="0"/>
              <a:t>예시</a:t>
            </a:r>
            <a:endParaRPr lang="en-US" altLang="ko-KR" dirty="0"/>
          </a:p>
          <a:p>
            <a:pPr lvl="2"/>
            <a:r>
              <a:rPr lang="en-US" altLang="ko-KR" dirty="0" err="1"/>
              <a:t>kubectl</a:t>
            </a:r>
            <a:r>
              <a:rPr lang="en-US" altLang="ko-KR" dirty="0"/>
              <a:t>  drain  </a:t>
            </a:r>
            <a:r>
              <a:rPr lang="ko-KR" altLang="en-US" dirty="0" err="1"/>
              <a:t>노드명</a:t>
            </a:r>
            <a:endParaRPr lang="en-US" altLang="ko-KR" dirty="0"/>
          </a:p>
          <a:p>
            <a:pPr lvl="2"/>
            <a:r>
              <a:rPr lang="en-US" altLang="ko-KR" dirty="0" err="1"/>
              <a:t>kubectl</a:t>
            </a:r>
            <a:r>
              <a:rPr lang="en-US" altLang="ko-KR" dirty="0"/>
              <a:t>  drain  </a:t>
            </a:r>
            <a:r>
              <a:rPr lang="ko-KR" altLang="en-US" dirty="0" err="1"/>
              <a:t>노드명</a:t>
            </a:r>
            <a:r>
              <a:rPr lang="ko-KR" altLang="en-US" dirty="0"/>
              <a:t>  </a:t>
            </a:r>
            <a:r>
              <a:rPr lang="en-US" altLang="ko-KR" dirty="0"/>
              <a:t>--ignore-</a:t>
            </a:r>
            <a:r>
              <a:rPr lang="en-US" altLang="ko-KR" dirty="0" err="1"/>
              <a:t>daemonsets</a:t>
            </a:r>
            <a:r>
              <a:rPr lang="en-US" altLang="ko-KR" dirty="0"/>
              <a:t>  --delete-</a:t>
            </a:r>
            <a:r>
              <a:rPr lang="en-US" altLang="ko-KR" dirty="0" err="1"/>
              <a:t>emptydir</a:t>
            </a:r>
            <a:r>
              <a:rPr lang="en-US" altLang="ko-KR" dirty="0"/>
              <a:t>-data --force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54800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EA8509-E795-83ED-348E-20DDC253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Cordon, Drain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E17E28-71FD-4099-726C-EEAE997B8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- </a:t>
            </a:r>
            <a:r>
              <a:rPr lang="en-US" altLang="ko-KR" dirty="0" err="1"/>
              <a:t>drain.yaml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F5D377-EA32-8BAC-C3B1-7343D77FB8AF}"/>
              </a:ext>
            </a:extLst>
          </p:cNvPr>
          <p:cNvSpPr txBox="1"/>
          <p:nvPr/>
        </p:nvSpPr>
        <p:spPr>
          <a:xfrm>
            <a:off x="551384" y="1506267"/>
            <a:ext cx="7776864" cy="461664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apiVersion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 apps/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v1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kind: Deployment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metadata: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namespace: default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spec: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</a:t>
            </a:r>
            <a:r>
              <a:rPr lang="en-US" altLang="ko-KR" sz="1400" b="1" u="sng" dirty="0">
                <a:latin typeface="굴림체" panose="020B0609000101010101" pitchFamily="49" charset="-127"/>
                <a:ea typeface="굴림체" panose="020B0609000101010101" pitchFamily="49" charset="-127"/>
              </a:rPr>
              <a:t>replicas: 6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 # 6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개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Pod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로 시작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selector: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matchLabels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app: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template: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metadata: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name: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labels: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app: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spec: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containers: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- name: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image: stepanowon/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nodeapp-slim:1.0.0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ports: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-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containerPort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 8080</a:t>
            </a:r>
          </a:p>
        </p:txBody>
      </p:sp>
    </p:spTree>
    <p:extLst>
      <p:ext uri="{BB962C8B-B14F-4D97-AF65-F5344CB8AC3E}">
        <p14:creationId xmlns:p14="http://schemas.microsoft.com/office/powerpoint/2010/main" val="32682610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E11B9-FD8D-795C-C4FC-F54442F9F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Cordon, Drain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0CBE24-F39C-D860-1396-E18164018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 실행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1FE0E2-C75C-5289-FF72-53695CA39E8F}"/>
              </a:ext>
            </a:extLst>
          </p:cNvPr>
          <p:cNvSpPr txBox="1"/>
          <p:nvPr/>
        </p:nvSpPr>
        <p:spPr>
          <a:xfrm>
            <a:off x="479376" y="1520788"/>
            <a:ext cx="11388507" cy="461664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$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apply -f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drain.yaml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deployment.apps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/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created</a:t>
            </a:r>
          </a:p>
          <a:p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node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별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pod </a:t>
            </a:r>
            <a:r>
              <a:rPr lang="ko-KR" altLang="en-US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스케줄링된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결과 확인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$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get pods -o wide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NAME                       READY   STATUS    RESTARTS   AGE   IP              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NODE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NOMINATED NODE   READINESS GATES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nodeapp-58f488464c-4p5gc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1/1     Running   0          8s    10.244.182.49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worker3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&lt;none&gt;           &lt;none&gt;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nodeapp-58f488464c-7rb2x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1/1     Running   0          9s    10.244.189.80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worker2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&lt;none&gt;           &lt;none&gt;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nodeapp-58f488464c-fmsx9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1/1     Running   0          8s    10.244.189.81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worker2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&lt;none&gt;           &lt;none&gt;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nodeapp-58f488464c-qn2d5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1/1     Running   0          9s    10.244.182.48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worker3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&lt;none&gt;           &lt;none&gt;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nodeapp-58f488464c-s4v2b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1/1     Running   0          9s    10.244.235.152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worker1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&lt;none&gt;           &lt;none&gt;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nodeapp-58f488464c-zx6jk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1/1     Running   0          8s    10.244.235.153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worker1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&lt;none&gt;           &lt;none&gt;</a:t>
            </a:r>
          </a:p>
          <a:p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worker3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Node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를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drain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daemonset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은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drain 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할 수 없으므로 무시하도록 실행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$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drain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worker3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--ignore-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daemonsets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--delete-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emptydir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-data --force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node/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worker3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cordoned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Warning: ignoring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DaemonSet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-managed Pods: calico-system/calico-node-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68tl5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, calico-system/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csi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-node-driver-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6b4rv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, ......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evicting pod default/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nodeapp-58f488464c-qn2d5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evicting pod default/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nodeapp-58f488464c-4p5gc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......</a:t>
            </a:r>
          </a:p>
        </p:txBody>
      </p:sp>
    </p:spTree>
    <p:extLst>
      <p:ext uri="{BB962C8B-B14F-4D97-AF65-F5344CB8AC3E}">
        <p14:creationId xmlns:p14="http://schemas.microsoft.com/office/powerpoint/2010/main" val="4613957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D0B03D-32A7-8D04-F700-FD35C0AC3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Cordon, Drain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2AC58E-98B9-DA6C-CD4E-732C49DAD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 실행</a:t>
            </a:r>
            <a:r>
              <a:rPr lang="en-US" altLang="ko-KR" dirty="0"/>
              <a:t>(</a:t>
            </a:r>
            <a:r>
              <a:rPr lang="ko-KR" altLang="en-US" dirty="0"/>
              <a:t>이어서</a:t>
            </a:r>
            <a:r>
              <a:rPr lang="en-US" altLang="ko-KR" dirty="0"/>
              <a:t>)</a:t>
            </a:r>
          </a:p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A8DE1F-04BF-0574-42E9-6FF2561ECDDE}"/>
              </a:ext>
            </a:extLst>
          </p:cNvPr>
          <p:cNvSpPr txBox="1"/>
          <p:nvPr/>
        </p:nvSpPr>
        <p:spPr>
          <a:xfrm>
            <a:off x="515380" y="1484784"/>
            <a:ext cx="11388507" cy="483209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drain </a:t>
            </a:r>
            <a:r>
              <a:rPr lang="ko-KR" altLang="en-US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완료후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노드별 </a:t>
            </a:r>
            <a:r>
              <a:rPr lang="ko-KR" altLang="en-US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스케줄링된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결과 확인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$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get pods -o wide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NAME                       READY   STATUS    RESTARTS   AGE     IP              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NODE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NOMINATED NODE   READINESS GATES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nodeapp-58f488464c-7rb2x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1/1     Running   0      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4m31s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10.244.189.80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worker2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&lt;none&gt;           &lt;none&gt;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nodeapp-58f488464c-fmsx9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1/1     Running   0      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4m30s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10.244.189.81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worker2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&lt;none&gt;           &lt;none&gt;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nodeapp-58f488464c-qhrt2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1/1     Running   0      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3m56s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10.244.189.82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worker2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&lt;none&gt;           &lt;none&gt;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nodeapp-58f488464c-s4v2b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1/1     Running   0      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4m31s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10.244.235.152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worker1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&lt;none&gt;           &lt;none&gt;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nodeapp-58f488464c-zr7k4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1/1     Running   0      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3m56s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10.244.235.154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worker1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&lt;none&gt;           &lt;none&gt;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nodeapp-58f488464c-zx6jk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1/1     Running   0      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4m30s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10.244.235.153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worker1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&lt;none&gt;           &lt;none&gt;</a:t>
            </a:r>
          </a:p>
          <a:p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노드별 상태 확인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$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get nodes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NAME     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STATUS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       ROLES           AGE   VERSION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master   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Ready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        control-plane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25h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v1.30.13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worker1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Ready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        &lt;none&gt;      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25h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v1.30.13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worker2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Ready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        &lt;none&gt;      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25h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v1.30.13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worker3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Ready,SchedulingDisabled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&lt;none&gt;      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25h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v1.30.13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worker3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노드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uncordon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$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uncordon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worker3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node/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worker3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uncordoned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86650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6F3B18-9794-8D67-4E54-DBB149DA1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Cordon, Drain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7BF94D-E964-10E7-D832-8B9DC03E3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 실행</a:t>
            </a:r>
            <a:r>
              <a:rPr lang="en-US" altLang="ko-KR" dirty="0"/>
              <a:t>(</a:t>
            </a:r>
            <a:r>
              <a:rPr lang="ko-KR" altLang="en-US" dirty="0"/>
              <a:t>이어서</a:t>
            </a:r>
            <a:r>
              <a:rPr lang="en-US" altLang="ko-KR" dirty="0"/>
              <a:t>)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61365C-4E9B-F9AA-72E3-9A55ACE6FD48}"/>
              </a:ext>
            </a:extLst>
          </p:cNvPr>
          <p:cNvSpPr txBox="1"/>
          <p:nvPr/>
        </p:nvSpPr>
        <p:spPr>
          <a:xfrm>
            <a:off x="515380" y="1484784"/>
            <a:ext cx="11388507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Pod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를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8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개로 늘렸다가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6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개로 다시 줄임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$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scale deployment/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--replicas=8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$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scale deployment/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--replicas=6</a:t>
            </a:r>
          </a:p>
          <a:p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노드별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Pod 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배치 조회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$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get pods -o wide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NAME                       READY   STATUS    RESTARTS   AGE   IP              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NODE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NOMINATED NODE   READINESS GATES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nodeapp-58f488464c-7rb2x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1/1     Running   0      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21m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10.244.189.80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worker2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&lt;none&gt;           &lt;none&gt;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nodeapp-58f488464c-fmsx9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1/1     Running   0      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21m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10.244.189.81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worker2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&lt;none&gt;           &lt;none&gt;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nodeapp-58f488464c-hwgld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1/1     Running   0      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95s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10.244.182.50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worker3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&lt;none&gt;           &lt;none&gt;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nodeapp-58f488464c-s4v2b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1/1     Running   0      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21m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10.244.235.152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worker1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&lt;none&gt;           &lt;none&gt;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nodeapp-58f488464c-x4hxw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1/1     Running   0      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95s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10.244.182.51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worker3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&lt;none&gt;           &lt;none&gt;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nodeapp-58f488464c-zx6jk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1/1     Running   0      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21m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10.244.235.153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worker1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&lt;none&gt;           &lt;none&gt;</a:t>
            </a:r>
          </a:p>
          <a:p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테스트가 완료되었다면 리소스 제거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$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delete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-f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drain.yaml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03376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8898C5-BFAF-0146-68F5-3BE96D7CB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PDB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B81533-3D52-84C2-75B5-12ADD85E3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PDB(Pod </a:t>
            </a:r>
            <a:r>
              <a:rPr lang="en-US" altLang="ko-KR" dirty="0" err="1"/>
              <a:t>Distruption</a:t>
            </a:r>
            <a:r>
              <a:rPr lang="en-US" altLang="ko-KR" dirty="0"/>
              <a:t> Budget)</a:t>
            </a:r>
          </a:p>
          <a:p>
            <a:pPr lvl="1"/>
            <a:r>
              <a:rPr lang="ko-KR" altLang="en-US" dirty="0"/>
              <a:t>자발적 중단으로 인해 동시에 종료된 애플리케이션 </a:t>
            </a:r>
            <a:r>
              <a:rPr lang="en-US" altLang="ko-KR" dirty="0"/>
              <a:t>Pod</a:t>
            </a:r>
            <a:r>
              <a:rPr lang="ko-KR" altLang="en-US" dirty="0"/>
              <a:t> 수를 제한하는 객체</a:t>
            </a:r>
            <a:endParaRPr lang="en-US" altLang="ko-KR" dirty="0"/>
          </a:p>
          <a:p>
            <a:pPr lvl="1"/>
            <a:r>
              <a:rPr lang="ko-KR" altLang="en-US" dirty="0"/>
              <a:t>모든 자발적 중단이 </a:t>
            </a:r>
            <a:r>
              <a:rPr lang="en-US" altLang="ko-KR" dirty="0"/>
              <a:t>PDB</a:t>
            </a:r>
            <a:r>
              <a:rPr lang="ko-KR" altLang="en-US" dirty="0"/>
              <a:t>에 연관된 것은 아님</a:t>
            </a:r>
            <a:r>
              <a:rPr lang="en-US" altLang="ko-KR" dirty="0"/>
              <a:t>. </a:t>
            </a:r>
          </a:p>
          <a:p>
            <a:pPr lvl="1"/>
            <a:r>
              <a:rPr lang="en-US" altLang="ko-KR" dirty="0"/>
              <a:t>Deployment </a:t>
            </a:r>
            <a:r>
              <a:rPr lang="ko-KR" altLang="en-US" dirty="0"/>
              <a:t>의 축소</a:t>
            </a:r>
            <a:r>
              <a:rPr lang="en-US" altLang="ko-KR" dirty="0"/>
              <a:t>, </a:t>
            </a:r>
            <a:r>
              <a:rPr lang="ko-KR" altLang="en-US" dirty="0"/>
              <a:t>삭제는 </a:t>
            </a:r>
            <a:r>
              <a:rPr lang="en-US" altLang="ko-KR" dirty="0"/>
              <a:t>PDB</a:t>
            </a:r>
            <a:r>
              <a:rPr lang="ko-KR" altLang="en-US" dirty="0"/>
              <a:t>를 무시함</a:t>
            </a:r>
            <a:r>
              <a:rPr lang="en-US" altLang="ko-KR" dirty="0"/>
              <a:t> --&gt; Controller</a:t>
            </a:r>
            <a:r>
              <a:rPr lang="ko-KR" altLang="en-US" dirty="0"/>
              <a:t>의 상태 변경이므로</a:t>
            </a:r>
            <a:endParaRPr lang="en-US" altLang="ko-KR" dirty="0"/>
          </a:p>
          <a:p>
            <a:r>
              <a:rPr lang="ko-KR" altLang="en-US" dirty="0"/>
              <a:t>자발적 중단과 비자발적 중단</a:t>
            </a:r>
            <a:endParaRPr lang="en-US" altLang="ko-KR" dirty="0"/>
          </a:p>
          <a:p>
            <a:pPr lvl="1"/>
            <a:r>
              <a:rPr lang="ko-KR" altLang="en-US" dirty="0"/>
              <a:t>비자발적 중단</a:t>
            </a:r>
            <a:endParaRPr lang="en-US" altLang="ko-KR" dirty="0"/>
          </a:p>
          <a:p>
            <a:pPr lvl="2"/>
            <a:r>
              <a:rPr lang="ko-KR" altLang="en-US" dirty="0"/>
              <a:t>노드가 실행되는 물리적 장비의 하드웨어 오류</a:t>
            </a:r>
            <a:endParaRPr lang="en-US" altLang="ko-KR" dirty="0"/>
          </a:p>
          <a:p>
            <a:pPr lvl="2"/>
            <a:r>
              <a:rPr lang="ko-KR" altLang="en-US" dirty="0"/>
              <a:t>노드의 리소스 부족으로 인한 </a:t>
            </a:r>
            <a:r>
              <a:rPr lang="en-US" altLang="ko-KR" dirty="0"/>
              <a:t>Pod Eviction</a:t>
            </a:r>
          </a:p>
          <a:p>
            <a:pPr lvl="2"/>
            <a:r>
              <a:rPr lang="ko-KR" altLang="en-US" dirty="0"/>
              <a:t>노드의 운영체제 커널 패닉</a:t>
            </a:r>
            <a:r>
              <a:rPr lang="en-US" altLang="ko-KR" dirty="0"/>
              <a:t>, </a:t>
            </a:r>
            <a:r>
              <a:rPr lang="ko-KR" altLang="en-US" dirty="0"/>
              <a:t> 네트워크 장애</a:t>
            </a:r>
            <a:endParaRPr lang="en-US" altLang="ko-KR" dirty="0"/>
          </a:p>
          <a:p>
            <a:pPr lvl="1"/>
            <a:r>
              <a:rPr lang="ko-KR" altLang="en-US" dirty="0"/>
              <a:t>자발적 중단</a:t>
            </a:r>
            <a:endParaRPr lang="en-US" altLang="ko-KR" dirty="0"/>
          </a:p>
          <a:p>
            <a:pPr lvl="2"/>
            <a:r>
              <a:rPr lang="en-US" altLang="ko-KR" dirty="0"/>
              <a:t>Pod</a:t>
            </a:r>
            <a:r>
              <a:rPr lang="ko-KR" altLang="en-US" dirty="0"/>
              <a:t>의 직접 삭제</a:t>
            </a:r>
            <a:r>
              <a:rPr lang="en-US" altLang="ko-KR" dirty="0"/>
              <a:t>, Node</a:t>
            </a:r>
            <a:r>
              <a:rPr lang="ko-KR" altLang="en-US" dirty="0"/>
              <a:t>의 </a:t>
            </a:r>
            <a:r>
              <a:rPr lang="en-US" altLang="ko-KR" dirty="0"/>
              <a:t>Draining</a:t>
            </a:r>
          </a:p>
          <a:p>
            <a:pPr lvl="2"/>
            <a:r>
              <a:rPr lang="en-US" altLang="ko-KR" dirty="0"/>
              <a:t>Deployment </a:t>
            </a:r>
            <a:r>
              <a:rPr lang="ko-KR" altLang="en-US" dirty="0"/>
              <a:t>제거</a:t>
            </a:r>
            <a:r>
              <a:rPr lang="en-US" altLang="ko-KR" dirty="0"/>
              <a:t> </a:t>
            </a:r>
            <a:r>
              <a:rPr lang="ko-KR" altLang="en-US" dirty="0"/>
              <a:t>또는 </a:t>
            </a:r>
            <a:r>
              <a:rPr lang="en-US" altLang="ko-KR" dirty="0"/>
              <a:t>Pod </a:t>
            </a:r>
            <a:r>
              <a:rPr lang="ko-KR" altLang="en-US" dirty="0"/>
              <a:t>를 관리하는 컨트롤러의 삭제</a:t>
            </a:r>
            <a:endParaRPr lang="en-US" altLang="ko-KR" dirty="0"/>
          </a:p>
          <a:p>
            <a:pPr lvl="2"/>
            <a:r>
              <a:rPr lang="ko-KR" altLang="en-US" dirty="0"/>
              <a:t>재시작을 유발하는 </a:t>
            </a:r>
            <a:r>
              <a:rPr lang="en-US" altLang="ko-KR" dirty="0"/>
              <a:t>Deployment</a:t>
            </a:r>
            <a:r>
              <a:rPr lang="ko-KR" altLang="en-US" dirty="0"/>
              <a:t>의 </a:t>
            </a:r>
            <a:r>
              <a:rPr lang="en-US" altLang="ko-KR" dirty="0"/>
              <a:t>Template </a:t>
            </a:r>
            <a:r>
              <a:rPr lang="ko-KR" altLang="en-US" dirty="0"/>
              <a:t>업데이트</a:t>
            </a:r>
            <a:endParaRPr lang="en-US" altLang="ko-KR" dirty="0"/>
          </a:p>
          <a:p>
            <a:pPr lvl="2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496133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599A7C-E5C5-4D25-FACA-80069E4A6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PDB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A38070-D180-0A64-E532-35B9AB917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deploy-</a:t>
            </a:r>
            <a:r>
              <a:rPr lang="en-US" altLang="ko-KR" dirty="0" err="1"/>
              <a:t>pdb.yaml</a:t>
            </a:r>
            <a:r>
              <a:rPr lang="en-US" altLang="ko-KR" dirty="0"/>
              <a:t>                                   </a:t>
            </a:r>
            <a:r>
              <a:rPr lang="en-US" altLang="ko-KR" dirty="0" err="1"/>
              <a:t>pdb.yaml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FBE3FD-FF01-FF23-25E6-740F54AE8AD7}"/>
              </a:ext>
            </a:extLst>
          </p:cNvPr>
          <p:cNvSpPr txBox="1"/>
          <p:nvPr/>
        </p:nvSpPr>
        <p:spPr>
          <a:xfrm>
            <a:off x="5807968" y="1506905"/>
            <a:ext cx="4464496" cy="24622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app=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인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pod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의 최소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Pod 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실행 수가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5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개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---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apiVersion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 policy/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v1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kind: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PodDisruptionBudget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metadata: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nodeapp-pdb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spec: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minAvailable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 5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selector: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matchLabels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app: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818A5F-865D-3BC7-5EE6-FA81E51F4E0B}"/>
              </a:ext>
            </a:extLst>
          </p:cNvPr>
          <p:cNvSpPr txBox="1"/>
          <p:nvPr/>
        </p:nvSpPr>
        <p:spPr>
          <a:xfrm>
            <a:off x="599769" y="1506905"/>
            <a:ext cx="4560128" cy="461664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apiVersion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 apps/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v1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kind: Deployment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metadata: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namespace: default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spec: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replicas: 6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selector: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matchLabels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app: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template: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metadata: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name: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labels: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app: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spec: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containers: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- name: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image: stepanowon/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nodeapp-slim:1.0.0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ports: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-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containerPort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 8080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45461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353945-B373-9650-5990-CC42BB8C7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PDB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9BA7F3-C329-3ED6-5949-5EE8AA5F9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 실행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940014-2BFB-6A02-E804-7C16A58929E3}"/>
              </a:ext>
            </a:extLst>
          </p:cNvPr>
          <p:cNvSpPr txBox="1"/>
          <p:nvPr/>
        </p:nvSpPr>
        <p:spPr>
          <a:xfrm>
            <a:off x="599768" y="1506905"/>
            <a:ext cx="11148860" cy="440120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apply -f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pdb.yaml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apply -f deploy-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pdb.yaml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각 노드당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2</a:t>
            </a:r>
            <a:r>
              <a:rPr lang="ko-KR" altLang="en-US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개씩의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Pod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가 배치됨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get pods -o wide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NAME                       READY   STATUS    RESTARTS   AGE   IP              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NODE 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  NOMINATED NODE   READINESS GATES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nodeapp-58f488464c-48tb2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1/1     Running   0      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41s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10.244.189.87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worker2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&lt;none&gt;           &lt;none&gt;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nodeapp-58f488464c-76xnb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1/1     Running   0      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41s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10.244.182.56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worker3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&lt;none&gt;           &lt;none&gt;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nodeapp-58f488464c-9fl82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1/1     Running   0      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41s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10.244.235.160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worker1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&lt;none&gt;           &lt;none&gt;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nodeapp-58f488464c-f86hm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1/1     Running   0      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41s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10.244.235.159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worker1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&lt;none&gt;           &lt;none&gt;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nodeapp-58f488464c-fg6hd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1/1     Running   0      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41s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10.244.189.88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worker2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&lt;none&gt;           &lt;none&gt;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nodeapp-58f488464c-x6thg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1/1     Running   0         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41s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10.244.182.55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worker3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 &lt;none&gt;           &lt;none&gt;</a:t>
            </a:r>
          </a:p>
          <a:p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deployment 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의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replicas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를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5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개 미만으로 </a:t>
            </a:r>
            <a:r>
              <a:rPr lang="ko-KR" altLang="en-US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줄여봄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. 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정상적으로 축소됨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. 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왜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? Controller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의 상태 변경이므로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scale deployment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--replicas=3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get pods</a:t>
            </a:r>
          </a:p>
          <a:p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deployment 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의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replicas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를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6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개로 재설정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scale deployment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--replicas=6</a:t>
            </a:r>
          </a:p>
          <a:p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48491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AE6EE0-AF4F-B645-F4B5-A2BF15942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PDB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C718B1-81C1-FE2C-6F51-1C224EEA4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리소스 정리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62957C-765F-AC5B-C5D0-2B2E29CEE8E9}"/>
              </a:ext>
            </a:extLst>
          </p:cNvPr>
          <p:cNvSpPr txBox="1"/>
          <p:nvPr/>
        </p:nvSpPr>
        <p:spPr>
          <a:xfrm>
            <a:off x="599768" y="1506905"/>
            <a:ext cx="11148860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터미널 창을 하나 새로 더 열어서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worker3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노드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drain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drain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worker3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--ignore-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daemonsets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--delete-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emptydir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-data --force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기존 터미널 창에서 다음 명령어 실행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. Pod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가 하나씩 중단되면서 새로운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Pod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가 실행됨을 알 수 있음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특정 시점에 실행중인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Pod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가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5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개 이하가 되어서는 안됨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get pods -o wide</a:t>
            </a:r>
          </a:p>
          <a:p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새로운 터미널창에서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worker2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노드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drain </a:t>
            </a: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drain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worker2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--ignore-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daemonsets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--delete-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emptydir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-data --force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기존 터미널 창에서 다음 명령어를 실행하여 각 노드별 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Pod 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확인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get pods -o wide</a:t>
            </a:r>
          </a:p>
          <a:p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리소스 삭제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delete -f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pdb.yaml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delete -f deploy-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pdb.yaml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worker2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,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worker3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ko-KR" altLang="en-US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를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uncordon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uncordon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worker2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uncordon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worker3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83693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5F38C6-2EB0-AEDB-F17D-0A9FDA2C0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en-US" altLang="ko-KR" dirty="0" err="1"/>
              <a:t>HPA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A2756F-8724-F3C7-95D3-35A878390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HPA</a:t>
            </a:r>
            <a:r>
              <a:rPr lang="en-US" altLang="ko-KR" dirty="0"/>
              <a:t>(Horizontal Pod </a:t>
            </a:r>
            <a:r>
              <a:rPr lang="en-US" altLang="ko-KR" dirty="0" err="1"/>
              <a:t>Autoscaler</a:t>
            </a:r>
            <a:r>
              <a:rPr lang="en-US" altLang="ko-KR" dirty="0"/>
              <a:t>)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수평적 </a:t>
            </a:r>
            <a:r>
              <a:rPr lang="ko-KR" altLang="en-US" dirty="0" err="1"/>
              <a:t>파드</a:t>
            </a:r>
            <a:r>
              <a:rPr lang="ko-KR" altLang="en-US" dirty="0"/>
              <a:t> </a:t>
            </a:r>
            <a:r>
              <a:rPr lang="ko-KR" altLang="en-US" dirty="0" err="1"/>
              <a:t>오토스케일러로써</a:t>
            </a:r>
            <a:r>
              <a:rPr lang="ko-KR" altLang="en-US" dirty="0"/>
              <a:t> </a:t>
            </a:r>
            <a:r>
              <a:rPr lang="en-US" altLang="ko-KR" dirty="0"/>
              <a:t>pod</a:t>
            </a:r>
            <a:r>
              <a:rPr lang="ko-KR" altLang="en-US" dirty="0"/>
              <a:t>의 </a:t>
            </a:r>
            <a:r>
              <a:rPr lang="ko-KR" altLang="en-US" dirty="0" err="1"/>
              <a:t>갯수를</a:t>
            </a:r>
            <a:r>
              <a:rPr lang="ko-KR" altLang="en-US" dirty="0"/>
              <a:t> 자동으로 확장</a:t>
            </a:r>
            <a:r>
              <a:rPr lang="en-US" altLang="ko-KR" dirty="0"/>
              <a:t>, </a:t>
            </a:r>
            <a:r>
              <a:rPr lang="ko-KR" altLang="en-US" dirty="0"/>
              <a:t>축소시키는 기능을 제공함</a:t>
            </a:r>
            <a:endParaRPr lang="en-US" altLang="ko-KR" dirty="0"/>
          </a:p>
          <a:p>
            <a:pPr lvl="1"/>
            <a:r>
              <a:rPr lang="ko-KR" altLang="en-US" dirty="0"/>
              <a:t>사용하는 기반 지표 예</a:t>
            </a:r>
            <a:endParaRPr lang="en-US" altLang="ko-KR" dirty="0"/>
          </a:p>
          <a:p>
            <a:pPr lvl="2"/>
            <a:r>
              <a:rPr lang="en-US" altLang="ko-KR" dirty="0"/>
              <a:t>Default : CPU</a:t>
            </a:r>
            <a:r>
              <a:rPr lang="ko-KR" altLang="en-US" dirty="0"/>
              <a:t> 사용률</a:t>
            </a:r>
            <a:endParaRPr lang="en-US" altLang="ko-KR" dirty="0"/>
          </a:p>
          <a:p>
            <a:pPr lvl="2"/>
            <a:r>
              <a:rPr lang="ko-KR" altLang="en-US" dirty="0"/>
              <a:t>확장 </a:t>
            </a:r>
            <a:r>
              <a:rPr lang="en-US" altLang="ko-KR" dirty="0"/>
              <a:t>: </a:t>
            </a:r>
            <a:r>
              <a:rPr lang="ko-KR" altLang="en-US" dirty="0"/>
              <a:t>메모리 또는 사용자 정의 지표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Prometheus </a:t>
            </a:r>
            <a:r>
              <a:rPr lang="ko-KR" altLang="en-US" dirty="0"/>
              <a:t>에서 수집된 지표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사전 조건 </a:t>
            </a:r>
            <a:endParaRPr lang="en-US" altLang="ko-KR" dirty="0"/>
          </a:p>
          <a:p>
            <a:pPr lvl="2"/>
            <a:r>
              <a:rPr lang="en-US" altLang="ko-KR" dirty="0" err="1"/>
              <a:t>k8s</a:t>
            </a:r>
            <a:r>
              <a:rPr lang="en-US" altLang="ko-KR" dirty="0"/>
              <a:t>-metrics-server </a:t>
            </a:r>
            <a:r>
              <a:rPr lang="ko-KR" altLang="en-US" dirty="0"/>
              <a:t>가 설치되어 있어야 함</a:t>
            </a:r>
            <a:endParaRPr lang="en-US" altLang="ko-KR" dirty="0"/>
          </a:p>
          <a:p>
            <a:pPr lvl="2"/>
            <a:r>
              <a:rPr lang="ko-KR" altLang="en-US" dirty="0"/>
              <a:t>대상 리소스는 </a:t>
            </a:r>
            <a:r>
              <a:rPr lang="en-US" altLang="ko-KR" dirty="0"/>
              <a:t>Deployment, </a:t>
            </a:r>
            <a:r>
              <a:rPr lang="en-US" altLang="ko-KR" dirty="0" err="1"/>
              <a:t>Replicaset</a:t>
            </a:r>
            <a:r>
              <a:rPr lang="en-US" altLang="ko-KR" dirty="0"/>
              <a:t>, </a:t>
            </a:r>
            <a:r>
              <a:rPr lang="en-US" altLang="ko-KR" dirty="0" err="1"/>
              <a:t>Statefulset</a:t>
            </a:r>
            <a:r>
              <a:rPr lang="en-US" altLang="ko-KR" dirty="0"/>
              <a:t> </a:t>
            </a:r>
            <a:r>
              <a:rPr lang="ko-KR" altLang="en-US" dirty="0"/>
              <a:t>이어야 함</a:t>
            </a:r>
            <a:endParaRPr lang="en-US" altLang="ko-KR" dirty="0"/>
          </a:p>
          <a:p>
            <a:pPr lvl="2"/>
            <a:r>
              <a:rPr lang="ko-KR" altLang="en-US" dirty="0"/>
              <a:t>리소스 요구사항이 정의되어 있어야 함</a:t>
            </a:r>
            <a:endParaRPr lang="en-US" altLang="ko-KR" dirty="0"/>
          </a:p>
          <a:p>
            <a:pPr lvl="3"/>
            <a:r>
              <a:rPr lang="en-US" altLang="ko-KR" dirty="0"/>
              <a:t>CPU, Memory</a:t>
            </a:r>
            <a:r>
              <a:rPr lang="ko-KR" altLang="en-US" dirty="0"/>
              <a:t>에 대한 </a:t>
            </a:r>
            <a:r>
              <a:rPr lang="en-US" altLang="ko-KR" dirty="0"/>
              <a:t>requests </a:t>
            </a:r>
            <a:r>
              <a:rPr lang="ko-KR" altLang="en-US" dirty="0"/>
              <a:t>가 설정되어 있어야 함</a:t>
            </a:r>
            <a:endParaRPr lang="en-US" altLang="ko-KR" dirty="0"/>
          </a:p>
          <a:p>
            <a:pPr lvl="3"/>
            <a:r>
              <a:rPr lang="en-US" altLang="ko-KR" dirty="0"/>
              <a:t>limits </a:t>
            </a:r>
            <a:r>
              <a:rPr lang="ko-KR" altLang="en-US" dirty="0"/>
              <a:t>만 있고 </a:t>
            </a:r>
            <a:r>
              <a:rPr lang="en-US" altLang="ko-KR" dirty="0"/>
              <a:t>requests</a:t>
            </a:r>
            <a:r>
              <a:rPr lang="ko-KR" altLang="en-US" dirty="0"/>
              <a:t>가 설정되지 않은 경우는 오작동할 수 있음</a:t>
            </a:r>
            <a:endParaRPr lang="en-US" altLang="ko-KR" dirty="0"/>
          </a:p>
          <a:p>
            <a:pPr lvl="2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825972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78F765-CFCF-F491-3F4B-0BAA443E0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en-US" altLang="ko-KR" dirty="0" err="1"/>
              <a:t>HPA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243D6C-A8F6-94B8-9418-A881BA702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HPA</a:t>
            </a:r>
            <a:r>
              <a:rPr lang="ko-KR" altLang="en-US" dirty="0"/>
              <a:t> 테스트 </a:t>
            </a:r>
            <a:endParaRPr lang="en-US" altLang="ko-KR" dirty="0"/>
          </a:p>
          <a:p>
            <a:pPr lvl="1"/>
            <a:r>
              <a:rPr lang="en-US" altLang="ko-KR" dirty="0"/>
              <a:t>CPU </a:t>
            </a:r>
            <a:r>
              <a:rPr lang="ko-KR" altLang="en-US" dirty="0"/>
              <a:t>부하를 발생시키는 </a:t>
            </a:r>
            <a:r>
              <a:rPr lang="en-US" altLang="ko-KR" dirty="0"/>
              <a:t>Deployment </a:t>
            </a:r>
            <a:r>
              <a:rPr lang="ko-KR" altLang="en-US" dirty="0"/>
              <a:t>배포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BD82B0-5171-864C-6B79-48508F044FE3}"/>
              </a:ext>
            </a:extLst>
          </p:cNvPr>
          <p:cNvSpPr txBox="1"/>
          <p:nvPr/>
        </p:nvSpPr>
        <p:spPr>
          <a:xfrm>
            <a:off x="695400" y="1916832"/>
            <a:ext cx="5508612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hpa-deploy.yaml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apiVersion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apps/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v1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kind: Deployment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metadata: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hpa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-deploy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spec: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replicas: 1       #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시작 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 replicas 1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selector: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matchLabels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app: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hpa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-deploy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template: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metadata: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labels: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app: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hpa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-deploy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AAEC43-B936-A5A0-400C-6584C8A7B81B}"/>
              </a:ext>
            </a:extLst>
          </p:cNvPr>
          <p:cNvSpPr txBox="1"/>
          <p:nvPr/>
        </p:nvSpPr>
        <p:spPr>
          <a:xfrm>
            <a:off x="6340692" y="1916832"/>
            <a:ext cx="5508612" cy="304698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spec: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containers: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- name: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hpa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-deploy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image: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vish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/stress   # CPU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부하생성 이미지</a:t>
            </a:r>
          </a:p>
          <a:p>
            <a:r>
              <a:rPr lang="ko-KR" altLang="en-US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args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- -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cpus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- "1"            # 1 CPU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를 지속 사용</a:t>
            </a:r>
          </a:p>
          <a:p>
            <a:r>
              <a:rPr lang="ko-KR" altLang="en-US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resources: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requests: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cpu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100m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limits: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cpu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200m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00553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FDF6E4-418E-9C36-9947-F8050BFB9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2.9 </a:t>
            </a:r>
            <a:r>
              <a:rPr lang="en-US" altLang="ko-KR" dirty="0" err="1"/>
              <a:t>HPA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339BA5-6008-FDB4-5126-F935E3817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dirty="0" err="1"/>
              <a:t>HPA</a:t>
            </a:r>
            <a:r>
              <a:rPr lang="ko-KR" altLang="en-US" dirty="0"/>
              <a:t> 리소스 생성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3D1518-59F7-ACD6-AED4-850EFD1AC88A}"/>
              </a:ext>
            </a:extLst>
          </p:cNvPr>
          <p:cNvSpPr txBox="1"/>
          <p:nvPr/>
        </p:nvSpPr>
        <p:spPr>
          <a:xfrm>
            <a:off x="839416" y="1520788"/>
            <a:ext cx="8352928" cy="501675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hpa.yaml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apiVersion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autoscaling/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v2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kind: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HorizontalPodAutoscaler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metadata: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hpa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-test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spec: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scaleTargetRef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apiVersion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apps/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v1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kind: Deployment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name: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hpa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-deploy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minReplicas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1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maxReplicas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8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metrics: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- type: Resource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resource: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name: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cpu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#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타겟이 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50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에 도달하면 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replicas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가 확장됨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target: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type: Utilization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averageUtilization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50</a:t>
            </a:r>
          </a:p>
        </p:txBody>
      </p:sp>
    </p:spTree>
    <p:extLst>
      <p:ext uri="{BB962C8B-B14F-4D97-AF65-F5344CB8AC3E}">
        <p14:creationId xmlns:p14="http://schemas.microsoft.com/office/powerpoint/2010/main" val="127969665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2C3D4A-A1E8-F581-D7CA-30383C5EA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en-US" altLang="ko-KR" dirty="0" err="1"/>
              <a:t>HPA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24D280-7F80-F558-7839-C996E4E8A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 dirty="0"/>
              <a:t>예제 적용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843F8C-99EC-3474-DFA2-64AF818D7734}"/>
              </a:ext>
            </a:extLst>
          </p:cNvPr>
          <p:cNvSpPr txBox="1"/>
          <p:nvPr/>
        </p:nvSpPr>
        <p:spPr>
          <a:xfrm>
            <a:off x="839416" y="1520788"/>
            <a:ext cx="8352928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 deployment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배포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apply -f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hpa-deploy.yaml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 Pod 1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개 생성된 것 확인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ko-KR" altLang="en-US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get</a:t>
            </a:r>
            <a:r>
              <a:rPr lang="ko-KR" altLang="en-US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pods</a:t>
            </a:r>
          </a:p>
          <a:p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HPA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리소스 적용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apply -f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hpa.yaml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 Pod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목록 지속 확인하여 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Pod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동적 생성 확인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.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중단은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CTRL+C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watch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get pods -l app=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hpa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-deploy</a:t>
            </a:r>
          </a:p>
          <a:p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HPA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상태 실시간 모니터링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watch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get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hpa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테스트 완료 후 리소스 정리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delete -f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hpa.yaml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delete -f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hpa-deploy.yaml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72589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CB9B50-5910-9D3C-CADE-3A79CCB91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3.4 VPA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240D1C-DA20-4EEF-CB95-53BF6CA61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VPA(Vertical Pod </a:t>
            </a:r>
            <a:r>
              <a:rPr lang="en-US" altLang="ko-KR" dirty="0" err="1"/>
              <a:t>Autoscaler</a:t>
            </a:r>
            <a:r>
              <a:rPr lang="en-US" altLang="ko-KR" dirty="0"/>
              <a:t>)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Pod</a:t>
            </a:r>
            <a:r>
              <a:rPr lang="ko-KR" altLang="en-US" dirty="0"/>
              <a:t>가 사용하는 </a:t>
            </a:r>
            <a:r>
              <a:rPr lang="en-US" altLang="ko-KR" dirty="0"/>
              <a:t>CPU</a:t>
            </a:r>
            <a:r>
              <a:rPr lang="ko-KR" altLang="en-US" dirty="0"/>
              <a:t>와 메모리의 사용량을 자동으로 조절해주는 기능</a:t>
            </a:r>
            <a:endParaRPr lang="en-US" altLang="ko-KR" dirty="0"/>
          </a:p>
          <a:p>
            <a:pPr lvl="1"/>
            <a:r>
              <a:rPr lang="en-US" altLang="ko-KR" dirty="0"/>
              <a:t>VPA</a:t>
            </a:r>
            <a:r>
              <a:rPr lang="ko-KR" altLang="en-US" dirty="0"/>
              <a:t>는 </a:t>
            </a:r>
            <a:r>
              <a:rPr lang="en-US" altLang="ko-KR" dirty="0" err="1"/>
              <a:t>HPA</a:t>
            </a:r>
            <a:r>
              <a:rPr lang="ko-KR" altLang="en-US" dirty="0"/>
              <a:t>와는 달리 </a:t>
            </a:r>
            <a:r>
              <a:rPr lang="en-US" altLang="ko-KR" dirty="0"/>
              <a:t>Pod</a:t>
            </a:r>
            <a:r>
              <a:rPr lang="ko-KR" altLang="en-US" dirty="0"/>
              <a:t>의 </a:t>
            </a:r>
            <a:r>
              <a:rPr lang="ko-KR" altLang="en-US" dirty="0" err="1"/>
              <a:t>갯수는</a:t>
            </a:r>
            <a:r>
              <a:rPr lang="ko-KR" altLang="en-US" dirty="0"/>
              <a:t> 유지하면서 리소스 요구사항</a:t>
            </a:r>
            <a:r>
              <a:rPr lang="en-US" altLang="ko-KR" dirty="0"/>
              <a:t>(requests, limits) </a:t>
            </a:r>
            <a:r>
              <a:rPr lang="ko-KR" altLang="en-US" dirty="0"/>
              <a:t>값을 조정함</a:t>
            </a:r>
            <a:endParaRPr lang="en-US" altLang="ko-KR" dirty="0"/>
          </a:p>
          <a:p>
            <a:pPr lvl="1"/>
            <a:r>
              <a:rPr lang="ko-KR" altLang="en-US" dirty="0"/>
              <a:t>리소스를 너무 적게 또는 너무 많이 요구하는 </a:t>
            </a:r>
            <a:r>
              <a:rPr lang="en-US" altLang="ko-KR" dirty="0"/>
              <a:t>Pod</a:t>
            </a:r>
            <a:r>
              <a:rPr lang="ko-KR" altLang="en-US" dirty="0"/>
              <a:t>를 최적화하여 리소스 낭비를 줄이고 안정성을 높이도록 함</a:t>
            </a:r>
            <a:endParaRPr lang="en-US" altLang="ko-KR" dirty="0"/>
          </a:p>
          <a:p>
            <a:r>
              <a:rPr lang="ko-KR" altLang="en-US" dirty="0"/>
              <a:t>작동 방식</a:t>
            </a:r>
            <a:endParaRPr lang="en-US" altLang="ko-KR" dirty="0"/>
          </a:p>
          <a:p>
            <a:pPr lvl="1"/>
            <a:r>
              <a:rPr lang="en-US" altLang="ko-KR" dirty="0"/>
              <a:t>metrics-server </a:t>
            </a:r>
            <a:r>
              <a:rPr lang="ko-KR" altLang="en-US" dirty="0"/>
              <a:t>와 </a:t>
            </a:r>
            <a:r>
              <a:rPr lang="en-US" altLang="ko-KR" dirty="0"/>
              <a:t>Recommender</a:t>
            </a:r>
            <a:r>
              <a:rPr lang="ko-KR" altLang="en-US" dirty="0"/>
              <a:t>가 </a:t>
            </a:r>
            <a:r>
              <a:rPr lang="en-US" altLang="ko-KR" dirty="0"/>
              <a:t>CPU, </a:t>
            </a:r>
            <a:r>
              <a:rPr lang="ko-KR" altLang="en-US" dirty="0"/>
              <a:t>메모리 사용량을 수집</a:t>
            </a:r>
            <a:endParaRPr lang="en-US" altLang="ko-KR" dirty="0"/>
          </a:p>
          <a:p>
            <a:pPr lvl="1"/>
            <a:r>
              <a:rPr lang="ko-KR" altLang="en-US" dirty="0"/>
              <a:t>일정 시간 동안의 데이터를 기반으로 추천 리소스 용량</a:t>
            </a:r>
            <a:r>
              <a:rPr lang="en-US" altLang="ko-KR" dirty="0"/>
              <a:t>(requests, limits) </a:t>
            </a:r>
            <a:r>
              <a:rPr lang="ko-KR" altLang="en-US" dirty="0"/>
              <a:t>계산</a:t>
            </a:r>
            <a:endParaRPr lang="en-US" altLang="ko-KR" dirty="0"/>
          </a:p>
          <a:p>
            <a:pPr lvl="1"/>
            <a:r>
              <a:rPr lang="en-US" altLang="ko-KR" dirty="0"/>
              <a:t>Updater</a:t>
            </a:r>
            <a:r>
              <a:rPr lang="ko-KR" altLang="en-US" dirty="0"/>
              <a:t>가 리소스 조정이 필요한 </a:t>
            </a:r>
            <a:r>
              <a:rPr lang="en-US" altLang="ko-KR" dirty="0"/>
              <a:t>Pod</a:t>
            </a:r>
            <a:r>
              <a:rPr lang="ko-KR" altLang="en-US" dirty="0"/>
              <a:t>를 </a:t>
            </a:r>
            <a:r>
              <a:rPr lang="ko-KR" altLang="en-US" dirty="0" err="1"/>
              <a:t>재시작하도록</a:t>
            </a:r>
            <a:r>
              <a:rPr lang="ko-KR" altLang="en-US" dirty="0"/>
              <a:t> 하여 새로운 리소스 반영</a:t>
            </a:r>
            <a:endParaRPr lang="en-US" altLang="ko-KR" dirty="0"/>
          </a:p>
          <a:p>
            <a:r>
              <a:rPr lang="en-US" altLang="ko-KR" dirty="0"/>
              <a:t>VPA </a:t>
            </a:r>
            <a:r>
              <a:rPr lang="en-US" altLang="ko-KR" dirty="0" err="1"/>
              <a:t>updateMode</a:t>
            </a:r>
            <a:endParaRPr lang="en-US" altLang="ko-KR" dirty="0"/>
          </a:p>
          <a:p>
            <a:pPr lvl="1"/>
            <a:r>
              <a:rPr lang="en-US" altLang="ko-KR" dirty="0"/>
              <a:t>Auto : </a:t>
            </a:r>
            <a:r>
              <a:rPr lang="ko-KR" altLang="en-US" dirty="0"/>
              <a:t>리소스를 자동 조정하고 </a:t>
            </a:r>
            <a:r>
              <a:rPr lang="en-US" altLang="ko-KR" dirty="0"/>
              <a:t>pod</a:t>
            </a:r>
            <a:r>
              <a:rPr lang="ko-KR" altLang="en-US" dirty="0"/>
              <a:t>도 자동 재시작</a:t>
            </a:r>
            <a:endParaRPr lang="en-US" altLang="ko-KR" dirty="0"/>
          </a:p>
          <a:p>
            <a:pPr lvl="1"/>
            <a:r>
              <a:rPr lang="en-US" altLang="ko-KR" dirty="0"/>
              <a:t>Initial : </a:t>
            </a:r>
            <a:r>
              <a:rPr lang="ko-KR" altLang="en-US" dirty="0"/>
              <a:t>처음 </a:t>
            </a:r>
            <a:r>
              <a:rPr lang="en-US" altLang="ko-KR" dirty="0"/>
              <a:t>Pod</a:t>
            </a:r>
            <a:r>
              <a:rPr lang="ko-KR" altLang="en-US" dirty="0"/>
              <a:t>를 생성할 때만 </a:t>
            </a:r>
            <a:r>
              <a:rPr lang="ko-KR" altLang="en-US" dirty="0" err="1"/>
              <a:t>추천값</a:t>
            </a:r>
            <a:r>
              <a:rPr lang="ko-KR" altLang="en-US" dirty="0"/>
              <a:t> 적용</a:t>
            </a:r>
            <a:endParaRPr lang="en-US" altLang="ko-KR" dirty="0"/>
          </a:p>
          <a:p>
            <a:pPr lvl="1"/>
            <a:r>
              <a:rPr lang="en-US" altLang="ko-KR" dirty="0"/>
              <a:t>Off : </a:t>
            </a:r>
            <a:r>
              <a:rPr lang="ko-KR" altLang="en-US" dirty="0" err="1"/>
              <a:t>권장값을</a:t>
            </a:r>
            <a:r>
              <a:rPr lang="ko-KR" altLang="en-US" dirty="0"/>
              <a:t> 추천만 할 뿐 실제 적용하지 않음</a:t>
            </a:r>
            <a:r>
              <a:rPr lang="en-US" altLang="ko-KR" dirty="0"/>
              <a:t>(</a:t>
            </a:r>
            <a:r>
              <a:rPr lang="ko-KR" altLang="en-US" dirty="0"/>
              <a:t>리소스 낭비를 분석하기 위한 용도</a:t>
            </a:r>
            <a:r>
              <a:rPr lang="en-US" altLang="ko-KR" dirty="0"/>
              <a:t>)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77311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080450-CC3C-2BA6-06FC-CC1BA27F7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3.4 VPA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155A38-7073-5857-106B-041EB978D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VPA </a:t>
            </a:r>
            <a:r>
              <a:rPr lang="ko-KR" altLang="en-US" dirty="0"/>
              <a:t>구성요소 설치</a:t>
            </a:r>
            <a:endParaRPr lang="en-US" altLang="ko-KR" dirty="0"/>
          </a:p>
          <a:p>
            <a:pPr lvl="1"/>
            <a:r>
              <a:rPr lang="en-US" altLang="ko-KR" dirty="0"/>
              <a:t>recommender, updater, Admission Controller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538A20-A5D8-71D0-3A69-83FB1A98EF9D}"/>
              </a:ext>
            </a:extLst>
          </p:cNvPr>
          <p:cNvSpPr txBox="1"/>
          <p:nvPr/>
        </p:nvSpPr>
        <p:spPr>
          <a:xfrm>
            <a:off x="839416" y="1965025"/>
            <a:ext cx="8352928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 Git Clone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후 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Shell Script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실행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git clone https://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github.com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/Kubernetes/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autoscaler.git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cd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autoscaler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/vertical-pod-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autoscaler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/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./hack/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vpa-up.sh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설치 구성요소 확인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 3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가지 구성요소 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vpa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-admission-controller,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vpa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-recommender,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vpa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-updater</a:t>
            </a: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ko-KR" altLang="en-US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get</a:t>
            </a:r>
            <a:r>
              <a:rPr lang="ko-KR" altLang="en-US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deployment -n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-system</a:t>
            </a:r>
          </a:p>
          <a:p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 Pod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가 정상 </a:t>
            </a:r>
            <a:r>
              <a:rPr lang="ko-KR" altLang="en-US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실행중인지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확인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get pods -n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-system | grep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vpa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디렉토리를 작업 경로로 다시 이동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cd ../..</a:t>
            </a:r>
          </a:p>
        </p:txBody>
      </p:sp>
    </p:spTree>
    <p:extLst>
      <p:ext uri="{BB962C8B-B14F-4D97-AF65-F5344CB8AC3E}">
        <p14:creationId xmlns:p14="http://schemas.microsoft.com/office/powerpoint/2010/main" val="27481629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EE7E85-F3B3-A780-245D-361092E54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3.4 VPA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E4A4FC-211D-A57E-F81E-64F422F61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VPA </a:t>
            </a:r>
            <a:r>
              <a:rPr lang="ko-KR" altLang="en-US" dirty="0"/>
              <a:t>테스트</a:t>
            </a:r>
            <a:endParaRPr lang="en-US" altLang="ko-KR" dirty="0"/>
          </a:p>
          <a:p>
            <a:pPr lvl="1"/>
            <a:r>
              <a:rPr lang="ko-KR" altLang="en-US" dirty="0"/>
              <a:t>테스트용 </a:t>
            </a:r>
            <a:r>
              <a:rPr lang="en-US" altLang="ko-KR" dirty="0"/>
              <a:t>Deployment</a:t>
            </a:r>
          </a:p>
          <a:p>
            <a:pPr lvl="2"/>
            <a:r>
              <a:rPr lang="en-US" altLang="ko-KR" dirty="0" err="1"/>
              <a:t>kubectl</a:t>
            </a:r>
            <a:r>
              <a:rPr lang="ko-KR" altLang="en-US" dirty="0"/>
              <a:t> </a:t>
            </a:r>
            <a:r>
              <a:rPr lang="en-US" altLang="ko-KR" dirty="0"/>
              <a:t>apply</a:t>
            </a:r>
            <a:r>
              <a:rPr lang="ko-KR" altLang="en-US" dirty="0"/>
              <a:t> </a:t>
            </a:r>
            <a:r>
              <a:rPr lang="en-US" altLang="ko-KR" dirty="0"/>
              <a:t>-f</a:t>
            </a:r>
            <a:r>
              <a:rPr lang="ko-KR" altLang="en-US" dirty="0"/>
              <a:t> </a:t>
            </a:r>
            <a:r>
              <a:rPr lang="en-US" altLang="ko-KR" dirty="0" err="1"/>
              <a:t>vpa-deploy.yaml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9D4020-E410-7272-4841-74295D98691F}"/>
              </a:ext>
            </a:extLst>
          </p:cNvPr>
          <p:cNvSpPr txBox="1"/>
          <p:nvPr/>
        </p:nvSpPr>
        <p:spPr>
          <a:xfrm>
            <a:off x="947428" y="2240868"/>
            <a:ext cx="4860540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vpa-deploy.yaml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apiVersion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apps/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v1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kind: Deployment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metadata: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vpa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-deploy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spec: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replicas: 1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selector: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matchLabels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app: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vpa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-deploy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template: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metadata: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labels: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app: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vpa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-deploy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C9F379-9D7C-C6BB-C3D9-9B959CDDAFD4}"/>
              </a:ext>
            </a:extLst>
          </p:cNvPr>
          <p:cNvSpPr txBox="1"/>
          <p:nvPr/>
        </p:nvSpPr>
        <p:spPr>
          <a:xfrm>
            <a:off x="5987988" y="2240868"/>
            <a:ext cx="4860540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spec: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containers: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- name: stress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image: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vish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/stress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args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- -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cpus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- "1"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## </a:t>
            </a:r>
            <a:r>
              <a:rPr lang="ko-KR" altLang="en-US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초기설정값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확인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resources: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requests: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cpu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 "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100m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"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memory: "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128Mi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"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limits: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cpu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 "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200m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"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memory: "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256Mi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46652001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37B2DA-EB4F-4830-009E-1D46F2C65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3.4 VPA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3F6812-150D-2E5D-0045-F6155E507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dirty="0"/>
              <a:t>VPA </a:t>
            </a:r>
            <a:r>
              <a:rPr lang="ko-KR" altLang="en-US" dirty="0"/>
              <a:t>리소스 생성</a:t>
            </a:r>
            <a:endParaRPr lang="en-US" altLang="ko-KR" dirty="0"/>
          </a:p>
          <a:p>
            <a:pPr lvl="2"/>
            <a:r>
              <a:rPr lang="en-US" altLang="ko-KR" dirty="0" err="1"/>
              <a:t>kubectl</a:t>
            </a:r>
            <a:r>
              <a:rPr lang="en-US" altLang="ko-KR" dirty="0"/>
              <a:t> apply -f </a:t>
            </a:r>
            <a:r>
              <a:rPr lang="en-US" altLang="ko-KR" dirty="0" err="1"/>
              <a:t>vpa.yaml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VPA</a:t>
            </a:r>
            <a:r>
              <a:rPr lang="ko-KR" altLang="en-US" dirty="0"/>
              <a:t>가 추천하는 값을 확인</a:t>
            </a:r>
            <a:endParaRPr lang="en-US" altLang="ko-KR" dirty="0"/>
          </a:p>
          <a:p>
            <a:pPr lvl="2"/>
            <a:r>
              <a:rPr lang="en-US" altLang="ko-KR" dirty="0" err="1"/>
              <a:t>kubectl</a:t>
            </a:r>
            <a:r>
              <a:rPr lang="en-US" altLang="ko-KR" dirty="0"/>
              <a:t> describe </a:t>
            </a:r>
            <a:r>
              <a:rPr lang="en-US" altLang="ko-KR" dirty="0" err="1"/>
              <a:t>vpa</a:t>
            </a:r>
            <a:r>
              <a:rPr lang="en-US" altLang="ko-KR" dirty="0"/>
              <a:t> </a:t>
            </a:r>
            <a:r>
              <a:rPr lang="en-US" altLang="ko-KR" dirty="0" err="1"/>
              <a:t>vpa</a:t>
            </a:r>
            <a:r>
              <a:rPr lang="en-US" altLang="ko-KR" dirty="0"/>
              <a:t>-demo  </a:t>
            </a:r>
            <a:r>
              <a:rPr lang="ko-KR" altLang="en-US" dirty="0"/>
              <a:t>명령실행</a:t>
            </a:r>
            <a:endParaRPr lang="en-US" altLang="ko-KR" dirty="0"/>
          </a:p>
          <a:p>
            <a:pPr lvl="2"/>
            <a:r>
              <a:rPr lang="ko-KR" altLang="en-US" dirty="0"/>
              <a:t>출력 결과에서 </a:t>
            </a:r>
            <a:r>
              <a:rPr lang="en-US" altLang="ko-KR" dirty="0"/>
              <a:t>Recommendation </a:t>
            </a:r>
            <a:r>
              <a:rPr lang="ko-KR" altLang="en-US" dirty="0"/>
              <a:t>영역을 확인</a:t>
            </a:r>
            <a:endParaRPr lang="en-US" altLang="ko-KR" dirty="0"/>
          </a:p>
          <a:p>
            <a:pPr lvl="3"/>
            <a:r>
              <a:rPr lang="ko-KR" altLang="en-US" dirty="0"/>
              <a:t>지속적으로 실행하면 </a:t>
            </a:r>
            <a:r>
              <a:rPr lang="en-US" altLang="ko-KR" dirty="0"/>
              <a:t>CPU, </a:t>
            </a:r>
            <a:r>
              <a:rPr lang="ko-KR" altLang="en-US" dirty="0"/>
              <a:t>메모리 </a:t>
            </a:r>
            <a:r>
              <a:rPr lang="ko-KR" altLang="en-US" dirty="0" err="1"/>
              <a:t>추천값이</a:t>
            </a:r>
            <a:r>
              <a:rPr lang="ko-KR" altLang="en-US" dirty="0"/>
              <a:t> 증가하는 것을 확인할 수 있음</a:t>
            </a:r>
            <a:r>
              <a:rPr lang="en-US" altLang="ko-KR" dirty="0"/>
              <a:t>. </a:t>
            </a:r>
            <a:r>
              <a:rPr lang="ko-KR" altLang="en-US" dirty="0"/>
              <a:t>약간의 시간</a:t>
            </a:r>
            <a:r>
              <a:rPr lang="en-US" altLang="ko-KR" dirty="0"/>
              <a:t>(2-3</a:t>
            </a:r>
            <a:r>
              <a:rPr lang="ko-KR" altLang="en-US" dirty="0"/>
              <a:t>분</a:t>
            </a:r>
            <a:r>
              <a:rPr lang="en-US" altLang="ko-KR" dirty="0"/>
              <a:t>)</a:t>
            </a:r>
            <a:r>
              <a:rPr lang="ko-KR" altLang="en-US" dirty="0"/>
              <a:t>이 소요됨</a:t>
            </a:r>
            <a:endParaRPr lang="en-US" altLang="ko-KR" dirty="0"/>
          </a:p>
          <a:p>
            <a:pPr lvl="3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35B2FA-2243-9515-89BD-858C762FF143}"/>
              </a:ext>
            </a:extLst>
          </p:cNvPr>
          <p:cNvSpPr txBox="1"/>
          <p:nvPr/>
        </p:nvSpPr>
        <p:spPr>
          <a:xfrm>
            <a:off x="1091444" y="1844824"/>
            <a:ext cx="4860540" cy="304698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##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vpa.yaml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apiVersion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autoscaling.k8s.io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/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v1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kind: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VerticalPodAutoscaler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metadata: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vpa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-demo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spec: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targetRef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apiVersion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 "apps/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v1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"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kind: Deployment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name: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vpa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-deploy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updatePolicy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updateMode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 "Auto"</a:t>
            </a:r>
          </a:p>
        </p:txBody>
      </p:sp>
    </p:spTree>
    <p:extLst>
      <p:ext uri="{BB962C8B-B14F-4D97-AF65-F5344CB8AC3E}">
        <p14:creationId xmlns:p14="http://schemas.microsoft.com/office/powerpoint/2010/main" val="276019937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CAF173-2F5B-C4B8-8124-CF9796F7A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3.4 VPA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A1462B-62B0-B43A-9480-E7776BC6C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dirty="0"/>
              <a:t>Pod</a:t>
            </a:r>
            <a:r>
              <a:rPr lang="ko-KR" altLang="en-US" dirty="0"/>
              <a:t> 재시작과 조정된 리소스 확인 </a:t>
            </a:r>
            <a:r>
              <a:rPr lang="en-US" altLang="ko-KR" dirty="0"/>
              <a:t>: </a:t>
            </a:r>
            <a:r>
              <a:rPr lang="ko-KR" altLang="en-US" dirty="0"/>
              <a:t>약간의 시간 소요</a:t>
            </a:r>
            <a:endParaRPr lang="en-US" altLang="ko-KR" dirty="0"/>
          </a:p>
          <a:p>
            <a:pPr lvl="2"/>
            <a:r>
              <a:rPr lang="en-US" altLang="ko-KR" dirty="0" err="1"/>
              <a:t>kubectl</a:t>
            </a:r>
            <a:r>
              <a:rPr lang="en-US" altLang="ko-KR" dirty="0"/>
              <a:t> get pods -l app=</a:t>
            </a:r>
            <a:r>
              <a:rPr lang="en-US" altLang="ko-KR" dirty="0" err="1"/>
              <a:t>vpa</a:t>
            </a:r>
            <a:r>
              <a:rPr lang="en-US" altLang="ko-KR" dirty="0"/>
              <a:t>-deploy --watch</a:t>
            </a:r>
          </a:p>
          <a:p>
            <a:pPr lvl="2"/>
            <a:r>
              <a:rPr lang="en-US" altLang="ko-KR" dirty="0" err="1"/>
              <a:t>kubectl</a:t>
            </a:r>
            <a:r>
              <a:rPr lang="en-US" altLang="ko-KR" dirty="0"/>
              <a:t> get pods -o </a:t>
            </a:r>
            <a:r>
              <a:rPr lang="en-US" altLang="ko-KR" dirty="0" err="1"/>
              <a:t>json</a:t>
            </a:r>
            <a:r>
              <a:rPr lang="en-US" altLang="ko-KR" dirty="0"/>
              <a:t>  | </a:t>
            </a:r>
            <a:r>
              <a:rPr lang="en-US" altLang="ko-KR" dirty="0" err="1"/>
              <a:t>jq</a:t>
            </a:r>
            <a:r>
              <a:rPr lang="en-US" altLang="ko-KR" dirty="0"/>
              <a:t> '.items[].</a:t>
            </a:r>
            <a:r>
              <a:rPr lang="en-US" altLang="ko-KR" dirty="0" err="1"/>
              <a:t>spec.containers</a:t>
            </a:r>
            <a:r>
              <a:rPr lang="en-US" altLang="ko-KR" dirty="0"/>
              <a:t>[].resources'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 err="1"/>
              <a:t>재시작할지</a:t>
            </a:r>
            <a:r>
              <a:rPr lang="ko-KR" altLang="en-US" dirty="0"/>
              <a:t> 여부는 </a:t>
            </a:r>
            <a:r>
              <a:rPr lang="en-US" altLang="ko-KR" dirty="0" err="1"/>
              <a:t>vpa</a:t>
            </a:r>
            <a:r>
              <a:rPr lang="en-US" altLang="ko-KR" dirty="0"/>
              <a:t> updater</a:t>
            </a:r>
            <a:r>
              <a:rPr lang="ko-KR" altLang="en-US" dirty="0"/>
              <a:t>가 판단하는데 </a:t>
            </a:r>
            <a:r>
              <a:rPr lang="ko-KR" altLang="en-US" dirty="0" err="1"/>
              <a:t>추천값이</a:t>
            </a:r>
            <a:r>
              <a:rPr lang="ko-KR" altLang="en-US" dirty="0"/>
              <a:t> 현재의 </a:t>
            </a:r>
            <a:r>
              <a:rPr lang="en-US" altLang="ko-KR" dirty="0"/>
              <a:t>requests </a:t>
            </a:r>
            <a:r>
              <a:rPr lang="ko-KR" altLang="en-US" dirty="0"/>
              <a:t>값과 현저하게 차이가 날 때 재시작</a:t>
            </a:r>
            <a:endParaRPr lang="en-US" altLang="ko-KR" dirty="0"/>
          </a:p>
          <a:p>
            <a:pPr lvl="2"/>
            <a:r>
              <a:rPr lang="ko-KR" altLang="en-US" dirty="0"/>
              <a:t>막연하게 기다리기 힘들면 다음 명령을 실행해 </a:t>
            </a:r>
            <a:r>
              <a:rPr lang="en-US" altLang="ko-KR" dirty="0"/>
              <a:t>Pod</a:t>
            </a:r>
            <a:r>
              <a:rPr lang="ko-KR" altLang="en-US" dirty="0"/>
              <a:t>의 </a:t>
            </a:r>
            <a:r>
              <a:rPr lang="ko-KR" altLang="en-US" dirty="0" err="1"/>
              <a:t>갯수를</a:t>
            </a:r>
            <a:r>
              <a:rPr lang="ko-KR" altLang="en-US" dirty="0"/>
              <a:t> 늘려볼 것</a:t>
            </a:r>
            <a:endParaRPr lang="en-US" altLang="ko-KR" dirty="0"/>
          </a:p>
          <a:p>
            <a:pPr lvl="3"/>
            <a:r>
              <a:rPr lang="en-US" altLang="ko-KR" dirty="0" err="1"/>
              <a:t>kubectl</a:t>
            </a:r>
            <a:r>
              <a:rPr lang="en-US" altLang="ko-KR" dirty="0"/>
              <a:t> scale deployment </a:t>
            </a:r>
            <a:r>
              <a:rPr lang="en-US" altLang="ko-KR" dirty="0" err="1"/>
              <a:t>vpa</a:t>
            </a:r>
            <a:r>
              <a:rPr lang="en-US" altLang="ko-KR" dirty="0"/>
              <a:t>-deploy --replicas=2</a:t>
            </a:r>
          </a:p>
          <a:p>
            <a:pPr lvl="3"/>
            <a:r>
              <a:rPr lang="ko-KR" altLang="en-US" dirty="0"/>
              <a:t>신규로 생성되는 </a:t>
            </a:r>
            <a:r>
              <a:rPr lang="en-US" altLang="ko-KR" dirty="0"/>
              <a:t>Pod</a:t>
            </a:r>
            <a:r>
              <a:rPr lang="ko-KR" altLang="en-US" dirty="0"/>
              <a:t>에 </a:t>
            </a:r>
            <a:r>
              <a:rPr lang="ko-KR" altLang="en-US" dirty="0" err="1"/>
              <a:t>추천값</a:t>
            </a:r>
            <a:r>
              <a:rPr lang="ko-KR" altLang="en-US" dirty="0"/>
              <a:t> 적용됨을 확인</a:t>
            </a:r>
            <a:endParaRPr lang="en-US" altLang="ko-KR" dirty="0"/>
          </a:p>
          <a:p>
            <a:pPr lvl="2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2E62738-AA07-977D-1C0C-22574B700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452" y="2276872"/>
            <a:ext cx="8508268" cy="1965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41118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7ED5D9-577E-412B-C439-F5A03D626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3.4 VPA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1759A9-E007-53A8-8FFC-5BE86B5AC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리소스 정리</a:t>
            </a:r>
            <a:endParaRPr lang="en-US" altLang="ko-KR" dirty="0"/>
          </a:p>
          <a:p>
            <a:pPr lvl="1"/>
            <a:r>
              <a:rPr lang="en-US" altLang="ko-KR" dirty="0" err="1"/>
              <a:t>kubectl</a:t>
            </a:r>
            <a:r>
              <a:rPr lang="en-US" altLang="ko-KR" dirty="0"/>
              <a:t> delete -f </a:t>
            </a:r>
            <a:r>
              <a:rPr lang="en-US" altLang="ko-KR" dirty="0" err="1"/>
              <a:t>vpa.yaml</a:t>
            </a:r>
            <a:endParaRPr lang="en-US" altLang="ko-KR" dirty="0"/>
          </a:p>
          <a:p>
            <a:pPr lvl="1"/>
            <a:r>
              <a:rPr lang="en-US" altLang="ko-KR" dirty="0" err="1"/>
              <a:t>kubectl</a:t>
            </a:r>
            <a:r>
              <a:rPr lang="en-US" altLang="ko-KR" dirty="0"/>
              <a:t> delete -f </a:t>
            </a:r>
            <a:r>
              <a:rPr lang="en-US" altLang="ko-KR" dirty="0" err="1"/>
              <a:t>vpa-deploy.yaml</a:t>
            </a:r>
            <a:endParaRPr lang="en-US" altLang="ko-KR" dirty="0"/>
          </a:p>
          <a:p>
            <a:pPr lvl="1"/>
            <a:r>
              <a:rPr lang="en-US" altLang="ko-KR" dirty="0"/>
              <a:t>cd </a:t>
            </a:r>
            <a:r>
              <a:rPr lang="en-US" altLang="ko-KR" dirty="0" err="1"/>
              <a:t>autoscaler</a:t>
            </a:r>
            <a:r>
              <a:rPr lang="en-US" altLang="ko-KR" dirty="0"/>
              <a:t>/vertical-pod-</a:t>
            </a:r>
            <a:r>
              <a:rPr lang="en-US" altLang="ko-KR" dirty="0" err="1"/>
              <a:t>autoscaler</a:t>
            </a:r>
            <a:r>
              <a:rPr lang="en-US" altLang="ko-KR" dirty="0"/>
              <a:t>/</a:t>
            </a:r>
          </a:p>
          <a:p>
            <a:pPr lvl="1"/>
            <a:r>
              <a:rPr lang="en-US" altLang="ko-KR" dirty="0"/>
              <a:t>./hack/</a:t>
            </a:r>
            <a:r>
              <a:rPr lang="en-US" altLang="ko-KR" dirty="0" err="1"/>
              <a:t>vpa-down.sh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502215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7A3B3A-C7C7-FE46-E192-3D9D1B559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en-US" altLang="ko-KR" dirty="0" err="1"/>
              <a:t>k8s</a:t>
            </a:r>
            <a:r>
              <a:rPr lang="en-US" altLang="ko-KR" dirty="0"/>
              <a:t> </a:t>
            </a:r>
            <a:r>
              <a:rPr lang="ko-KR" altLang="en-US" dirty="0"/>
              <a:t>네트워킹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15363B-D71C-C3B5-825E-FC1451726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k8s</a:t>
            </a:r>
            <a:r>
              <a:rPr lang="en-US" altLang="ko-KR" dirty="0"/>
              <a:t> </a:t>
            </a:r>
            <a:r>
              <a:rPr lang="ko-KR" altLang="en-US" dirty="0"/>
              <a:t>네트워킹 개요</a:t>
            </a:r>
            <a:endParaRPr lang="en-US" altLang="ko-KR" dirty="0"/>
          </a:p>
          <a:p>
            <a:r>
              <a:rPr lang="en-US" altLang="ko-KR" dirty="0" err="1"/>
              <a:t>CNI</a:t>
            </a:r>
            <a:endParaRPr lang="en-US" altLang="ko-KR" dirty="0"/>
          </a:p>
          <a:p>
            <a:r>
              <a:rPr lang="en-US" altLang="ko-KR" dirty="0"/>
              <a:t>Calico </a:t>
            </a:r>
            <a:r>
              <a:rPr lang="en-US" altLang="ko-KR" dirty="0" err="1"/>
              <a:t>CNI</a:t>
            </a:r>
            <a:endParaRPr lang="en-US" altLang="ko-KR" dirty="0"/>
          </a:p>
          <a:p>
            <a:r>
              <a:rPr lang="en-US" altLang="ko-KR" dirty="0"/>
              <a:t>AWS </a:t>
            </a:r>
            <a:r>
              <a:rPr lang="en-US" altLang="ko-KR" dirty="0" err="1"/>
              <a:t>VPC</a:t>
            </a:r>
            <a:r>
              <a:rPr lang="en-US" altLang="ko-KR" dirty="0"/>
              <a:t> </a:t>
            </a:r>
            <a:r>
              <a:rPr lang="en-US" altLang="ko-KR" dirty="0" err="1"/>
              <a:t>CNI</a:t>
            </a:r>
            <a:endParaRPr lang="en-US" altLang="ko-KR" dirty="0"/>
          </a:p>
          <a:p>
            <a:r>
              <a:rPr lang="en-US" altLang="ko-KR" dirty="0"/>
              <a:t>Azure</a:t>
            </a:r>
            <a:r>
              <a:rPr lang="ko-KR" altLang="en-US" dirty="0"/>
              <a:t> </a:t>
            </a:r>
            <a:r>
              <a:rPr lang="en-US" altLang="ko-KR" dirty="0"/>
              <a:t>AKS</a:t>
            </a:r>
            <a:r>
              <a:rPr lang="ko-KR" altLang="en-US" dirty="0"/>
              <a:t>의 </a:t>
            </a:r>
            <a:r>
              <a:rPr lang="en-US" altLang="ko-KR" dirty="0" err="1"/>
              <a:t>CNI</a:t>
            </a:r>
            <a:endParaRPr lang="en-US" altLang="ko-KR" dirty="0"/>
          </a:p>
          <a:p>
            <a:r>
              <a:rPr lang="en-US" altLang="ko-KR" dirty="0"/>
              <a:t>Calico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이용한 네트워크 보안</a:t>
            </a:r>
          </a:p>
        </p:txBody>
      </p:sp>
    </p:spTree>
    <p:extLst>
      <p:ext uri="{BB962C8B-B14F-4D97-AF65-F5344CB8AC3E}">
        <p14:creationId xmlns:p14="http://schemas.microsoft.com/office/powerpoint/2010/main" val="105865288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021CBE-10A0-A247-EF19-F6BABDCB3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4.1 </a:t>
            </a:r>
            <a:r>
              <a:rPr lang="en-US" altLang="ko-KR" dirty="0" err="1"/>
              <a:t>k8s</a:t>
            </a:r>
            <a:r>
              <a:rPr lang="en-US" altLang="ko-KR" dirty="0"/>
              <a:t> </a:t>
            </a:r>
            <a:r>
              <a:rPr lang="ko-KR" altLang="en-US" dirty="0"/>
              <a:t>네트워킹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86298A-4E8B-DF85-0C58-BBB376E07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105" y="1016732"/>
            <a:ext cx="11532523" cy="5472608"/>
          </a:xfrm>
        </p:spPr>
        <p:txBody>
          <a:bodyPr/>
          <a:lstStyle/>
          <a:p>
            <a:r>
              <a:rPr lang="en-US" altLang="ko-KR" dirty="0"/>
              <a:t>Docker Container Network</a:t>
            </a:r>
          </a:p>
          <a:p>
            <a:pPr lvl="1"/>
            <a:r>
              <a:rPr lang="en-US" altLang="ko-KR" dirty="0"/>
              <a:t>Docker</a:t>
            </a:r>
            <a:r>
              <a:rPr lang="ko-KR" altLang="en-US" dirty="0"/>
              <a:t> </a:t>
            </a:r>
            <a:r>
              <a:rPr lang="en-US" altLang="ko-KR" dirty="0"/>
              <a:t>Bridge Network Mode</a:t>
            </a:r>
          </a:p>
          <a:p>
            <a:pPr lvl="2"/>
            <a:r>
              <a:rPr lang="ko-KR" altLang="en-US" dirty="0"/>
              <a:t>컨테이너를  시작할 때마다 호스트에 </a:t>
            </a:r>
            <a:r>
              <a:rPr lang="en-US" altLang="ko-KR" dirty="0" err="1"/>
              <a:t>veth</a:t>
            </a:r>
            <a:r>
              <a:rPr lang="en-US" altLang="ko-KR" dirty="0"/>
              <a:t> </a:t>
            </a:r>
            <a:r>
              <a:rPr lang="ko-KR" altLang="en-US" dirty="0"/>
              <a:t>라는 가상의 네트워크 인터페이스를 생성</a:t>
            </a:r>
            <a:endParaRPr lang="en-US" altLang="ko-KR" dirty="0"/>
          </a:p>
          <a:p>
            <a:pPr lvl="1"/>
            <a:r>
              <a:rPr lang="en-US" altLang="ko-KR" dirty="0"/>
              <a:t>Docker Container Network Mode</a:t>
            </a:r>
            <a:r>
              <a:rPr lang="ko-KR" altLang="en-US" dirty="0"/>
              <a:t> </a:t>
            </a:r>
            <a:r>
              <a:rPr lang="en-US" altLang="ko-KR" dirty="0"/>
              <a:t>: --net </a:t>
            </a:r>
            <a:r>
              <a:rPr lang="ko-KR" altLang="en-US" dirty="0"/>
              <a:t>옵션으로  </a:t>
            </a:r>
            <a:r>
              <a:rPr lang="en-US" altLang="ko-KR" dirty="0"/>
              <a:t>container</a:t>
            </a:r>
            <a:r>
              <a:rPr lang="ko-KR" altLang="en-US" dirty="0"/>
              <a:t>를 입력</a:t>
            </a:r>
            <a:endParaRPr lang="en-US" altLang="ko-KR" dirty="0"/>
          </a:p>
          <a:p>
            <a:pPr lvl="2"/>
            <a:r>
              <a:rPr lang="ko-KR" altLang="en-US" dirty="0"/>
              <a:t>다른 컨테이너의 </a:t>
            </a:r>
            <a:r>
              <a:rPr lang="ko-KR" altLang="en-US" dirty="0" err="1"/>
              <a:t>네크워크</a:t>
            </a:r>
            <a:r>
              <a:rPr lang="ko-KR" altLang="en-US" dirty="0"/>
              <a:t> 네임스페이스를 공유할 수 있음</a:t>
            </a:r>
            <a:r>
              <a:rPr lang="en-US" altLang="ko-KR" dirty="0"/>
              <a:t>. </a:t>
            </a:r>
            <a:r>
              <a:rPr lang="ko-KR" altLang="en-US" dirty="0"/>
              <a:t>내부 </a:t>
            </a:r>
            <a:r>
              <a:rPr lang="en-US" altLang="ko-KR" dirty="0"/>
              <a:t>IP, MAC </a:t>
            </a:r>
            <a:r>
              <a:rPr lang="ko-KR" altLang="en-US" dirty="0"/>
              <a:t>주소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4F02E848-B482-B225-88E3-A416A983E14E}"/>
              </a:ext>
            </a:extLst>
          </p:cNvPr>
          <p:cNvGrpSpPr/>
          <p:nvPr/>
        </p:nvGrpSpPr>
        <p:grpSpPr>
          <a:xfrm>
            <a:off x="748535" y="2994872"/>
            <a:ext cx="4356484" cy="3577611"/>
            <a:chOff x="587388" y="2096107"/>
            <a:chExt cx="4284476" cy="422555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11F6A97-3472-253F-A355-3A983C011D0E}"/>
                </a:ext>
              </a:extLst>
            </p:cNvPr>
            <p:cNvSpPr/>
            <p:nvPr/>
          </p:nvSpPr>
          <p:spPr>
            <a:xfrm>
              <a:off x="587388" y="2960948"/>
              <a:ext cx="4284476" cy="29883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DDFF368-31E0-15C9-BD45-EA22CA3A1BD3}"/>
                </a:ext>
              </a:extLst>
            </p:cNvPr>
            <p:cNvSpPr/>
            <p:nvPr/>
          </p:nvSpPr>
          <p:spPr>
            <a:xfrm>
              <a:off x="2009546" y="2672917"/>
              <a:ext cx="1440160" cy="51096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err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eth0</a:t>
              </a:r>
              <a:endParaRPr lang="en-US" altLang="ko-KR" sz="12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192.168.56.101</a:t>
              </a:r>
              <a:endParaRPr lang="ko-KR" altLang="en-US" sz="12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C9824C3-6519-188A-80CF-0538945D3170}"/>
                </a:ext>
              </a:extLst>
            </p:cNvPr>
            <p:cNvSpPr/>
            <p:nvPr/>
          </p:nvSpPr>
          <p:spPr>
            <a:xfrm>
              <a:off x="2009546" y="3466011"/>
              <a:ext cx="1440160" cy="51096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err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docker0</a:t>
              </a:r>
              <a:r>
                <a:rPr lang="en-US" altLang="ko-KR" sz="12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(Bridge)</a:t>
              </a:r>
            </a:p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10.244.0.1</a:t>
              </a:r>
              <a:endParaRPr lang="ko-KR" altLang="en-US" sz="12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5C3D5C5-1CB1-BFE1-B2D9-8C8E528183AE}"/>
                </a:ext>
              </a:extLst>
            </p:cNvPr>
            <p:cNvSpPr/>
            <p:nvPr/>
          </p:nvSpPr>
          <p:spPr>
            <a:xfrm>
              <a:off x="947428" y="4646437"/>
              <a:ext cx="1440160" cy="79010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2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endParaRPr lang="en-US" altLang="ko-KR" sz="12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r>
                <a:rPr lang="en-US" altLang="ko-KR" sz="1200" b="1" dirty="0" err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Container1</a:t>
              </a:r>
              <a:endParaRPr lang="ko-KR" altLang="en-US" sz="12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2DCE25E-DB17-172B-1D2A-F982201208E0}"/>
                </a:ext>
              </a:extLst>
            </p:cNvPr>
            <p:cNvSpPr/>
            <p:nvPr/>
          </p:nvSpPr>
          <p:spPr>
            <a:xfrm>
              <a:off x="3071664" y="4646437"/>
              <a:ext cx="1440160" cy="79010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2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endParaRPr lang="en-US" altLang="ko-KR" sz="12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r>
                <a:rPr lang="en-US" altLang="ko-KR" sz="1200" b="1" dirty="0" err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Container2</a:t>
              </a:r>
              <a:endParaRPr lang="ko-KR" altLang="en-US" sz="12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1421524-CDB2-4509-EB25-A307129404A3}"/>
                </a:ext>
              </a:extLst>
            </p:cNvPr>
            <p:cNvSpPr/>
            <p:nvPr/>
          </p:nvSpPr>
          <p:spPr>
            <a:xfrm>
              <a:off x="1298467" y="4149414"/>
              <a:ext cx="738082" cy="25548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err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veth0</a:t>
              </a:r>
              <a:endParaRPr lang="en-US" altLang="ko-KR" sz="12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69834366-43E0-EC5E-DE89-B098971053C9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>
              <a:off x="2729626" y="3183878"/>
              <a:ext cx="0" cy="282133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4CB73CDD-63C1-759B-8D28-F05872DA127D}"/>
                </a:ext>
              </a:extLst>
            </p:cNvPr>
            <p:cNvCxnSpPr>
              <a:cxnSpLocks/>
              <a:stCxn id="8" idx="2"/>
              <a:endCxn id="11" idx="0"/>
            </p:cNvCxnSpPr>
            <p:nvPr/>
          </p:nvCxnSpPr>
          <p:spPr>
            <a:xfrm flipH="1">
              <a:off x="1667508" y="3976972"/>
              <a:ext cx="1062118" cy="172442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EBDE871-B7F2-DF9A-B7AC-FD6B26633B7C}"/>
                </a:ext>
              </a:extLst>
            </p:cNvPr>
            <p:cNvSpPr txBox="1"/>
            <p:nvPr/>
          </p:nvSpPr>
          <p:spPr>
            <a:xfrm>
              <a:off x="1638173" y="5921788"/>
              <a:ext cx="2172742" cy="3998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dirty="0"/>
                <a:t>Bridge</a:t>
              </a:r>
              <a:r>
                <a:rPr lang="ko-KR" altLang="en-US" sz="1600" b="1" dirty="0"/>
                <a:t> </a:t>
              </a:r>
              <a:r>
                <a:rPr lang="en-US" altLang="ko-KR" sz="1600" b="1" dirty="0"/>
                <a:t>Network Mode</a:t>
              </a:r>
              <a:endParaRPr lang="ko-KR" altLang="en-US" sz="1600" b="1" dirty="0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519443A4-5D09-EF0C-563C-EB4240D38EAF}"/>
                </a:ext>
              </a:extLst>
            </p:cNvPr>
            <p:cNvSpPr/>
            <p:nvPr/>
          </p:nvSpPr>
          <p:spPr>
            <a:xfrm>
              <a:off x="3422703" y="4149656"/>
              <a:ext cx="738082" cy="25548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err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veth0</a:t>
              </a:r>
              <a:endParaRPr lang="en-US" altLang="ko-KR" sz="12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1A99F49A-570C-3451-4BD3-4DC223C359C8}"/>
                </a:ext>
              </a:extLst>
            </p:cNvPr>
            <p:cNvCxnSpPr>
              <a:cxnSpLocks/>
              <a:stCxn id="8" idx="2"/>
              <a:endCxn id="24" idx="0"/>
            </p:cNvCxnSpPr>
            <p:nvPr/>
          </p:nvCxnSpPr>
          <p:spPr>
            <a:xfrm>
              <a:off x="2729626" y="3976972"/>
              <a:ext cx="1062118" cy="172684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BB92D7F6-D759-5281-108A-9F5715C98D29}"/>
                </a:ext>
              </a:extLst>
            </p:cNvPr>
            <p:cNvSpPr/>
            <p:nvPr/>
          </p:nvSpPr>
          <p:spPr>
            <a:xfrm>
              <a:off x="947428" y="2559828"/>
              <a:ext cx="3554234" cy="1930109"/>
            </a:xfrm>
            <a:prstGeom prst="rect">
              <a:avLst/>
            </a:prstGeom>
            <a:noFill/>
            <a:ln>
              <a:solidFill>
                <a:schemeClr val="tx2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485043B-F0C8-EFD9-6263-A0B5EB50E182}"/>
                </a:ext>
              </a:extLst>
            </p:cNvPr>
            <p:cNvSpPr txBox="1"/>
            <p:nvPr/>
          </p:nvSpPr>
          <p:spPr>
            <a:xfrm>
              <a:off x="3506489" y="2096107"/>
              <a:ext cx="1034503" cy="508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b="1" dirty="0">
                  <a:solidFill>
                    <a:schemeClr val="tx2"/>
                  </a:solidFill>
                </a:rPr>
                <a:t>Host Network</a:t>
              </a:r>
            </a:p>
            <a:p>
              <a:pPr algn="ctr"/>
              <a:r>
                <a:rPr lang="en-US" altLang="ko-KR" sz="1100" b="1" dirty="0">
                  <a:solidFill>
                    <a:schemeClr val="tx2"/>
                  </a:solidFill>
                </a:rPr>
                <a:t>Namespace</a:t>
              </a:r>
              <a:endParaRPr lang="ko-KR" altLang="en-US" sz="1100" b="1" dirty="0">
                <a:solidFill>
                  <a:schemeClr val="tx2"/>
                </a:solidFill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23D7DA73-F02F-709B-F031-FEF7068B5AE2}"/>
                </a:ext>
              </a:extLst>
            </p:cNvPr>
            <p:cNvSpPr/>
            <p:nvPr/>
          </p:nvSpPr>
          <p:spPr>
            <a:xfrm>
              <a:off x="1037438" y="4642325"/>
              <a:ext cx="1260140" cy="35857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b="1" dirty="0" err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eth0</a:t>
              </a:r>
              <a:br>
                <a:rPr lang="en-US" altLang="ko-KR" sz="105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</a:br>
              <a:r>
                <a:rPr lang="en-US" altLang="ko-KR" sz="105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10.244.0.11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EE5A19C7-5CEE-5794-94C3-4A6B55DA1CE5}"/>
                </a:ext>
              </a:extLst>
            </p:cNvPr>
            <p:cNvSpPr/>
            <p:nvPr/>
          </p:nvSpPr>
          <p:spPr>
            <a:xfrm>
              <a:off x="3161674" y="4642325"/>
              <a:ext cx="1260140" cy="35857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b="1" dirty="0" err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eth0</a:t>
              </a:r>
              <a:br>
                <a:rPr lang="en-US" altLang="ko-KR" sz="105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</a:br>
              <a:r>
                <a:rPr lang="en-US" altLang="ko-KR" sz="105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10.244.0.12</a:t>
              </a:r>
            </a:p>
          </p:txBody>
        </p: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9EED4D0E-3B2F-102F-5E6F-48FE9CC0A5FB}"/>
                </a:ext>
              </a:extLst>
            </p:cNvPr>
            <p:cNvCxnSpPr>
              <a:cxnSpLocks/>
              <a:stCxn id="34" idx="0"/>
              <a:endCxn id="11" idx="2"/>
            </p:cNvCxnSpPr>
            <p:nvPr/>
          </p:nvCxnSpPr>
          <p:spPr>
            <a:xfrm flipV="1">
              <a:off x="1667508" y="4404895"/>
              <a:ext cx="0" cy="23743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BD13E6C4-7B3B-628E-C2B1-A2E0966E953C}"/>
                </a:ext>
              </a:extLst>
            </p:cNvPr>
            <p:cNvCxnSpPr>
              <a:cxnSpLocks/>
              <a:stCxn id="35" idx="0"/>
              <a:endCxn id="24" idx="2"/>
            </p:cNvCxnSpPr>
            <p:nvPr/>
          </p:nvCxnSpPr>
          <p:spPr>
            <a:xfrm flipV="1">
              <a:off x="3791744" y="4405137"/>
              <a:ext cx="0" cy="237188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0280258D-8DD1-982B-76A5-B12C19C89306}"/>
                </a:ext>
              </a:extLst>
            </p:cNvPr>
            <p:cNvSpPr/>
            <p:nvPr/>
          </p:nvSpPr>
          <p:spPr>
            <a:xfrm>
              <a:off x="840231" y="4602820"/>
              <a:ext cx="1691369" cy="833724"/>
            </a:xfrm>
            <a:prstGeom prst="rect">
              <a:avLst/>
            </a:prstGeom>
            <a:noFill/>
            <a:ln>
              <a:solidFill>
                <a:schemeClr val="tx2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BF25A8D7-6E28-53AD-BD5F-668D2356A51F}"/>
                </a:ext>
              </a:extLst>
            </p:cNvPr>
            <p:cNvSpPr/>
            <p:nvPr/>
          </p:nvSpPr>
          <p:spPr>
            <a:xfrm>
              <a:off x="2940851" y="4602820"/>
              <a:ext cx="1691369" cy="833724"/>
            </a:xfrm>
            <a:prstGeom prst="rect">
              <a:avLst/>
            </a:prstGeom>
            <a:noFill/>
            <a:ln>
              <a:solidFill>
                <a:schemeClr val="tx2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9E90BAE-8F85-4CC9-ECA7-DC127E3A609F}"/>
                </a:ext>
              </a:extLst>
            </p:cNvPr>
            <p:cNvSpPr txBox="1"/>
            <p:nvPr/>
          </p:nvSpPr>
          <p:spPr>
            <a:xfrm>
              <a:off x="973485" y="5458012"/>
              <a:ext cx="1352958" cy="508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b="1" dirty="0">
                  <a:solidFill>
                    <a:schemeClr val="tx2"/>
                  </a:solidFill>
                </a:rPr>
                <a:t>Container Network</a:t>
              </a:r>
            </a:p>
            <a:p>
              <a:pPr algn="ctr"/>
              <a:r>
                <a:rPr lang="en-US" altLang="ko-KR" sz="1100" b="1" dirty="0">
                  <a:solidFill>
                    <a:schemeClr val="tx2"/>
                  </a:solidFill>
                </a:rPr>
                <a:t>Namespace</a:t>
              </a:r>
              <a:endParaRPr lang="ko-KR" altLang="en-US" sz="1100" b="1" dirty="0">
                <a:solidFill>
                  <a:schemeClr val="tx2"/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28EC439-CFCE-BA56-8B52-38F1E5C0880C}"/>
                </a:ext>
              </a:extLst>
            </p:cNvPr>
            <p:cNvSpPr txBox="1"/>
            <p:nvPr/>
          </p:nvSpPr>
          <p:spPr>
            <a:xfrm>
              <a:off x="3081229" y="5458012"/>
              <a:ext cx="1352958" cy="508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b="1" dirty="0">
                  <a:solidFill>
                    <a:schemeClr val="tx2"/>
                  </a:solidFill>
                </a:rPr>
                <a:t>Container Network</a:t>
              </a:r>
            </a:p>
            <a:p>
              <a:pPr algn="ctr"/>
              <a:r>
                <a:rPr lang="en-US" altLang="ko-KR" sz="1100" b="1" dirty="0">
                  <a:solidFill>
                    <a:schemeClr val="tx2"/>
                  </a:solidFill>
                </a:rPr>
                <a:t>Namespace</a:t>
              </a:r>
              <a:endParaRPr lang="ko-KR" altLang="en-US" sz="11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042" name="그룹 1041">
            <a:extLst>
              <a:ext uri="{FF2B5EF4-FFF2-40B4-BE49-F238E27FC236}">
                <a16:creationId xmlns:a16="http://schemas.microsoft.com/office/drawing/2014/main" id="{68730F6A-074D-932C-6D18-C4E1AF36AD91}"/>
              </a:ext>
            </a:extLst>
          </p:cNvPr>
          <p:cNvGrpSpPr/>
          <p:nvPr/>
        </p:nvGrpSpPr>
        <p:grpSpPr>
          <a:xfrm>
            <a:off x="7085239" y="2987525"/>
            <a:ext cx="4356484" cy="3597563"/>
            <a:chOff x="7085239" y="2987525"/>
            <a:chExt cx="4356484" cy="3597563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B1F8EFDB-1D40-9C66-9DA2-560D9B363BC9}"/>
                </a:ext>
              </a:extLst>
            </p:cNvPr>
            <p:cNvSpPr/>
            <p:nvPr/>
          </p:nvSpPr>
          <p:spPr>
            <a:xfrm>
              <a:off x="7085239" y="3727100"/>
              <a:ext cx="4356484" cy="253010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7F1D63D0-EAFC-FF19-6F5F-5CEB662BCE92}"/>
                </a:ext>
              </a:extLst>
            </p:cNvPr>
            <p:cNvSpPr/>
            <p:nvPr/>
          </p:nvSpPr>
          <p:spPr>
            <a:xfrm>
              <a:off x="8531299" y="3483235"/>
              <a:ext cx="1464364" cy="4326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err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eth0</a:t>
              </a:r>
              <a:endParaRPr lang="en-US" altLang="ko-KR" sz="12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192.168.56.101</a:t>
              </a:r>
              <a:endParaRPr lang="ko-KR" altLang="en-US" sz="12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F52FDA39-8A3B-C713-E72E-638076875544}"/>
                </a:ext>
              </a:extLst>
            </p:cNvPr>
            <p:cNvSpPr/>
            <p:nvPr/>
          </p:nvSpPr>
          <p:spPr>
            <a:xfrm>
              <a:off x="8531299" y="4154718"/>
              <a:ext cx="1464364" cy="4326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err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docker0</a:t>
              </a:r>
              <a:r>
                <a:rPr lang="en-US" altLang="ko-KR" sz="12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(Bridge)</a:t>
              </a:r>
            </a:p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10.244.0.1</a:t>
              </a:r>
              <a:endParaRPr lang="ko-KR" altLang="en-US" sz="12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BD678C83-38E7-9728-4F09-9E04F042F363}"/>
                </a:ext>
              </a:extLst>
            </p:cNvPr>
            <p:cNvSpPr/>
            <p:nvPr/>
          </p:nvSpPr>
          <p:spPr>
            <a:xfrm>
              <a:off x="7680178" y="5154139"/>
              <a:ext cx="1362985" cy="6689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2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endParaRPr lang="en-US" altLang="ko-KR" sz="12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r>
                <a:rPr lang="en-US" altLang="ko-KR" sz="1200" b="1" dirty="0" err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Container1</a:t>
              </a:r>
              <a:endParaRPr lang="ko-KR" altLang="en-US" sz="12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9925CBC6-9B2D-F479-7D80-F9C18F3DCE5B}"/>
                </a:ext>
              </a:extLst>
            </p:cNvPr>
            <p:cNvCxnSpPr>
              <a:stCxn id="49" idx="2"/>
              <a:endCxn id="50" idx="0"/>
            </p:cNvCxnSpPr>
            <p:nvPr/>
          </p:nvCxnSpPr>
          <p:spPr>
            <a:xfrm>
              <a:off x="9263481" y="3915846"/>
              <a:ext cx="0" cy="238871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D4C3697-DF0A-100F-1EA9-A4DB2D198660}"/>
                </a:ext>
              </a:extLst>
            </p:cNvPr>
            <p:cNvSpPr txBox="1"/>
            <p:nvPr/>
          </p:nvSpPr>
          <p:spPr>
            <a:xfrm>
              <a:off x="8004604" y="6246534"/>
              <a:ext cx="25074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dirty="0"/>
                <a:t>Container Network Mode</a:t>
              </a:r>
              <a:endParaRPr lang="ko-KR" altLang="en-US" sz="1600" b="1" dirty="0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3F64F6E4-E199-A8AC-921F-89AEB3CF834D}"/>
                </a:ext>
              </a:extLst>
            </p:cNvPr>
            <p:cNvSpPr/>
            <p:nvPr/>
          </p:nvSpPr>
          <p:spPr>
            <a:xfrm>
              <a:off x="8531297" y="4754830"/>
              <a:ext cx="1464364" cy="21630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err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veth0</a:t>
              </a:r>
              <a:endParaRPr lang="en-US" altLang="ko-KR" sz="12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15F22DF7-9754-7C6F-C177-A1628DE23E9B}"/>
                </a:ext>
              </a:extLst>
            </p:cNvPr>
            <p:cNvCxnSpPr>
              <a:cxnSpLocks/>
              <a:stCxn id="50" idx="2"/>
              <a:endCxn id="57" idx="0"/>
            </p:cNvCxnSpPr>
            <p:nvPr/>
          </p:nvCxnSpPr>
          <p:spPr>
            <a:xfrm flipH="1">
              <a:off x="9263479" y="4587329"/>
              <a:ext cx="2" cy="167501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DDC97E4A-88C2-500A-5FB2-F21218C84A15}"/>
                </a:ext>
              </a:extLst>
            </p:cNvPr>
            <p:cNvSpPr/>
            <p:nvPr/>
          </p:nvSpPr>
          <p:spPr>
            <a:xfrm>
              <a:off x="7451330" y="3387487"/>
              <a:ext cx="3613969" cy="1634149"/>
            </a:xfrm>
            <a:prstGeom prst="rect">
              <a:avLst/>
            </a:prstGeom>
            <a:noFill/>
            <a:ln>
              <a:solidFill>
                <a:schemeClr val="tx2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6B30FB9-DE88-BBD0-C0CE-FAA1E0173D1A}"/>
                </a:ext>
              </a:extLst>
            </p:cNvPr>
            <p:cNvSpPr txBox="1"/>
            <p:nvPr/>
          </p:nvSpPr>
          <p:spPr>
            <a:xfrm>
              <a:off x="10082643" y="2987525"/>
              <a:ext cx="1051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b="1" dirty="0">
                  <a:solidFill>
                    <a:schemeClr val="tx2"/>
                  </a:solidFill>
                </a:rPr>
                <a:t>Host Network</a:t>
              </a:r>
            </a:p>
            <a:p>
              <a:pPr algn="ctr"/>
              <a:r>
                <a:rPr lang="en-US" altLang="ko-KR" sz="1100" b="1" dirty="0">
                  <a:solidFill>
                    <a:schemeClr val="tx2"/>
                  </a:solidFill>
                </a:rPr>
                <a:t>Namespace</a:t>
              </a:r>
              <a:endParaRPr lang="ko-KR" altLang="en-US" sz="1100" b="1" dirty="0">
                <a:solidFill>
                  <a:schemeClr val="tx2"/>
                </a:solidFill>
              </a:endParaRPr>
            </a:p>
          </p:txBody>
        </p: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6B7A2D07-7B55-DCC7-B86B-6B1864D395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512" y="4949635"/>
              <a:ext cx="0" cy="201023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직선 화살표 연결선 1023">
              <a:extLst>
                <a:ext uri="{FF2B5EF4-FFF2-40B4-BE49-F238E27FC236}">
                  <a16:creationId xmlns:a16="http://schemas.microsoft.com/office/drawing/2014/main" id="{8FCA4240-BD37-FDA6-1403-5F32E784626C}"/>
                </a:ext>
              </a:extLst>
            </p:cNvPr>
            <p:cNvCxnSpPr>
              <a:cxnSpLocks/>
              <a:endCxn id="57" idx="2"/>
            </p:cNvCxnSpPr>
            <p:nvPr/>
          </p:nvCxnSpPr>
          <p:spPr>
            <a:xfrm flipV="1">
              <a:off x="9258314" y="4971136"/>
              <a:ext cx="5165" cy="179521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9" name="TextBox 1028">
              <a:extLst>
                <a:ext uri="{FF2B5EF4-FFF2-40B4-BE49-F238E27FC236}">
                  <a16:creationId xmlns:a16="http://schemas.microsoft.com/office/drawing/2014/main" id="{C2A7C8F5-FE6C-CA75-568E-87C5F926F2B8}"/>
                </a:ext>
              </a:extLst>
            </p:cNvPr>
            <p:cNvSpPr txBox="1"/>
            <p:nvPr/>
          </p:nvSpPr>
          <p:spPr>
            <a:xfrm>
              <a:off x="9620993" y="5841268"/>
              <a:ext cx="137569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b="1" dirty="0">
                  <a:solidFill>
                    <a:schemeClr val="tx2"/>
                  </a:solidFill>
                </a:rPr>
                <a:t>Container Network</a:t>
              </a:r>
            </a:p>
            <a:p>
              <a:pPr algn="ctr"/>
              <a:r>
                <a:rPr lang="en-US" altLang="ko-KR" sz="1100" b="1" dirty="0">
                  <a:solidFill>
                    <a:schemeClr val="tx2"/>
                  </a:solidFill>
                </a:rPr>
                <a:t>Namespace</a:t>
              </a:r>
              <a:endParaRPr lang="ko-KR" altLang="en-US" sz="1100" b="1" dirty="0">
                <a:solidFill>
                  <a:schemeClr val="tx2"/>
                </a:solidFill>
              </a:endParaRPr>
            </a:p>
          </p:txBody>
        </p:sp>
        <p:sp>
          <p:nvSpPr>
            <p:cNvPr id="1038" name="직사각형 1037">
              <a:extLst>
                <a:ext uri="{FF2B5EF4-FFF2-40B4-BE49-F238E27FC236}">
                  <a16:creationId xmlns:a16="http://schemas.microsoft.com/office/drawing/2014/main" id="{57735EB7-54B0-C546-4903-68AA4F57404D}"/>
                </a:ext>
              </a:extLst>
            </p:cNvPr>
            <p:cNvSpPr/>
            <p:nvPr/>
          </p:nvSpPr>
          <p:spPr>
            <a:xfrm>
              <a:off x="9432631" y="5146704"/>
              <a:ext cx="1362985" cy="6689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2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endParaRPr lang="en-US" altLang="ko-KR" sz="12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r>
                <a:rPr lang="en-US" altLang="ko-KR" sz="1200" b="1" dirty="0" err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Container2</a:t>
              </a:r>
              <a:endParaRPr lang="ko-KR" altLang="en-US" sz="12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sp>
          <p:nvSpPr>
            <p:cNvPr id="1040" name="직사각형 1039">
              <a:extLst>
                <a:ext uri="{FF2B5EF4-FFF2-40B4-BE49-F238E27FC236}">
                  <a16:creationId xmlns:a16="http://schemas.microsoft.com/office/drawing/2014/main" id="{A55030E7-D6AF-5AA5-9686-5EFA7B194BE7}"/>
                </a:ext>
              </a:extLst>
            </p:cNvPr>
            <p:cNvSpPr/>
            <p:nvPr/>
          </p:nvSpPr>
          <p:spPr>
            <a:xfrm>
              <a:off x="8617654" y="5150657"/>
              <a:ext cx="1281319" cy="30359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b="1" dirty="0" err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eth0</a:t>
              </a:r>
              <a:br>
                <a:rPr lang="en-US" altLang="ko-KR" sz="105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</a:br>
              <a:r>
                <a:rPr lang="en-US" altLang="ko-KR" sz="105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10.244.0.11</a:t>
              </a:r>
            </a:p>
          </p:txBody>
        </p:sp>
        <p:sp>
          <p:nvSpPr>
            <p:cNvPr id="1041" name="직사각형 1040">
              <a:extLst>
                <a:ext uri="{FF2B5EF4-FFF2-40B4-BE49-F238E27FC236}">
                  <a16:creationId xmlns:a16="http://schemas.microsoft.com/office/drawing/2014/main" id="{120D5B04-D6FC-CA20-8A1B-D6433A7E9CE1}"/>
                </a:ext>
              </a:extLst>
            </p:cNvPr>
            <p:cNvSpPr/>
            <p:nvPr/>
          </p:nvSpPr>
          <p:spPr>
            <a:xfrm>
              <a:off x="7463405" y="5094443"/>
              <a:ext cx="3613969" cy="815949"/>
            </a:xfrm>
            <a:prstGeom prst="rect">
              <a:avLst/>
            </a:prstGeom>
            <a:noFill/>
            <a:ln>
              <a:solidFill>
                <a:schemeClr val="tx2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348328877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5F2B7-9A1F-6C13-A87F-62C33B90F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4.1 </a:t>
            </a:r>
            <a:r>
              <a:rPr lang="en-US" altLang="ko-KR" dirty="0" err="1"/>
              <a:t>k8s</a:t>
            </a:r>
            <a:r>
              <a:rPr lang="en-US" altLang="ko-KR" dirty="0"/>
              <a:t> </a:t>
            </a:r>
            <a:r>
              <a:rPr lang="ko-KR" altLang="en-US" dirty="0"/>
              <a:t>네트워킹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EC0902-ACEE-FB69-46B8-E5B9567E7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k8s</a:t>
            </a:r>
            <a:r>
              <a:rPr lang="ko-KR" altLang="en-US" dirty="0"/>
              <a:t>의 한 </a:t>
            </a:r>
            <a:r>
              <a:rPr lang="en-US" altLang="ko-KR" dirty="0"/>
              <a:t>Pod </a:t>
            </a:r>
            <a:r>
              <a:rPr lang="ko-KR" altLang="en-US" dirty="0"/>
              <a:t>내에서의  컨테이너간 통신</a:t>
            </a:r>
            <a:endParaRPr lang="en-US" altLang="ko-KR" dirty="0"/>
          </a:p>
          <a:p>
            <a:pPr lvl="1"/>
            <a:r>
              <a:rPr lang="en-US" altLang="ko-KR" dirty="0"/>
              <a:t>Docker</a:t>
            </a:r>
            <a:r>
              <a:rPr lang="ko-KR" altLang="en-US" dirty="0"/>
              <a:t> </a:t>
            </a:r>
            <a:r>
              <a:rPr lang="en-US" altLang="ko-KR" dirty="0"/>
              <a:t>Container</a:t>
            </a:r>
            <a:r>
              <a:rPr lang="ko-KR" altLang="en-US" dirty="0"/>
              <a:t> </a:t>
            </a:r>
            <a:r>
              <a:rPr lang="en-US" altLang="ko-KR" dirty="0"/>
              <a:t>Network Mode</a:t>
            </a:r>
            <a:r>
              <a:rPr lang="ko-KR" altLang="en-US" dirty="0"/>
              <a:t> 개념을 </a:t>
            </a:r>
            <a:r>
              <a:rPr lang="en-US" altLang="ko-KR" dirty="0" err="1"/>
              <a:t>k8s</a:t>
            </a:r>
            <a:r>
              <a:rPr lang="ko-KR" altLang="en-US" dirty="0"/>
              <a:t>에 도입</a:t>
            </a:r>
            <a:endParaRPr lang="en-US" altLang="ko-KR" dirty="0"/>
          </a:p>
          <a:p>
            <a:pPr lvl="1"/>
            <a:r>
              <a:rPr lang="en-US" altLang="ko-KR" dirty="0"/>
              <a:t>pause  </a:t>
            </a:r>
            <a:r>
              <a:rPr lang="ko-KR" altLang="en-US" dirty="0"/>
              <a:t>컨테이너를 이용해 통신함</a:t>
            </a:r>
            <a:endParaRPr lang="en-US" altLang="ko-KR" dirty="0"/>
          </a:p>
          <a:p>
            <a:pPr lvl="1"/>
            <a:r>
              <a:rPr lang="en-US" altLang="ko-KR" dirty="0"/>
              <a:t>pause </a:t>
            </a:r>
            <a:r>
              <a:rPr lang="ko-KR" altLang="en-US" dirty="0"/>
              <a:t>컨테이너의 역할</a:t>
            </a:r>
            <a:endParaRPr lang="en-US" altLang="ko-KR" dirty="0"/>
          </a:p>
          <a:p>
            <a:pPr lvl="2"/>
            <a:r>
              <a:rPr lang="ko-KR" altLang="en-US" dirty="0"/>
              <a:t>네트워크 네임스페이스 생성 </a:t>
            </a:r>
            <a:r>
              <a:rPr lang="en-US" altLang="ko-KR" dirty="0"/>
              <a:t>&lt;-- </a:t>
            </a:r>
            <a:r>
              <a:rPr lang="ko-KR" altLang="en-US" dirty="0"/>
              <a:t>하나의 </a:t>
            </a:r>
            <a:r>
              <a:rPr lang="en-US" altLang="ko-KR" dirty="0"/>
              <a:t>IP </a:t>
            </a:r>
            <a:r>
              <a:rPr lang="ko-KR" altLang="en-US" dirty="0"/>
              <a:t>주소 부여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8F0CAC4F-7C79-45A6-EB70-8E0E37D0DE53}"/>
              </a:ext>
            </a:extLst>
          </p:cNvPr>
          <p:cNvGrpSpPr/>
          <p:nvPr/>
        </p:nvGrpSpPr>
        <p:grpSpPr>
          <a:xfrm>
            <a:off x="6672064" y="1952836"/>
            <a:ext cx="4932548" cy="4392487"/>
            <a:chOff x="6672064" y="1952836"/>
            <a:chExt cx="4932548" cy="439248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21C8450-87D2-2234-8A16-DFE113170534}"/>
                </a:ext>
              </a:extLst>
            </p:cNvPr>
            <p:cNvSpPr/>
            <p:nvPr/>
          </p:nvSpPr>
          <p:spPr>
            <a:xfrm>
              <a:off x="6672064" y="2764954"/>
              <a:ext cx="4932548" cy="358036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57AE6BF-C6D7-7499-9437-4D51A4839622}"/>
                </a:ext>
              </a:extLst>
            </p:cNvPr>
            <p:cNvSpPr/>
            <p:nvPr/>
          </p:nvSpPr>
          <p:spPr>
            <a:xfrm>
              <a:off x="8454262" y="2476924"/>
              <a:ext cx="1440160" cy="51096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b="1" dirty="0" err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eth0</a:t>
              </a:r>
              <a:endParaRPr lang="en-US" altLang="ko-KR" sz="13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r>
                <a:rPr lang="en-US" altLang="ko-KR" sz="13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192.168.56.102</a:t>
              </a:r>
              <a:endParaRPr lang="ko-KR" altLang="en-US" sz="13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D4BA1CD-4D79-FA3C-9A4C-78B7E5B8BDEA}"/>
                </a:ext>
              </a:extLst>
            </p:cNvPr>
            <p:cNvSpPr/>
            <p:nvPr/>
          </p:nvSpPr>
          <p:spPr>
            <a:xfrm>
              <a:off x="8454262" y="3270018"/>
              <a:ext cx="1440160" cy="51096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Bridge</a:t>
              </a:r>
            </a:p>
            <a:p>
              <a:pPr algn="ctr"/>
              <a:r>
                <a:rPr lang="en-US" altLang="ko-KR" sz="13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10.244.0.1</a:t>
              </a:r>
              <a:endParaRPr lang="ko-KR" altLang="en-US" sz="13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887FDA9E-0D42-70E2-93F9-D86D7940EFB5}"/>
                </a:ext>
              </a:extLst>
            </p:cNvPr>
            <p:cNvCxnSpPr>
              <a:stCxn id="6" idx="2"/>
              <a:endCxn id="7" idx="0"/>
            </p:cNvCxnSpPr>
            <p:nvPr/>
          </p:nvCxnSpPr>
          <p:spPr>
            <a:xfrm>
              <a:off x="9174342" y="2987885"/>
              <a:ext cx="0" cy="282133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0C882F0-A50A-E71E-D1F3-69E0A047DE08}"/>
                </a:ext>
              </a:extLst>
            </p:cNvPr>
            <p:cNvSpPr/>
            <p:nvPr/>
          </p:nvSpPr>
          <p:spPr>
            <a:xfrm>
              <a:off x="8454262" y="3982731"/>
              <a:ext cx="1440159" cy="25548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b="1" dirty="0" err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veth0</a:t>
              </a:r>
              <a:endParaRPr lang="en-US" altLang="ko-KR" sz="13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859D4C39-680E-EB44-0A59-D4AC6A358C5F}"/>
                </a:ext>
              </a:extLst>
            </p:cNvPr>
            <p:cNvCxnSpPr>
              <a:cxnSpLocks/>
              <a:stCxn id="7" idx="2"/>
              <a:endCxn id="14" idx="0"/>
            </p:cNvCxnSpPr>
            <p:nvPr/>
          </p:nvCxnSpPr>
          <p:spPr>
            <a:xfrm>
              <a:off x="9174342" y="3780979"/>
              <a:ext cx="0" cy="201752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DC8FC67-5863-B0A9-DAE8-44FC7AA3A2D4}"/>
                </a:ext>
              </a:extLst>
            </p:cNvPr>
            <p:cNvSpPr txBox="1"/>
            <p:nvPr/>
          </p:nvSpPr>
          <p:spPr>
            <a:xfrm>
              <a:off x="9894422" y="1952836"/>
              <a:ext cx="11480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2"/>
                  </a:solidFill>
                </a:rPr>
                <a:t>Host Network</a:t>
              </a:r>
            </a:p>
            <a:p>
              <a:pPr algn="ctr"/>
              <a:r>
                <a:rPr lang="en-US" altLang="ko-KR" sz="1200" b="1" dirty="0">
                  <a:solidFill>
                    <a:schemeClr val="tx2"/>
                  </a:solidFill>
                </a:rPr>
                <a:t>Namespace</a:t>
              </a:r>
              <a:endParaRPr lang="ko-KR" altLang="en-US" sz="1200" b="1" dirty="0">
                <a:solidFill>
                  <a:schemeClr val="tx2"/>
                </a:solidFill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850DE1B5-B1F0-25D7-8018-4C5459A3D566}"/>
                </a:ext>
              </a:extLst>
            </p:cNvPr>
            <p:cNvSpPr/>
            <p:nvPr/>
          </p:nvSpPr>
          <p:spPr>
            <a:xfrm>
              <a:off x="6816080" y="4425839"/>
              <a:ext cx="4644516" cy="17875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200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endParaRPr lang="en-US" altLang="ko-KR" sz="1200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endParaRPr lang="en-US" altLang="ko-KR" sz="1200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endParaRPr lang="en-US" altLang="ko-KR" sz="1200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endParaRPr lang="en-US" altLang="ko-KR" sz="1200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endParaRPr lang="en-US" altLang="ko-KR" sz="1200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endParaRPr lang="en-US" altLang="ko-KR" sz="1200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r>
                <a:rPr lang="en-US" altLang="ko-KR" sz="1200" b="1" dirty="0" err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k8s</a:t>
              </a:r>
              <a:r>
                <a:rPr lang="en-US" altLang="ko-KR" sz="12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 pod</a:t>
              </a:r>
              <a:endParaRPr lang="ko-KR" altLang="en-US" sz="12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993330C9-E7E2-FBD5-75E1-888255C2187E}"/>
                </a:ext>
              </a:extLst>
            </p:cNvPr>
            <p:cNvSpPr/>
            <p:nvPr/>
          </p:nvSpPr>
          <p:spPr>
            <a:xfrm>
              <a:off x="7014103" y="4930904"/>
              <a:ext cx="1440159" cy="80004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b="1" dirty="0" err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Container1</a:t>
              </a:r>
              <a:endParaRPr lang="en-US" altLang="ko-KR" sz="13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85FFB0F0-3690-D4B2-7A96-15AFBD48DF8A}"/>
                </a:ext>
              </a:extLst>
            </p:cNvPr>
            <p:cNvSpPr/>
            <p:nvPr/>
          </p:nvSpPr>
          <p:spPr>
            <a:xfrm>
              <a:off x="9748377" y="4930904"/>
              <a:ext cx="1440159" cy="80004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b="1" dirty="0" err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Container2</a:t>
              </a:r>
              <a:endParaRPr lang="en-US" altLang="ko-KR" sz="13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A338A327-9451-1370-C10E-E4D5597AE1E4}"/>
                </a:ext>
              </a:extLst>
            </p:cNvPr>
            <p:cNvSpPr/>
            <p:nvPr/>
          </p:nvSpPr>
          <p:spPr>
            <a:xfrm>
              <a:off x="8598983" y="4930904"/>
              <a:ext cx="1025410" cy="80004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Pause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FCDC965-4B7C-DB60-C8F8-6B1E4B4362F6}"/>
                </a:ext>
              </a:extLst>
            </p:cNvPr>
            <p:cNvSpPr/>
            <p:nvPr/>
          </p:nvSpPr>
          <p:spPr>
            <a:xfrm>
              <a:off x="7929443" y="4599508"/>
              <a:ext cx="2498118" cy="47241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b="1" dirty="0" err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eth0</a:t>
              </a:r>
              <a:endParaRPr lang="en-US" altLang="ko-KR" sz="13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r>
                <a:rPr lang="en-US" altLang="ko-KR" sz="13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10.244.0.11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CF02F225-ED4E-ACB9-B5B3-28D315C015B3}"/>
                </a:ext>
              </a:extLst>
            </p:cNvPr>
            <p:cNvSpPr/>
            <p:nvPr/>
          </p:nvSpPr>
          <p:spPr>
            <a:xfrm>
              <a:off x="7392144" y="2363835"/>
              <a:ext cx="3554234" cy="1930109"/>
            </a:xfrm>
            <a:prstGeom prst="rect">
              <a:avLst/>
            </a:prstGeom>
            <a:noFill/>
            <a:ln>
              <a:solidFill>
                <a:schemeClr val="tx2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0BD306D9-65C4-66A5-93D9-4F6AAB875052}"/>
                </a:ext>
              </a:extLst>
            </p:cNvPr>
            <p:cNvSpPr/>
            <p:nvPr/>
          </p:nvSpPr>
          <p:spPr>
            <a:xfrm>
              <a:off x="6905229" y="4516876"/>
              <a:ext cx="4411343" cy="1259084"/>
            </a:xfrm>
            <a:prstGeom prst="rect">
              <a:avLst/>
            </a:prstGeom>
            <a:noFill/>
            <a:ln>
              <a:solidFill>
                <a:schemeClr val="tx2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8DAD8F9-6237-1C7E-0B3A-4AB31F687B8C}"/>
                </a:ext>
              </a:extLst>
            </p:cNvPr>
            <p:cNvSpPr txBox="1"/>
            <p:nvPr/>
          </p:nvSpPr>
          <p:spPr>
            <a:xfrm>
              <a:off x="9937538" y="5730953"/>
              <a:ext cx="14879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2"/>
                  </a:solidFill>
                </a:rPr>
                <a:t>Container Network</a:t>
              </a:r>
            </a:p>
            <a:p>
              <a:pPr algn="ctr"/>
              <a:r>
                <a:rPr lang="en-US" altLang="ko-KR" sz="1200" b="1" dirty="0">
                  <a:solidFill>
                    <a:schemeClr val="tx2"/>
                  </a:solidFill>
                </a:rPr>
                <a:t>Namespace</a:t>
              </a:r>
              <a:endParaRPr lang="ko-KR" altLang="en-US" sz="1200" b="1" dirty="0">
                <a:solidFill>
                  <a:schemeClr val="tx2"/>
                </a:solidFill>
              </a:endParaRPr>
            </a:p>
          </p:txBody>
        </p: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D3BE05C1-FF01-4065-6DCB-D76F5613ACCC}"/>
                </a:ext>
              </a:extLst>
            </p:cNvPr>
            <p:cNvCxnSpPr>
              <a:cxnSpLocks/>
              <a:stCxn id="37" idx="0"/>
              <a:endCxn id="14" idx="2"/>
            </p:cNvCxnSpPr>
            <p:nvPr/>
          </p:nvCxnSpPr>
          <p:spPr>
            <a:xfrm flipH="1" flipV="1">
              <a:off x="9174342" y="4238212"/>
              <a:ext cx="4160" cy="361296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4516162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B03988-8081-E9FF-FEA9-D204D6879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4.2 </a:t>
            </a:r>
            <a:r>
              <a:rPr lang="en-US" altLang="ko-KR" dirty="0" err="1"/>
              <a:t>CNI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F00FB0-9B33-BE7A-E19D-58243354F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CNI</a:t>
            </a:r>
            <a:r>
              <a:rPr lang="en-US" altLang="ko-KR" dirty="0"/>
              <a:t>(Container Network Interface)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컨테이너 간의 네트워킹을 제어할 수 있는 플러그인이 </a:t>
            </a:r>
            <a:r>
              <a:rPr lang="ko-KR" altLang="en-US" dirty="0" err="1"/>
              <a:t>지켜야하는</a:t>
            </a:r>
            <a:r>
              <a:rPr lang="ko-KR" altLang="en-US" dirty="0"/>
              <a:t> 표준</a:t>
            </a:r>
            <a:endParaRPr lang="en-US" altLang="ko-KR" dirty="0"/>
          </a:p>
          <a:p>
            <a:pPr lvl="1"/>
            <a:r>
              <a:rPr lang="ko-KR" altLang="en-US" dirty="0"/>
              <a:t>기본 제공하는 </a:t>
            </a:r>
            <a:r>
              <a:rPr lang="en-US" altLang="ko-KR" dirty="0" err="1"/>
              <a:t>CNI</a:t>
            </a:r>
            <a:r>
              <a:rPr lang="ko-KR" altLang="en-US" dirty="0"/>
              <a:t>인 </a:t>
            </a:r>
            <a:r>
              <a:rPr lang="en-US" altLang="ko-KR" dirty="0" err="1"/>
              <a:t>kubenet</a:t>
            </a:r>
            <a:r>
              <a:rPr lang="ko-KR" altLang="en-US" dirty="0"/>
              <a:t>은 기능이 매우 제한적임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일반적으로 추가적인 </a:t>
            </a:r>
            <a:r>
              <a:rPr lang="en-US" altLang="ko-KR" dirty="0" err="1"/>
              <a:t>CNI</a:t>
            </a:r>
            <a:r>
              <a:rPr lang="en-US" altLang="ko-KR" dirty="0"/>
              <a:t> </a:t>
            </a:r>
            <a:r>
              <a:rPr lang="ko-KR" altLang="en-US" dirty="0"/>
              <a:t>플러그인을 설치함</a:t>
            </a:r>
            <a:endParaRPr lang="en-US" altLang="ko-KR" dirty="0"/>
          </a:p>
          <a:p>
            <a:r>
              <a:rPr lang="en-US" altLang="ko-KR" dirty="0" err="1"/>
              <a:t>CNI</a:t>
            </a:r>
            <a:r>
              <a:rPr lang="en-US" altLang="ko-KR" dirty="0"/>
              <a:t> </a:t>
            </a:r>
            <a:r>
              <a:rPr lang="ko-KR" altLang="en-US" dirty="0"/>
              <a:t>플러그인 종류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초보자</a:t>
            </a:r>
            <a:r>
              <a:rPr lang="en-US" altLang="ko-KR" dirty="0"/>
              <a:t>, </a:t>
            </a:r>
            <a:r>
              <a:rPr lang="ko-KR" altLang="en-US" dirty="0"/>
              <a:t>간단한 네트워크 </a:t>
            </a:r>
            <a:r>
              <a:rPr lang="en-US" altLang="ko-KR" dirty="0"/>
              <a:t>: Flannel</a:t>
            </a:r>
          </a:p>
          <a:p>
            <a:pPr lvl="1"/>
            <a:r>
              <a:rPr lang="ko-KR" altLang="en-US" dirty="0"/>
              <a:t>보안</a:t>
            </a:r>
            <a:r>
              <a:rPr lang="en-US" altLang="ko-KR" dirty="0"/>
              <a:t>, </a:t>
            </a:r>
            <a:r>
              <a:rPr lang="ko-KR" altLang="en-US" dirty="0"/>
              <a:t>성능</a:t>
            </a:r>
            <a:r>
              <a:rPr lang="en-US" altLang="ko-KR" dirty="0"/>
              <a:t>, </a:t>
            </a:r>
            <a:r>
              <a:rPr lang="ko-KR" altLang="en-US" dirty="0"/>
              <a:t>확장성 </a:t>
            </a:r>
            <a:r>
              <a:rPr lang="en-US" altLang="ko-KR" dirty="0"/>
              <a:t>: Calico</a:t>
            </a:r>
          </a:p>
          <a:p>
            <a:pPr lvl="1"/>
            <a:r>
              <a:rPr lang="ko-KR" altLang="en-US" dirty="0"/>
              <a:t>보안 </a:t>
            </a:r>
            <a:r>
              <a:rPr lang="en-US" altLang="ko-KR" dirty="0"/>
              <a:t>: Weave Net</a:t>
            </a:r>
          </a:p>
          <a:p>
            <a:pPr lvl="1"/>
            <a:r>
              <a:rPr lang="ko-KR" altLang="en-US" dirty="0"/>
              <a:t>최고 성능</a:t>
            </a:r>
            <a:r>
              <a:rPr lang="en-US" altLang="ko-KR" dirty="0"/>
              <a:t>, </a:t>
            </a:r>
            <a:r>
              <a:rPr lang="ko-KR" altLang="en-US" dirty="0"/>
              <a:t>최신 기술 </a:t>
            </a:r>
            <a:r>
              <a:rPr lang="en-US" altLang="ko-KR" dirty="0"/>
              <a:t>: Cilium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421E554-B7C1-E4EC-D204-128A06FF5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79" y="3068960"/>
            <a:ext cx="7812869" cy="179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33233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94EBB3-C6FD-594F-BFE9-251A15C13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4.2 </a:t>
            </a:r>
            <a:r>
              <a:rPr lang="en-US" altLang="ko-KR" dirty="0" err="1"/>
              <a:t>CNI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E0EF9F-609E-3BA6-7F6D-64C53E9F7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CNI</a:t>
            </a:r>
            <a:r>
              <a:rPr lang="ko-KR" altLang="en-US" dirty="0"/>
              <a:t>가 필요한 이유</a:t>
            </a:r>
            <a:endParaRPr lang="en-US" altLang="ko-KR" dirty="0"/>
          </a:p>
          <a:p>
            <a:pPr lvl="1"/>
            <a:r>
              <a:rPr lang="ko-KR" altLang="en-US" dirty="0"/>
              <a:t>서로 다른 노드에서 여러 </a:t>
            </a:r>
            <a:r>
              <a:rPr lang="en-US" altLang="ko-KR" dirty="0"/>
              <a:t>Pod</a:t>
            </a:r>
            <a:r>
              <a:rPr lang="ko-KR" altLang="en-US" dirty="0"/>
              <a:t>가 생성될 때 동일한 </a:t>
            </a:r>
            <a:r>
              <a:rPr lang="en-US" altLang="ko-KR" dirty="0"/>
              <a:t>IP </a:t>
            </a:r>
            <a:r>
              <a:rPr lang="ko-KR" altLang="en-US" dirty="0"/>
              <a:t>주소를 가진 </a:t>
            </a:r>
            <a:r>
              <a:rPr lang="en-US" altLang="ko-KR" dirty="0"/>
              <a:t>Pod</a:t>
            </a:r>
            <a:r>
              <a:rPr lang="ko-KR" altLang="en-US" dirty="0"/>
              <a:t>가 존재하게 되면 </a:t>
            </a:r>
            <a:r>
              <a:rPr lang="en-US" altLang="ko-KR" dirty="0"/>
              <a:t>Pod</a:t>
            </a:r>
            <a:r>
              <a:rPr lang="ko-KR" altLang="en-US" dirty="0"/>
              <a:t>간 통신에 문제가 발생함</a:t>
            </a:r>
            <a:endParaRPr lang="en-US" altLang="ko-KR" dirty="0"/>
          </a:p>
          <a:p>
            <a:pPr lvl="1"/>
            <a:r>
              <a:rPr lang="ko-KR" altLang="en-US" dirty="0"/>
              <a:t>따라서 </a:t>
            </a:r>
            <a:r>
              <a:rPr lang="en-US" altLang="ko-KR" dirty="0" err="1"/>
              <a:t>CNI</a:t>
            </a:r>
            <a:r>
              <a:rPr lang="ko-KR" altLang="en-US" dirty="0"/>
              <a:t>를 이용해 </a:t>
            </a:r>
            <a:r>
              <a:rPr lang="en-US" altLang="ko-KR" dirty="0"/>
              <a:t>Bridge Interface</a:t>
            </a:r>
            <a:r>
              <a:rPr lang="ko-KR" altLang="en-US" dirty="0"/>
              <a:t>의 네트워크 </a:t>
            </a:r>
            <a:r>
              <a:rPr lang="en-US" altLang="ko-KR" dirty="0"/>
              <a:t>IP </a:t>
            </a:r>
            <a:r>
              <a:rPr lang="ko-KR" altLang="en-US" dirty="0"/>
              <a:t>대역과 라우팅 테이블의 정보를 다르게 설정</a:t>
            </a:r>
            <a:endParaRPr lang="en-US" altLang="ko-KR" dirty="0"/>
          </a:p>
          <a:p>
            <a:pPr lvl="2"/>
            <a:r>
              <a:rPr lang="ko-KR" altLang="en-US" b="1" dirty="0"/>
              <a:t>서로 다른 노드 상의 </a:t>
            </a:r>
            <a:r>
              <a:rPr lang="en-US" altLang="ko-KR" b="1" dirty="0"/>
              <a:t>Pod</a:t>
            </a:r>
            <a:r>
              <a:rPr lang="ko-KR" altLang="en-US" b="1" dirty="0"/>
              <a:t>끼리 통신이 가능하도록 함</a:t>
            </a:r>
            <a:endParaRPr lang="en-US" altLang="ko-KR" b="1" dirty="0"/>
          </a:p>
          <a:p>
            <a:pPr lvl="1"/>
            <a:r>
              <a:rPr lang="en-US" altLang="ko-KR" dirty="0" err="1"/>
              <a:t>CNI</a:t>
            </a:r>
            <a:r>
              <a:rPr lang="ko-KR" altLang="en-US" dirty="0"/>
              <a:t>를 사용하지 않은 경우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CFB449-BB05-842C-D331-D0290AEA4241}"/>
              </a:ext>
            </a:extLst>
          </p:cNvPr>
          <p:cNvSpPr txBox="1"/>
          <p:nvPr/>
        </p:nvSpPr>
        <p:spPr>
          <a:xfrm>
            <a:off x="8483742" y="4265248"/>
            <a:ext cx="311174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* </a:t>
            </a:r>
            <a:r>
              <a:rPr lang="ko-KR" altLang="en-US" sz="1600" dirty="0"/>
              <a:t>중복된 </a:t>
            </a:r>
            <a:r>
              <a:rPr lang="en-US" altLang="ko-KR" sz="1600" dirty="0"/>
              <a:t>IP</a:t>
            </a:r>
          </a:p>
          <a:p>
            <a:r>
              <a:rPr lang="en-US" altLang="ko-KR" sz="1600" dirty="0"/>
              <a:t>* </a:t>
            </a:r>
            <a:r>
              <a:rPr lang="ko-KR" altLang="en-US" sz="1600" dirty="0"/>
              <a:t>이 문제를 막으려면 클러스터</a:t>
            </a:r>
            <a:endParaRPr lang="en-US" altLang="ko-KR" sz="1600" dirty="0"/>
          </a:p>
          <a:p>
            <a:r>
              <a:rPr lang="en-US" altLang="ko-KR" sz="1600" dirty="0"/>
              <a:t>  </a:t>
            </a:r>
            <a:r>
              <a:rPr lang="ko-KR" altLang="en-US" sz="1600" dirty="0"/>
              <a:t>수준에서 </a:t>
            </a:r>
            <a:r>
              <a:rPr lang="en-US" altLang="ko-KR" sz="1600" dirty="0"/>
              <a:t>IP </a:t>
            </a:r>
            <a:r>
              <a:rPr lang="ko-KR" altLang="en-US" sz="1600" dirty="0"/>
              <a:t>주소를 관리할 수 </a:t>
            </a:r>
            <a:endParaRPr lang="en-US" altLang="ko-KR" sz="1600" dirty="0"/>
          </a:p>
          <a:p>
            <a:r>
              <a:rPr lang="en-US" altLang="ko-KR" sz="1600" dirty="0"/>
              <a:t>  </a:t>
            </a:r>
            <a:r>
              <a:rPr lang="ko-KR" altLang="en-US" sz="1600" dirty="0"/>
              <a:t>있는 기능이 필요함</a:t>
            </a:r>
            <a:endParaRPr lang="en-US" altLang="ko-KR" sz="16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AA3CA70-70A0-4071-9BF2-F8095509E2F4}"/>
              </a:ext>
            </a:extLst>
          </p:cNvPr>
          <p:cNvGrpSpPr/>
          <p:nvPr/>
        </p:nvGrpSpPr>
        <p:grpSpPr>
          <a:xfrm>
            <a:off x="875420" y="3429000"/>
            <a:ext cx="7128502" cy="3168348"/>
            <a:chOff x="863942" y="3132812"/>
            <a:chExt cx="7128502" cy="3168348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16649CEB-F82E-03E0-9496-BEBB32A99D8C}"/>
                </a:ext>
              </a:extLst>
            </p:cNvPr>
            <p:cNvGrpSpPr/>
            <p:nvPr/>
          </p:nvGrpSpPr>
          <p:grpSpPr>
            <a:xfrm>
              <a:off x="863942" y="3132812"/>
              <a:ext cx="3132348" cy="2844316"/>
              <a:chOff x="2603902" y="3284984"/>
              <a:chExt cx="3132348" cy="3204356"/>
            </a:xfrm>
          </p:grpSpPr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82677A41-CCC9-1AF9-D742-BB2518CF5F7E}"/>
                  </a:ext>
                </a:extLst>
              </p:cNvPr>
              <p:cNvSpPr/>
              <p:nvPr/>
            </p:nvSpPr>
            <p:spPr>
              <a:xfrm>
                <a:off x="2603902" y="3284984"/>
                <a:ext cx="3132348" cy="320435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endParaRP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13F62993-1CB4-2247-1909-EBBFCA4F9D15}"/>
                  </a:ext>
                </a:extLst>
              </p:cNvPr>
              <p:cNvSpPr/>
              <p:nvPr/>
            </p:nvSpPr>
            <p:spPr>
              <a:xfrm>
                <a:off x="3449996" y="3284984"/>
                <a:ext cx="1440160" cy="51096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300" b="1" dirty="0" err="1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rPr>
                  <a:t>eth0</a:t>
                </a:r>
                <a:endParaRPr lang="en-US" altLang="ko-KR" sz="13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endParaRPr>
              </a:p>
              <a:p>
                <a:pPr algn="ctr"/>
                <a:r>
                  <a:rPr lang="en-US" altLang="ko-KR" sz="1300" b="1" dirty="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rPr>
                  <a:t>192.168.56.101</a:t>
                </a:r>
                <a:endParaRPr lang="ko-KR" altLang="en-US" sz="13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endParaRPr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2D375921-0654-AB65-C657-82D0FE8504CD}"/>
                </a:ext>
              </a:extLst>
            </p:cNvPr>
            <p:cNvGrpSpPr/>
            <p:nvPr/>
          </p:nvGrpSpPr>
          <p:grpSpPr>
            <a:xfrm>
              <a:off x="4860096" y="3132812"/>
              <a:ext cx="3132348" cy="2844316"/>
              <a:chOff x="6600056" y="3284984"/>
              <a:chExt cx="3132348" cy="3204356"/>
            </a:xfrm>
          </p:grpSpPr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F805FD78-C681-2977-B7CF-F19B07100B89}"/>
                  </a:ext>
                </a:extLst>
              </p:cNvPr>
              <p:cNvSpPr/>
              <p:nvPr/>
            </p:nvSpPr>
            <p:spPr>
              <a:xfrm>
                <a:off x="6600056" y="3284984"/>
                <a:ext cx="3132348" cy="320435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endParaRP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CAFD0BFB-7700-367C-6B41-4C79D714C414}"/>
                  </a:ext>
                </a:extLst>
              </p:cNvPr>
              <p:cNvSpPr/>
              <p:nvPr/>
            </p:nvSpPr>
            <p:spPr>
              <a:xfrm>
                <a:off x="7446150" y="3284984"/>
                <a:ext cx="1440160" cy="51096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300" b="1" dirty="0" err="1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rPr>
                  <a:t>eth0</a:t>
                </a:r>
                <a:endParaRPr lang="en-US" altLang="ko-KR" sz="13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endParaRPr>
              </a:p>
              <a:p>
                <a:pPr algn="ctr"/>
                <a:r>
                  <a:rPr lang="en-US" altLang="ko-KR" sz="1300" b="1" dirty="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rPr>
                  <a:t>192.168.56.102</a:t>
                </a:r>
                <a:endParaRPr lang="ko-KR" altLang="en-US" sz="13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endParaRPr>
              </a:p>
            </p:txBody>
          </p:sp>
        </p:grp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949D154-8D97-4846-778B-9B2B9675DD16}"/>
                </a:ext>
              </a:extLst>
            </p:cNvPr>
            <p:cNvSpPr/>
            <p:nvPr/>
          </p:nvSpPr>
          <p:spPr>
            <a:xfrm>
              <a:off x="1710036" y="3863487"/>
              <a:ext cx="1440160" cy="51096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Bridge</a:t>
              </a:r>
            </a:p>
            <a:p>
              <a:pPr algn="ctr"/>
              <a:r>
                <a:rPr lang="en-US" altLang="ko-KR" sz="13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10.244.0.1</a:t>
              </a:r>
              <a:endParaRPr lang="ko-KR" altLang="en-US" sz="13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699232A-3225-BF74-3820-9452A4465428}"/>
                </a:ext>
              </a:extLst>
            </p:cNvPr>
            <p:cNvSpPr/>
            <p:nvPr/>
          </p:nvSpPr>
          <p:spPr>
            <a:xfrm>
              <a:off x="5706190" y="3863487"/>
              <a:ext cx="1440160" cy="51096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Bridge</a:t>
              </a:r>
            </a:p>
            <a:p>
              <a:pPr algn="ctr"/>
              <a:r>
                <a:rPr lang="en-US" altLang="ko-KR" sz="13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10.244.0.1</a:t>
              </a:r>
              <a:endParaRPr lang="ko-KR" altLang="en-US" sz="13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9E535424-98A3-A89F-26DF-44A3284ACAF6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>
              <a:off x="2430116" y="3586362"/>
              <a:ext cx="0" cy="277125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02417B2B-C2DF-88C3-CC4E-485C5D0BB270}"/>
                </a:ext>
              </a:extLst>
            </p:cNvPr>
            <p:cNvSpPr/>
            <p:nvPr/>
          </p:nvSpPr>
          <p:spPr>
            <a:xfrm>
              <a:off x="1007668" y="4720970"/>
              <a:ext cx="2844316" cy="10401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400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endParaRPr lang="en-US" altLang="ko-KR" sz="1400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Kubernetes Pod</a:t>
              </a:r>
              <a:endParaRPr lang="ko-KR" altLang="en-US" sz="14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F19A15A1-B44D-CC5C-87B9-6A687F440E6D}"/>
                </a:ext>
              </a:extLst>
            </p:cNvPr>
            <p:cNvSpPr/>
            <p:nvPr/>
          </p:nvSpPr>
          <p:spPr>
            <a:xfrm>
              <a:off x="1625566" y="4640890"/>
              <a:ext cx="1609099" cy="47241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b="1" dirty="0" err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eth0</a:t>
              </a:r>
              <a:endParaRPr lang="en-US" altLang="ko-KR" sz="13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r>
                <a:rPr lang="en-US" altLang="ko-KR" sz="13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10.244.0.11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783C43A5-6B94-7450-EF50-12A613391B6B}"/>
                </a:ext>
              </a:extLst>
            </p:cNvPr>
            <p:cNvSpPr/>
            <p:nvPr/>
          </p:nvSpPr>
          <p:spPr>
            <a:xfrm>
              <a:off x="5003822" y="4720970"/>
              <a:ext cx="2844316" cy="10401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400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endParaRPr lang="en-US" altLang="ko-KR" sz="1400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Kubernetes Pod</a:t>
              </a:r>
              <a:endParaRPr lang="ko-KR" altLang="en-US" sz="14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9EE3205-17F2-EC94-3E90-1CCE52C36B40}"/>
                </a:ext>
              </a:extLst>
            </p:cNvPr>
            <p:cNvSpPr/>
            <p:nvPr/>
          </p:nvSpPr>
          <p:spPr>
            <a:xfrm>
              <a:off x="5621720" y="4640890"/>
              <a:ext cx="1609099" cy="47241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b="1" dirty="0" err="1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eth0</a:t>
              </a:r>
              <a:endParaRPr lang="en-US" altLang="ko-KR" sz="13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r>
                <a:rPr lang="en-US" altLang="ko-KR" sz="13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10.244.0.11</a:t>
              </a:r>
            </a:p>
          </p:txBody>
        </p: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306ED236-5E69-DF8F-8D56-63C9E9B05FF7}"/>
                </a:ext>
              </a:extLst>
            </p:cNvPr>
            <p:cNvCxnSpPr>
              <a:cxnSpLocks/>
              <a:endCxn id="28" idx="0"/>
            </p:cNvCxnSpPr>
            <p:nvPr/>
          </p:nvCxnSpPr>
          <p:spPr>
            <a:xfrm>
              <a:off x="2430116" y="4374448"/>
              <a:ext cx="0" cy="266442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4F272315-99AE-0F87-B225-A930CE68C9AE}"/>
                </a:ext>
              </a:extLst>
            </p:cNvPr>
            <p:cNvCxnSpPr>
              <a:cxnSpLocks/>
              <a:stCxn id="23" idx="2"/>
              <a:endCxn id="30" idx="0"/>
            </p:cNvCxnSpPr>
            <p:nvPr/>
          </p:nvCxnSpPr>
          <p:spPr>
            <a:xfrm>
              <a:off x="6426270" y="4374448"/>
              <a:ext cx="0" cy="266442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843383AF-C319-9BA2-88EE-AEF3993F371F}"/>
                </a:ext>
              </a:extLst>
            </p:cNvPr>
            <p:cNvCxnSpPr>
              <a:cxnSpLocks/>
              <a:stCxn id="40" idx="2"/>
              <a:endCxn id="23" idx="0"/>
            </p:cNvCxnSpPr>
            <p:nvPr/>
          </p:nvCxnSpPr>
          <p:spPr>
            <a:xfrm>
              <a:off x="6426270" y="3586362"/>
              <a:ext cx="0" cy="277125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1B02B3B-7E76-41D3-D8D8-C31D6DD06388}"/>
                </a:ext>
              </a:extLst>
            </p:cNvPr>
            <p:cNvSpPr txBox="1"/>
            <p:nvPr/>
          </p:nvSpPr>
          <p:spPr>
            <a:xfrm>
              <a:off x="1671445" y="5962606"/>
              <a:ext cx="15167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dirty="0"/>
                <a:t>Worker</a:t>
              </a:r>
              <a:r>
                <a:rPr lang="ko-KR" altLang="en-US" sz="1600" b="1" dirty="0"/>
                <a:t> </a:t>
              </a:r>
              <a:r>
                <a:rPr lang="en-US" altLang="ko-KR" sz="1600" b="1" dirty="0" err="1"/>
                <a:t>Node1</a:t>
              </a:r>
              <a:endParaRPr lang="ko-KR" altLang="en-US" sz="1600" b="1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E89BC4C-4CF9-7940-41B9-6567BED0D12C}"/>
                </a:ext>
              </a:extLst>
            </p:cNvPr>
            <p:cNvSpPr txBox="1"/>
            <p:nvPr/>
          </p:nvSpPr>
          <p:spPr>
            <a:xfrm>
              <a:off x="5667599" y="5962606"/>
              <a:ext cx="15167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dirty="0"/>
                <a:t>Worker</a:t>
              </a:r>
              <a:r>
                <a:rPr lang="ko-KR" altLang="en-US" sz="1600" b="1" dirty="0"/>
                <a:t> </a:t>
              </a:r>
              <a:r>
                <a:rPr lang="en-US" altLang="ko-KR" sz="1600" b="1" dirty="0" err="1"/>
                <a:t>Node2</a:t>
              </a:r>
              <a:endParaRPr lang="ko-KR" altLang="en-US" sz="1600" b="1" dirty="0"/>
            </a:p>
          </p:txBody>
        </p:sp>
      </p:grpSp>
      <p:cxnSp>
        <p:nvCxnSpPr>
          <p:cNvPr id="43" name="연결선: 구부러짐 42">
            <a:extLst>
              <a:ext uri="{FF2B5EF4-FFF2-40B4-BE49-F238E27FC236}">
                <a16:creationId xmlns:a16="http://schemas.microsoft.com/office/drawing/2014/main" id="{FB2E28EB-2114-C6FF-BFDE-59CA77CD604A}"/>
              </a:ext>
            </a:extLst>
          </p:cNvPr>
          <p:cNvCxnSpPr>
            <a:cxnSpLocks/>
          </p:cNvCxnSpPr>
          <p:nvPr/>
        </p:nvCxnSpPr>
        <p:spPr>
          <a:xfrm flipV="1">
            <a:off x="3246143" y="4803857"/>
            <a:ext cx="5237599" cy="369430"/>
          </a:xfrm>
          <a:prstGeom prst="curvedConnector3">
            <a:avLst/>
          </a:prstGeom>
          <a:ln w="412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구부러짐 43">
            <a:extLst>
              <a:ext uri="{FF2B5EF4-FFF2-40B4-BE49-F238E27FC236}">
                <a16:creationId xmlns:a16="http://schemas.microsoft.com/office/drawing/2014/main" id="{159BC566-7FD4-5909-5F49-658FBE14AD71}"/>
              </a:ext>
            </a:extLst>
          </p:cNvPr>
          <p:cNvCxnSpPr/>
          <p:nvPr/>
        </p:nvCxnSpPr>
        <p:spPr>
          <a:xfrm flipV="1">
            <a:off x="7242297" y="4803857"/>
            <a:ext cx="1241445" cy="369430"/>
          </a:xfrm>
          <a:prstGeom prst="curvedConnector3">
            <a:avLst/>
          </a:prstGeom>
          <a:ln w="412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67877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261959-914B-F5AE-D190-0B982885F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4.2 </a:t>
            </a:r>
            <a:r>
              <a:rPr lang="en-US" altLang="ko-KR" dirty="0" err="1"/>
              <a:t>CNI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17365F-76D6-1FB0-7F97-8442A9B88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CNI</a:t>
            </a:r>
            <a:r>
              <a:rPr lang="ko-KR" altLang="en-US" dirty="0"/>
              <a:t>를 사용한 경우</a:t>
            </a: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7B3670A-2295-546F-79C7-1E8427E778E7}"/>
              </a:ext>
            </a:extLst>
          </p:cNvPr>
          <p:cNvGrpSpPr/>
          <p:nvPr/>
        </p:nvGrpSpPr>
        <p:grpSpPr>
          <a:xfrm>
            <a:off x="803412" y="1926293"/>
            <a:ext cx="7816028" cy="3653485"/>
            <a:chOff x="2255373" y="1844824"/>
            <a:chExt cx="7816028" cy="3653485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F695F0B6-27F1-1413-661F-E5359B93E776}"/>
                </a:ext>
              </a:extLst>
            </p:cNvPr>
            <p:cNvGrpSpPr/>
            <p:nvPr/>
          </p:nvGrpSpPr>
          <p:grpSpPr>
            <a:xfrm>
              <a:off x="4724400" y="2312876"/>
              <a:ext cx="2441677" cy="2844316"/>
              <a:chOff x="2603902" y="3284984"/>
              <a:chExt cx="3132348" cy="3204356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3B4DC12B-9ACA-6ABE-7007-6196E6294F10}"/>
                  </a:ext>
                </a:extLst>
              </p:cNvPr>
              <p:cNvSpPr/>
              <p:nvPr/>
            </p:nvSpPr>
            <p:spPr>
              <a:xfrm>
                <a:off x="2603902" y="3284984"/>
                <a:ext cx="3132348" cy="320435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endParaRPr>
              </a:p>
            </p:txBody>
          </p:sp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202FA089-7AA0-B377-615C-D96CFBD8D9D4}"/>
                  </a:ext>
                </a:extLst>
              </p:cNvPr>
              <p:cNvSpPr/>
              <p:nvPr/>
            </p:nvSpPr>
            <p:spPr>
              <a:xfrm>
                <a:off x="3278429" y="3284984"/>
                <a:ext cx="1834218" cy="51096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300" b="1" dirty="0" err="1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rPr>
                  <a:t>eth0</a:t>
                </a:r>
                <a:endParaRPr lang="en-US" altLang="ko-KR" sz="13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endParaRPr>
              </a:p>
              <a:p>
                <a:pPr algn="ctr"/>
                <a:r>
                  <a:rPr lang="en-US" altLang="ko-KR" sz="1300" b="1" dirty="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rPr>
                  <a:t>192.168.56.101</a:t>
                </a:r>
                <a:endParaRPr lang="ko-KR" altLang="en-US" sz="13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endParaRPr>
              </a:p>
            </p:txBody>
          </p:sp>
        </p:grp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1DA8983-B676-611F-F486-225C09046798}"/>
                </a:ext>
              </a:extLst>
            </p:cNvPr>
            <p:cNvSpPr/>
            <p:nvPr/>
          </p:nvSpPr>
          <p:spPr>
            <a:xfrm>
              <a:off x="5250196" y="3043551"/>
              <a:ext cx="1440160" cy="51096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b="1" dirty="0" err="1">
                  <a:solidFill>
                    <a:schemeClr val="accent1">
                      <a:lumMod val="75000"/>
                    </a:schemeClr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CNI</a:t>
              </a:r>
              <a:endParaRPr lang="en-US" altLang="ko-KR" sz="1300" b="1" dirty="0">
                <a:solidFill>
                  <a:schemeClr val="accent1">
                    <a:lumMod val="75000"/>
                  </a:schemeClr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r>
                <a:rPr lang="en-US" altLang="ko-KR" sz="1300" b="1" dirty="0">
                  <a:solidFill>
                    <a:schemeClr val="accent1">
                      <a:lumMod val="75000"/>
                    </a:schemeClr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10.244.10.1</a:t>
              </a:r>
              <a:endParaRPr lang="ko-KR" altLang="en-US" sz="1300" b="1" dirty="0">
                <a:solidFill>
                  <a:schemeClr val="accent1">
                    <a:lumMod val="75000"/>
                  </a:schemeClr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982CDF70-E10C-2C87-746F-7E3D3B1E885E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5970276" y="2766426"/>
              <a:ext cx="0" cy="277125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458C21E-1FC2-F86D-1A5C-BDB14B880323}"/>
                </a:ext>
              </a:extLst>
            </p:cNvPr>
            <p:cNvSpPr/>
            <p:nvPr/>
          </p:nvSpPr>
          <p:spPr>
            <a:xfrm>
              <a:off x="4907869" y="3901034"/>
              <a:ext cx="2088232" cy="10401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400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endParaRPr lang="en-US" altLang="ko-KR" sz="1400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Kubernetes Pod</a:t>
              </a:r>
              <a:endParaRPr lang="ko-KR" altLang="en-US" sz="14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B519167-8516-D8F7-9AFA-EAD2427395EA}"/>
                </a:ext>
              </a:extLst>
            </p:cNvPr>
            <p:cNvSpPr/>
            <p:nvPr/>
          </p:nvSpPr>
          <p:spPr>
            <a:xfrm>
              <a:off x="5165726" y="3820954"/>
              <a:ext cx="1609099" cy="47241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b="1" dirty="0" err="1">
                  <a:solidFill>
                    <a:schemeClr val="accent1">
                      <a:lumMod val="75000"/>
                    </a:schemeClr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eth0</a:t>
              </a:r>
              <a:endParaRPr lang="en-US" altLang="ko-KR" sz="1300" b="1" dirty="0">
                <a:solidFill>
                  <a:schemeClr val="accent1">
                    <a:lumMod val="75000"/>
                  </a:schemeClr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r>
                <a:rPr lang="en-US" altLang="ko-KR" sz="1300" b="1" dirty="0">
                  <a:solidFill>
                    <a:schemeClr val="accent1">
                      <a:lumMod val="75000"/>
                    </a:schemeClr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10.244.10.11</a:t>
              </a: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CA847BF8-89C7-47B6-CFB0-A352C03A0BB5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>
              <a:off x="5970276" y="3554512"/>
              <a:ext cx="0" cy="266442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BD15E5C-1EAA-8473-28A6-C381FCC4825F}"/>
                </a:ext>
              </a:extLst>
            </p:cNvPr>
            <p:cNvSpPr txBox="1"/>
            <p:nvPr/>
          </p:nvSpPr>
          <p:spPr>
            <a:xfrm>
              <a:off x="6679976" y="3168226"/>
              <a:ext cx="4171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b="1" dirty="0" err="1">
                  <a:solidFill>
                    <a:schemeClr val="tx2"/>
                  </a:solidFill>
                </a:rPr>
                <a:t>CNI</a:t>
              </a:r>
              <a:endParaRPr lang="ko-KR" altLang="en-US" sz="1100" b="1" dirty="0">
                <a:solidFill>
                  <a:schemeClr val="tx2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21A3199-64AA-9E93-2AF6-1F900811F734}"/>
                </a:ext>
              </a:extLst>
            </p:cNvPr>
            <p:cNvSpPr txBox="1"/>
            <p:nvPr/>
          </p:nvSpPr>
          <p:spPr>
            <a:xfrm>
              <a:off x="5217558" y="5159755"/>
              <a:ext cx="15167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dirty="0"/>
                <a:t>Worker</a:t>
              </a:r>
              <a:r>
                <a:rPr lang="ko-KR" altLang="en-US" sz="1600" b="1" dirty="0"/>
                <a:t> </a:t>
              </a:r>
              <a:r>
                <a:rPr lang="en-US" altLang="ko-KR" sz="1600" b="1" dirty="0" err="1"/>
                <a:t>Node1</a:t>
              </a:r>
              <a:endParaRPr lang="ko-KR" altLang="en-US" sz="1600" b="1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EA07B83-B891-1CD1-90D7-75A91C033C16}"/>
                </a:ext>
              </a:extLst>
            </p:cNvPr>
            <p:cNvSpPr/>
            <p:nvPr/>
          </p:nvSpPr>
          <p:spPr>
            <a:xfrm>
              <a:off x="2255373" y="2312876"/>
              <a:ext cx="2022199" cy="284431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05A331C-76CC-D33A-20F8-0DFC622ADFFD}"/>
                </a:ext>
              </a:extLst>
            </p:cNvPr>
            <p:cNvSpPr txBox="1"/>
            <p:nvPr/>
          </p:nvSpPr>
          <p:spPr>
            <a:xfrm>
              <a:off x="2540283" y="5159755"/>
              <a:ext cx="145424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dirty="0"/>
                <a:t>Control Plane</a:t>
              </a:r>
              <a:endParaRPr lang="ko-KR" altLang="en-US" sz="1600" b="1" dirty="0"/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2445FFF-DF42-E2EA-AF27-FE95233BEABC}"/>
                </a:ext>
              </a:extLst>
            </p:cNvPr>
            <p:cNvGrpSpPr/>
            <p:nvPr/>
          </p:nvGrpSpPr>
          <p:grpSpPr>
            <a:xfrm>
              <a:off x="7622474" y="2312876"/>
              <a:ext cx="2441677" cy="2844316"/>
              <a:chOff x="2603902" y="3284984"/>
              <a:chExt cx="3132348" cy="3204356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79E59FA4-1A9E-A730-E441-1400407C9867}"/>
                  </a:ext>
                </a:extLst>
              </p:cNvPr>
              <p:cNvSpPr/>
              <p:nvPr/>
            </p:nvSpPr>
            <p:spPr>
              <a:xfrm>
                <a:off x="2603902" y="3284984"/>
                <a:ext cx="3132348" cy="320435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endParaRPr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51E8AD50-19B2-9774-6DBB-7B99C4B2F62B}"/>
                  </a:ext>
                </a:extLst>
              </p:cNvPr>
              <p:cNvSpPr/>
              <p:nvPr/>
            </p:nvSpPr>
            <p:spPr>
              <a:xfrm>
                <a:off x="3278429" y="3284984"/>
                <a:ext cx="1834218" cy="51096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300" b="1" dirty="0" err="1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rPr>
                  <a:t>eth0</a:t>
                </a:r>
                <a:endParaRPr lang="en-US" altLang="ko-KR" sz="13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endParaRPr>
              </a:p>
              <a:p>
                <a:pPr algn="ctr"/>
                <a:r>
                  <a:rPr lang="en-US" altLang="ko-KR" sz="1300" b="1" dirty="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rPr>
                  <a:t>192.168.56.102</a:t>
                </a:r>
                <a:endParaRPr lang="ko-KR" altLang="en-US" sz="13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endParaRPr>
              </a:p>
            </p:txBody>
          </p:sp>
        </p:grp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1F510DAD-71AB-1E09-E1D8-B07647FDF873}"/>
                </a:ext>
              </a:extLst>
            </p:cNvPr>
            <p:cNvSpPr/>
            <p:nvPr/>
          </p:nvSpPr>
          <p:spPr>
            <a:xfrm>
              <a:off x="8148270" y="3043551"/>
              <a:ext cx="1440160" cy="51096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b="1" dirty="0" err="1">
                  <a:solidFill>
                    <a:schemeClr val="accent1">
                      <a:lumMod val="75000"/>
                    </a:schemeClr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CNI</a:t>
              </a:r>
              <a:endParaRPr lang="en-US" altLang="ko-KR" sz="1300" b="1" dirty="0">
                <a:solidFill>
                  <a:schemeClr val="accent1">
                    <a:lumMod val="75000"/>
                  </a:schemeClr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r>
                <a:rPr lang="en-US" altLang="ko-KR" sz="1300" b="1" dirty="0">
                  <a:solidFill>
                    <a:schemeClr val="accent1">
                      <a:lumMod val="75000"/>
                    </a:schemeClr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10.244.20.1</a:t>
              </a:r>
              <a:endParaRPr lang="ko-KR" altLang="en-US" sz="1300" b="1" dirty="0">
                <a:solidFill>
                  <a:schemeClr val="accent1">
                    <a:lumMod val="75000"/>
                  </a:schemeClr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50490D48-16B1-329E-212E-510D83693575}"/>
                </a:ext>
              </a:extLst>
            </p:cNvPr>
            <p:cNvCxnSpPr>
              <a:cxnSpLocks/>
              <a:endCxn id="36" idx="0"/>
            </p:cNvCxnSpPr>
            <p:nvPr/>
          </p:nvCxnSpPr>
          <p:spPr>
            <a:xfrm>
              <a:off x="8868350" y="2766426"/>
              <a:ext cx="0" cy="277125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3A89AC33-4894-617B-C9DB-5A2AA142C8A8}"/>
                </a:ext>
              </a:extLst>
            </p:cNvPr>
            <p:cNvSpPr/>
            <p:nvPr/>
          </p:nvSpPr>
          <p:spPr>
            <a:xfrm>
              <a:off x="7805943" y="3901034"/>
              <a:ext cx="2088232" cy="10401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400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endParaRPr lang="en-US" altLang="ko-KR" sz="1400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Kubernetes Pod</a:t>
              </a:r>
              <a:endParaRPr lang="ko-KR" altLang="en-US" sz="14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3C415BBB-50FB-D144-41B9-E58E7EBD36E4}"/>
                </a:ext>
              </a:extLst>
            </p:cNvPr>
            <p:cNvSpPr/>
            <p:nvPr/>
          </p:nvSpPr>
          <p:spPr>
            <a:xfrm>
              <a:off x="8063800" y="3820954"/>
              <a:ext cx="1609099" cy="47241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b="1" dirty="0" err="1">
                  <a:solidFill>
                    <a:schemeClr val="accent1">
                      <a:lumMod val="75000"/>
                    </a:schemeClr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eth0</a:t>
              </a:r>
              <a:endParaRPr lang="en-US" altLang="ko-KR" sz="1300" b="1" dirty="0">
                <a:solidFill>
                  <a:schemeClr val="accent1">
                    <a:lumMod val="75000"/>
                  </a:schemeClr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r>
                <a:rPr lang="en-US" altLang="ko-KR" sz="1300" b="1" dirty="0">
                  <a:solidFill>
                    <a:schemeClr val="accent1">
                      <a:lumMod val="75000"/>
                    </a:schemeClr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10.244.20.101</a:t>
              </a:r>
            </a:p>
          </p:txBody>
        </p: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B8CF5631-BE6D-AB17-EB6D-67BEC058635A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>
              <a:off x="8868350" y="3554512"/>
              <a:ext cx="0" cy="266442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82DC96D-7910-FA70-3088-D489D04ABFF5}"/>
                </a:ext>
              </a:extLst>
            </p:cNvPr>
            <p:cNvSpPr txBox="1"/>
            <p:nvPr/>
          </p:nvSpPr>
          <p:spPr>
            <a:xfrm>
              <a:off x="9578050" y="3168226"/>
              <a:ext cx="4171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b="1" dirty="0" err="1">
                  <a:solidFill>
                    <a:schemeClr val="tx2"/>
                  </a:solidFill>
                </a:rPr>
                <a:t>CNI</a:t>
              </a:r>
              <a:endParaRPr lang="ko-KR" altLang="en-US" sz="1100" b="1" dirty="0">
                <a:solidFill>
                  <a:schemeClr val="tx2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F1D2919-D423-7EBD-4E25-1B3F96B50162}"/>
                </a:ext>
              </a:extLst>
            </p:cNvPr>
            <p:cNvSpPr txBox="1"/>
            <p:nvPr/>
          </p:nvSpPr>
          <p:spPr>
            <a:xfrm>
              <a:off x="8115632" y="5159755"/>
              <a:ext cx="15167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dirty="0"/>
                <a:t>Worker</a:t>
              </a:r>
              <a:r>
                <a:rPr lang="ko-KR" altLang="en-US" sz="1600" b="1" dirty="0"/>
                <a:t> </a:t>
              </a:r>
              <a:r>
                <a:rPr lang="en-US" altLang="ko-KR" sz="1600" b="1" dirty="0" err="1"/>
                <a:t>Node1</a:t>
              </a:r>
              <a:endParaRPr lang="ko-KR" altLang="en-US" sz="1600" b="1" dirty="0"/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87BEB362-FE07-1147-A6D8-854121695138}"/>
                </a:ext>
              </a:extLst>
            </p:cNvPr>
            <p:cNvGrpSpPr/>
            <p:nvPr/>
          </p:nvGrpSpPr>
          <p:grpSpPr>
            <a:xfrm>
              <a:off x="2255373" y="1844824"/>
              <a:ext cx="7816028" cy="468052"/>
              <a:chOff x="2255373" y="1844824"/>
              <a:chExt cx="7816028" cy="468052"/>
            </a:xfrm>
          </p:grpSpPr>
          <p:cxnSp>
            <p:nvCxnSpPr>
              <p:cNvPr id="45" name="직선 연결선 44">
                <a:extLst>
                  <a:ext uri="{FF2B5EF4-FFF2-40B4-BE49-F238E27FC236}">
                    <a16:creationId xmlns:a16="http://schemas.microsoft.com/office/drawing/2014/main" id="{8E5DED8B-FE97-4882-1CBD-89F74047C009}"/>
                  </a:ext>
                </a:extLst>
              </p:cNvPr>
              <p:cNvCxnSpPr/>
              <p:nvPr/>
            </p:nvCxnSpPr>
            <p:spPr>
              <a:xfrm>
                <a:off x="2255373" y="1844824"/>
                <a:ext cx="7816028" cy="0"/>
              </a:xfrm>
              <a:prstGeom prst="line">
                <a:avLst/>
              </a:prstGeom>
              <a:ln w="285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직선 연결선 45">
                <a:extLst>
                  <a:ext uri="{FF2B5EF4-FFF2-40B4-BE49-F238E27FC236}">
                    <a16:creationId xmlns:a16="http://schemas.microsoft.com/office/drawing/2014/main" id="{E92FC65A-BE22-8300-6EAF-7A1315B8113D}"/>
                  </a:ext>
                </a:extLst>
              </p:cNvPr>
              <p:cNvCxnSpPr>
                <a:cxnSpLocks/>
                <a:stCxn id="14" idx="0"/>
              </p:cNvCxnSpPr>
              <p:nvPr/>
            </p:nvCxnSpPr>
            <p:spPr>
              <a:xfrm flipH="1" flipV="1">
                <a:off x="3266472" y="1844824"/>
                <a:ext cx="1" cy="468052"/>
              </a:xfrm>
              <a:prstGeom prst="line">
                <a:avLst/>
              </a:prstGeom>
              <a:ln w="285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>
                <a:extLst>
                  <a:ext uri="{FF2B5EF4-FFF2-40B4-BE49-F238E27FC236}">
                    <a16:creationId xmlns:a16="http://schemas.microsoft.com/office/drawing/2014/main" id="{732ADE2D-F35A-0986-2A3C-818B16C0BB4D}"/>
                  </a:ext>
                </a:extLst>
              </p:cNvPr>
              <p:cNvCxnSpPr>
                <a:cxnSpLocks/>
                <a:stCxn id="6" idx="0"/>
              </p:cNvCxnSpPr>
              <p:nvPr/>
            </p:nvCxnSpPr>
            <p:spPr>
              <a:xfrm flipV="1">
                <a:off x="5965086" y="1844824"/>
                <a:ext cx="10853" cy="468052"/>
              </a:xfrm>
              <a:prstGeom prst="line">
                <a:avLst/>
              </a:prstGeom>
              <a:ln w="285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연결선 47">
                <a:extLst>
                  <a:ext uri="{FF2B5EF4-FFF2-40B4-BE49-F238E27FC236}">
                    <a16:creationId xmlns:a16="http://schemas.microsoft.com/office/drawing/2014/main" id="{06FE9932-D98A-42DA-E580-AD177A153AC7}"/>
                  </a:ext>
                </a:extLst>
              </p:cNvPr>
              <p:cNvCxnSpPr>
                <a:cxnSpLocks/>
                <a:stCxn id="18" idx="0"/>
              </p:cNvCxnSpPr>
              <p:nvPr/>
            </p:nvCxnSpPr>
            <p:spPr>
              <a:xfrm flipV="1">
                <a:off x="8863160" y="1854561"/>
                <a:ext cx="0" cy="458315"/>
              </a:xfrm>
              <a:prstGeom prst="line">
                <a:avLst/>
              </a:prstGeom>
              <a:ln w="285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54892401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FCD834-4B54-A6D1-763A-33FDA4BF9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4.2 </a:t>
            </a:r>
            <a:r>
              <a:rPr lang="en-US" altLang="ko-KR" dirty="0" err="1"/>
              <a:t>CNI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7F435E-E28D-F9EC-D740-F8E6882BC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CNI</a:t>
            </a:r>
            <a:r>
              <a:rPr lang="ko-KR" altLang="en-US" dirty="0"/>
              <a:t> 플러그인의 네트워크 모델</a:t>
            </a:r>
            <a:endParaRPr lang="en-US" altLang="ko-KR" dirty="0"/>
          </a:p>
          <a:p>
            <a:pPr lvl="1"/>
            <a:r>
              <a:rPr lang="ko-KR" altLang="en-US" dirty="0"/>
              <a:t>오버레이</a:t>
            </a:r>
            <a:r>
              <a:rPr lang="en-US" altLang="ko-KR" dirty="0"/>
              <a:t>(</a:t>
            </a:r>
            <a:r>
              <a:rPr lang="en-US" altLang="ko-KR" dirty="0" err="1"/>
              <a:t>Overay</a:t>
            </a:r>
            <a:r>
              <a:rPr lang="en-US" altLang="ko-KR" dirty="0"/>
              <a:t>)</a:t>
            </a:r>
            <a:r>
              <a:rPr lang="ko-KR" altLang="en-US" dirty="0"/>
              <a:t> 네트워크 모델 </a:t>
            </a:r>
            <a:r>
              <a:rPr lang="en-US" altLang="ko-KR" dirty="0"/>
              <a:t>: </a:t>
            </a:r>
            <a:r>
              <a:rPr lang="en-US" altLang="ko-KR" dirty="0" err="1"/>
              <a:t>VXLAN</a:t>
            </a:r>
            <a:r>
              <a:rPr lang="en-US" altLang="ko-KR" dirty="0"/>
              <a:t>(Virtual Extensible LAN), IP-in-IP</a:t>
            </a:r>
          </a:p>
          <a:p>
            <a:pPr lvl="1"/>
            <a:r>
              <a:rPr lang="ko-KR" altLang="en-US" dirty="0"/>
              <a:t>비 오버레이</a:t>
            </a:r>
            <a:r>
              <a:rPr lang="en-US" altLang="ko-KR" dirty="0"/>
              <a:t>(Non-</a:t>
            </a:r>
            <a:r>
              <a:rPr lang="en-US" altLang="ko-KR" dirty="0" err="1"/>
              <a:t>overay</a:t>
            </a:r>
            <a:r>
              <a:rPr lang="en-US" altLang="ko-KR" dirty="0"/>
              <a:t>)</a:t>
            </a:r>
            <a:r>
              <a:rPr lang="ko-KR" altLang="en-US" dirty="0"/>
              <a:t> 네트워크 모델 </a:t>
            </a:r>
            <a:r>
              <a:rPr lang="en-US" altLang="ko-KR" dirty="0"/>
              <a:t>: </a:t>
            </a:r>
            <a:r>
              <a:rPr lang="en-US" altLang="ko-KR" dirty="0" err="1"/>
              <a:t>BGP</a:t>
            </a:r>
            <a:r>
              <a:rPr lang="en-US" altLang="ko-KR" dirty="0"/>
              <a:t>(Border Gateway Protocol)</a:t>
            </a:r>
            <a:endParaRPr lang="ko-KR" altLang="en-US" dirty="0"/>
          </a:p>
        </p:txBody>
      </p:sp>
      <p:pic>
        <p:nvPicPr>
          <p:cNvPr id="1028" name="Picture 4" descr="AKS(Azure Kubernetes Service)에서 Azure CNI 오버레이 네트워킹 구성 - Azure Kubernetes  Service | Microsoft Learn">
            <a:extLst>
              <a:ext uri="{FF2B5EF4-FFF2-40B4-BE49-F238E27FC236}">
                <a16:creationId xmlns:a16="http://schemas.microsoft.com/office/drawing/2014/main" id="{8807BEDC-78FA-10FD-83F1-780ADB61D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73" y="2312876"/>
            <a:ext cx="5544616" cy="376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9C0C65-0680-040B-04CE-12EF4BCBEAE3}"/>
              </a:ext>
            </a:extLst>
          </p:cNvPr>
          <p:cNvSpPr txBox="1"/>
          <p:nvPr/>
        </p:nvSpPr>
        <p:spPr>
          <a:xfrm>
            <a:off x="598630" y="5982812"/>
            <a:ext cx="1137726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오버레이 네트워크 개요도 </a:t>
            </a:r>
            <a:r>
              <a:rPr lang="en-US" altLang="ko-KR" sz="1400" dirty="0"/>
              <a:t>: </a:t>
            </a:r>
            <a:r>
              <a:rPr lang="ko-KR" altLang="en-US" sz="1400" dirty="0"/>
              <a:t>참조 </a:t>
            </a:r>
            <a:endParaRPr lang="en-US" altLang="ko-KR" sz="1400" dirty="0"/>
          </a:p>
          <a:p>
            <a:r>
              <a:rPr lang="en-US" altLang="ko-KR" sz="1400" dirty="0"/>
              <a:t>- </a:t>
            </a:r>
            <a:r>
              <a:rPr lang="ko-KR" altLang="en-US" sz="1400" dirty="0" err="1"/>
              <a:t>https</a:t>
            </a:r>
            <a:r>
              <a:rPr lang="ko-KR" altLang="en-US" sz="1400" dirty="0"/>
              <a:t>://</a:t>
            </a:r>
            <a:r>
              <a:rPr lang="ko-KR" altLang="en-US" sz="1400" dirty="0" err="1"/>
              <a:t>learn.microsoft.com</a:t>
            </a:r>
            <a:r>
              <a:rPr lang="ko-KR" altLang="en-US" sz="1400" dirty="0"/>
              <a:t>/</a:t>
            </a:r>
            <a:r>
              <a:rPr lang="ko-KR" altLang="en-US" sz="1400" dirty="0" err="1"/>
              <a:t>ko-kr</a:t>
            </a:r>
            <a:r>
              <a:rPr lang="ko-KR" altLang="en-US" sz="1400" dirty="0"/>
              <a:t>/</a:t>
            </a:r>
            <a:r>
              <a:rPr lang="ko-KR" altLang="en-US" sz="1400" dirty="0" err="1"/>
              <a:t>azure</a:t>
            </a:r>
            <a:r>
              <a:rPr lang="ko-KR" altLang="en-US" sz="1400" dirty="0"/>
              <a:t>/</a:t>
            </a:r>
            <a:r>
              <a:rPr lang="ko-KR" altLang="en-US" sz="1400" dirty="0" err="1"/>
              <a:t>aks</a:t>
            </a:r>
            <a:r>
              <a:rPr lang="ko-KR" altLang="en-US" sz="1400" dirty="0"/>
              <a:t>/</a:t>
            </a:r>
            <a:r>
              <a:rPr lang="ko-KR" altLang="en-US" sz="1400" dirty="0" err="1"/>
              <a:t>azure-cni-overlay</a:t>
            </a:r>
            <a:endParaRPr lang="en-US" altLang="ko-KR" sz="1400" dirty="0"/>
          </a:p>
          <a:p>
            <a:r>
              <a:rPr lang="en-US" altLang="ko-KR" sz="1400" dirty="0"/>
              <a:t>- https://</a:t>
            </a:r>
            <a:r>
              <a:rPr lang="en-US" altLang="ko-KR" sz="1400" dirty="0" err="1"/>
              <a:t>community.cisco.com</a:t>
            </a:r>
            <a:r>
              <a:rPr lang="en-US" altLang="ko-KR" sz="1400" dirty="0"/>
              <a:t>/</a:t>
            </a:r>
            <a:r>
              <a:rPr lang="en-US" altLang="ko-KR" sz="1400" dirty="0" err="1"/>
              <a:t>t5</a:t>
            </a:r>
            <a:r>
              <a:rPr lang="en-US" altLang="ko-KR" sz="1400" dirty="0"/>
              <a:t>/data-center-switches/understanding-underlay-and-overlay-networks/td-p/4295870</a:t>
            </a:r>
            <a:endParaRPr lang="ko-KR" altLang="en-US" sz="1400" dirty="0"/>
          </a:p>
        </p:txBody>
      </p:sp>
      <p:pic>
        <p:nvPicPr>
          <p:cNvPr id="1030" name="Picture 6" descr="Understanding Underlay and Overlay networks - Cisco Community">
            <a:extLst>
              <a:ext uri="{FF2B5EF4-FFF2-40B4-BE49-F238E27FC236}">
                <a16:creationId xmlns:a16="http://schemas.microsoft.com/office/drawing/2014/main" id="{DC683036-5CB1-6CC3-E94F-BDB0D25AD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148" y="2456892"/>
            <a:ext cx="4115606" cy="313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684218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62A228-8F3F-9055-FFEF-757769A13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4.2 </a:t>
            </a:r>
            <a:r>
              <a:rPr lang="en-US" altLang="ko-KR" dirty="0" err="1"/>
              <a:t>CNI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E3947D-EBE7-A03C-88C7-D52689323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오버레이 네트워크</a:t>
            </a:r>
            <a:endParaRPr lang="en-US" altLang="ko-KR" dirty="0"/>
          </a:p>
          <a:p>
            <a:pPr lvl="1"/>
            <a:r>
              <a:rPr lang="en-US" altLang="ko-KR" dirty="0"/>
              <a:t>Calico(</a:t>
            </a:r>
            <a:r>
              <a:rPr lang="en-US" altLang="ko-KR" dirty="0" err="1"/>
              <a:t>VXLAN</a:t>
            </a:r>
            <a:r>
              <a:rPr lang="en-US" altLang="ko-KR" dirty="0"/>
              <a:t>/IP-in-IP </a:t>
            </a:r>
            <a:r>
              <a:rPr lang="ko-KR" altLang="en-US" dirty="0"/>
              <a:t>모드</a:t>
            </a:r>
            <a:r>
              <a:rPr lang="en-US" altLang="ko-KR" dirty="0"/>
              <a:t>),</a:t>
            </a:r>
            <a:r>
              <a:rPr lang="ko-KR" altLang="en-US" dirty="0"/>
              <a:t> </a:t>
            </a:r>
            <a:r>
              <a:rPr lang="en-US" altLang="ko-KR" dirty="0"/>
              <a:t>Flannel, Cilium(</a:t>
            </a:r>
            <a:r>
              <a:rPr lang="en-US" altLang="ko-KR" dirty="0" err="1"/>
              <a:t>VXLAN</a:t>
            </a:r>
            <a:r>
              <a:rPr lang="en-US" altLang="ko-KR" dirty="0"/>
              <a:t> </a:t>
            </a:r>
            <a:r>
              <a:rPr lang="ko-KR" altLang="en-US" dirty="0"/>
              <a:t>모드</a:t>
            </a:r>
            <a:r>
              <a:rPr lang="en-US" altLang="ko-KR" dirty="0"/>
              <a:t>), Weave Net</a:t>
            </a:r>
          </a:p>
          <a:p>
            <a:pPr lvl="1"/>
            <a:r>
              <a:rPr lang="ko-KR" altLang="en-US" dirty="0"/>
              <a:t>장점</a:t>
            </a:r>
            <a:endParaRPr lang="en-US" altLang="ko-KR" dirty="0"/>
          </a:p>
          <a:p>
            <a:pPr lvl="2"/>
            <a:r>
              <a:rPr lang="ko-KR" altLang="en-US" dirty="0"/>
              <a:t>클러스터 네트워크와 물리 네트워크를 분리</a:t>
            </a:r>
            <a:endParaRPr lang="en-US" altLang="ko-KR" dirty="0"/>
          </a:p>
          <a:p>
            <a:pPr lvl="2"/>
            <a:r>
              <a:rPr lang="en-US" altLang="ko-KR" dirty="0"/>
              <a:t>IP </a:t>
            </a:r>
            <a:r>
              <a:rPr lang="ko-KR" altLang="en-US" dirty="0"/>
              <a:t>충돌 가능성이 </a:t>
            </a:r>
            <a:r>
              <a:rPr lang="ko-KR" altLang="en-US" dirty="0" err="1"/>
              <a:t>줄어듬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r>
              <a:rPr lang="ko-KR" altLang="en-US" dirty="0"/>
              <a:t>단점</a:t>
            </a:r>
            <a:endParaRPr lang="en-US" altLang="ko-KR" dirty="0"/>
          </a:p>
          <a:p>
            <a:pPr lvl="2"/>
            <a:r>
              <a:rPr lang="ko-KR" altLang="en-US" dirty="0"/>
              <a:t>터널링으로 인한 패킷의 캡슐화</a:t>
            </a:r>
            <a:r>
              <a:rPr lang="en-US" altLang="ko-KR" dirty="0"/>
              <a:t>/</a:t>
            </a:r>
            <a:r>
              <a:rPr lang="ko-KR" altLang="en-US" dirty="0" err="1"/>
              <a:t>디캡슐화</a:t>
            </a:r>
            <a:r>
              <a:rPr lang="ko-KR" altLang="en-US" dirty="0"/>
              <a:t> 과정에서 성능 저하가 발생할 수 있음</a:t>
            </a:r>
            <a:endParaRPr lang="en-US" altLang="ko-KR" dirty="0"/>
          </a:p>
          <a:p>
            <a:r>
              <a:rPr lang="ko-KR" altLang="en-US" dirty="0"/>
              <a:t>비 오버레이 네트워크의 장단점</a:t>
            </a:r>
            <a:endParaRPr lang="en-US" altLang="ko-KR" dirty="0"/>
          </a:p>
          <a:p>
            <a:pPr lvl="1"/>
            <a:r>
              <a:rPr lang="en-US" altLang="ko-KR" dirty="0" err="1"/>
              <a:t>aws-vpc-cni</a:t>
            </a:r>
            <a:r>
              <a:rPr lang="en-US" altLang="ko-KR" dirty="0"/>
              <a:t>, Calico(</a:t>
            </a:r>
            <a:r>
              <a:rPr lang="en-US" altLang="ko-KR" dirty="0" err="1"/>
              <a:t>BGP</a:t>
            </a:r>
            <a:r>
              <a:rPr lang="en-US" altLang="ko-KR" dirty="0"/>
              <a:t> </a:t>
            </a:r>
            <a:r>
              <a:rPr lang="ko-KR" altLang="en-US" dirty="0"/>
              <a:t>모드</a:t>
            </a:r>
            <a:r>
              <a:rPr lang="en-US" altLang="ko-KR" dirty="0"/>
              <a:t>), Cilium (Native Routing </a:t>
            </a:r>
            <a:r>
              <a:rPr lang="ko-KR" altLang="en-US" dirty="0"/>
              <a:t>모드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장점</a:t>
            </a:r>
            <a:endParaRPr lang="en-US" altLang="ko-KR" dirty="0"/>
          </a:p>
          <a:p>
            <a:pPr lvl="2"/>
            <a:r>
              <a:rPr lang="en-US" altLang="ko-KR" dirty="0"/>
              <a:t>overlay</a:t>
            </a:r>
            <a:r>
              <a:rPr lang="ko-KR" altLang="en-US" dirty="0"/>
              <a:t>가 없으므로 터널링으로 인한 패킷 캡슐화가 </a:t>
            </a:r>
            <a:r>
              <a:rPr lang="ko-KR" altLang="en-US" dirty="0" err="1"/>
              <a:t>필요없으므로</a:t>
            </a:r>
            <a:r>
              <a:rPr lang="ko-KR" altLang="en-US" dirty="0"/>
              <a:t> 네트워크 상의 지연 시간이 </a:t>
            </a:r>
            <a:r>
              <a:rPr lang="ko-KR" altLang="en-US" dirty="0" err="1"/>
              <a:t>줄어듬</a:t>
            </a:r>
            <a:endParaRPr lang="en-US" altLang="ko-KR" dirty="0"/>
          </a:p>
          <a:p>
            <a:pPr lvl="1"/>
            <a:r>
              <a:rPr lang="ko-KR" altLang="en-US" dirty="0"/>
              <a:t>단점</a:t>
            </a:r>
            <a:endParaRPr lang="en-US" altLang="ko-KR" dirty="0"/>
          </a:p>
          <a:p>
            <a:pPr lvl="2"/>
            <a:r>
              <a:rPr lang="ko-KR" altLang="en-US" dirty="0"/>
              <a:t>네트워크 구성의 복잡성 증가</a:t>
            </a:r>
            <a:endParaRPr lang="en-US" altLang="ko-KR" dirty="0"/>
          </a:p>
          <a:p>
            <a:pPr lvl="2"/>
            <a:r>
              <a:rPr lang="en-US" altLang="ko-KR" dirty="0"/>
              <a:t>Overlay Network</a:t>
            </a:r>
            <a:r>
              <a:rPr lang="ko-KR" altLang="en-US" dirty="0"/>
              <a:t>보다 네트워크 격리 수준이 낮아서 보안 정책 적용이 더 어려움</a:t>
            </a:r>
            <a:endParaRPr lang="en-US" altLang="ko-KR" dirty="0"/>
          </a:p>
          <a:p>
            <a:pPr lvl="2"/>
            <a:r>
              <a:rPr lang="ko-KR" altLang="en-US" dirty="0"/>
              <a:t>물리 네트워크 설정</a:t>
            </a:r>
            <a:r>
              <a:rPr lang="en-US" altLang="ko-KR" dirty="0"/>
              <a:t>(</a:t>
            </a:r>
            <a:r>
              <a:rPr lang="en-US" altLang="ko-KR" dirty="0" err="1"/>
              <a:t>BGP</a:t>
            </a:r>
            <a:r>
              <a:rPr lang="en-US" altLang="ko-KR" dirty="0"/>
              <a:t> </a:t>
            </a:r>
            <a:r>
              <a:rPr lang="ko-KR" altLang="en-US" dirty="0"/>
              <a:t>라우팅 등</a:t>
            </a:r>
            <a:r>
              <a:rPr lang="en-US" altLang="ko-KR" dirty="0"/>
              <a:t>)</a:t>
            </a:r>
            <a:r>
              <a:rPr lang="ko-KR" altLang="en-US" dirty="0"/>
              <a:t>에 따라 제약이 발생함</a:t>
            </a:r>
          </a:p>
        </p:txBody>
      </p:sp>
    </p:spTree>
    <p:extLst>
      <p:ext uri="{BB962C8B-B14F-4D97-AF65-F5344CB8AC3E}">
        <p14:creationId xmlns:p14="http://schemas.microsoft.com/office/powerpoint/2010/main" val="369102591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6289AE-6600-1092-6579-2B4785532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Calico </a:t>
            </a:r>
            <a:r>
              <a:rPr lang="en-US" altLang="ko-KR" dirty="0" err="1"/>
              <a:t>CNI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286BB5-2182-53E0-B11C-C4B5D1D0B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Calico </a:t>
            </a:r>
            <a:r>
              <a:rPr lang="en-US" altLang="ko-KR" dirty="0" err="1"/>
              <a:t>CNI</a:t>
            </a:r>
            <a:endParaRPr lang="en-US" altLang="ko-KR" dirty="0"/>
          </a:p>
          <a:p>
            <a:pPr lvl="1"/>
            <a:r>
              <a:rPr lang="en-US" altLang="ko-KR" dirty="0" err="1"/>
              <a:t>kubernetes</a:t>
            </a:r>
            <a:r>
              <a:rPr lang="ko-KR" altLang="en-US" dirty="0"/>
              <a:t> 클러스터에서 네트워크 정책과 보안 기능을 제공하는 </a:t>
            </a:r>
            <a:r>
              <a:rPr lang="en-US" altLang="ko-KR" dirty="0" err="1"/>
              <a:t>CNI</a:t>
            </a:r>
            <a:r>
              <a:rPr lang="en-US" altLang="ko-KR" dirty="0"/>
              <a:t> </a:t>
            </a:r>
            <a:r>
              <a:rPr lang="ko-KR" altLang="en-US" dirty="0"/>
              <a:t>플러그인</a:t>
            </a:r>
            <a:endParaRPr lang="en-US" altLang="ko-KR" dirty="0"/>
          </a:p>
          <a:p>
            <a:pPr lvl="1"/>
            <a:r>
              <a:rPr lang="ko-KR" altLang="en-US" dirty="0"/>
              <a:t>특징</a:t>
            </a:r>
            <a:endParaRPr lang="en-US" altLang="ko-KR" dirty="0"/>
          </a:p>
          <a:p>
            <a:pPr lvl="2"/>
            <a:r>
              <a:rPr lang="ko-KR" altLang="en-US" dirty="0"/>
              <a:t>다양한 네트워크 연결 방식 지원</a:t>
            </a:r>
            <a:endParaRPr lang="en-US" altLang="ko-KR" dirty="0"/>
          </a:p>
          <a:p>
            <a:pPr lvl="3"/>
            <a:r>
              <a:rPr lang="en-US" altLang="ko-KR" dirty="0" err="1"/>
              <a:t>VXLAN</a:t>
            </a:r>
            <a:r>
              <a:rPr lang="en-US" altLang="ko-KR" dirty="0"/>
              <a:t> (Overlay) : </a:t>
            </a:r>
            <a:r>
              <a:rPr lang="ko-KR" altLang="en-US" dirty="0"/>
              <a:t>네트워크 경로가 정해지지 않은 환경에서 사용하는 가상 네트워크 방식</a:t>
            </a:r>
            <a:endParaRPr lang="en-US" altLang="ko-KR" dirty="0"/>
          </a:p>
          <a:p>
            <a:pPr lvl="3"/>
            <a:r>
              <a:rPr lang="en-US" altLang="ko-KR" dirty="0"/>
              <a:t>Direct</a:t>
            </a:r>
            <a:r>
              <a:rPr lang="ko-KR" altLang="en-US" dirty="0"/>
              <a:t> </a:t>
            </a:r>
            <a:r>
              <a:rPr lang="en-US" altLang="ko-KR" dirty="0"/>
              <a:t>Routing(Non-Overlay) : </a:t>
            </a:r>
            <a:r>
              <a:rPr lang="en-US" altLang="ko-KR" dirty="0" err="1"/>
              <a:t>L3</a:t>
            </a:r>
            <a:r>
              <a:rPr lang="ko-KR" altLang="en-US" dirty="0"/>
              <a:t>모드</a:t>
            </a:r>
            <a:r>
              <a:rPr lang="en-US" altLang="ko-KR" dirty="0"/>
              <a:t>. </a:t>
            </a:r>
            <a:r>
              <a:rPr lang="ko-KR" altLang="en-US" dirty="0" err="1"/>
              <a:t>비오버레이</a:t>
            </a:r>
            <a:r>
              <a:rPr lang="en-US" altLang="ko-KR" dirty="0"/>
              <a:t>.</a:t>
            </a:r>
            <a:r>
              <a:rPr lang="ko-KR" altLang="en-US" dirty="0"/>
              <a:t> 각 노드가 직접 </a:t>
            </a:r>
            <a:r>
              <a:rPr lang="ko-KR" altLang="en-US" dirty="0" err="1"/>
              <a:t>라우팅테이블을</a:t>
            </a:r>
            <a:r>
              <a:rPr lang="ko-KR" altLang="en-US" dirty="0"/>
              <a:t> 구성하여 </a:t>
            </a:r>
            <a:r>
              <a:rPr lang="en-US" altLang="ko-KR" dirty="0"/>
              <a:t>Pod </a:t>
            </a:r>
            <a:r>
              <a:rPr lang="ko-KR" altLang="en-US" dirty="0"/>
              <a:t>통신을 처리함</a:t>
            </a:r>
            <a:endParaRPr lang="en-US" altLang="ko-KR" dirty="0"/>
          </a:p>
          <a:p>
            <a:pPr lvl="3"/>
            <a:r>
              <a:rPr lang="en-US" altLang="ko-KR" dirty="0" err="1"/>
              <a:t>BGP</a:t>
            </a:r>
            <a:r>
              <a:rPr lang="en-US" altLang="ko-KR" dirty="0"/>
              <a:t>(Non-Overlay)</a:t>
            </a:r>
            <a:endParaRPr lang="ko-KR" altLang="en-US" dirty="0"/>
          </a:p>
          <a:p>
            <a:pPr lvl="4"/>
            <a:r>
              <a:rPr lang="en-US" altLang="ko-KR" dirty="0" err="1"/>
              <a:t>BGP</a:t>
            </a:r>
            <a:r>
              <a:rPr lang="en-US" altLang="ko-KR" dirty="0"/>
              <a:t>(Border Gateway Protocol)</a:t>
            </a:r>
            <a:r>
              <a:rPr lang="ko-KR" altLang="en-US" dirty="0"/>
              <a:t>를 사용하여 클러스터 노드 간에 네이티브 </a:t>
            </a:r>
            <a:r>
              <a:rPr lang="en-US" altLang="ko-KR" dirty="0"/>
              <a:t>IP </a:t>
            </a:r>
            <a:r>
              <a:rPr lang="ko-KR" altLang="en-US" dirty="0"/>
              <a:t>라우팅을 수행</a:t>
            </a:r>
            <a:r>
              <a:rPr lang="en-US" altLang="ko-KR" dirty="0"/>
              <a:t>	</a:t>
            </a:r>
          </a:p>
          <a:p>
            <a:pPr lvl="4"/>
            <a:r>
              <a:rPr lang="en-US" altLang="ko-KR" dirty="0"/>
              <a:t>Overlay </a:t>
            </a:r>
            <a:r>
              <a:rPr lang="ko-KR" altLang="en-US" dirty="0"/>
              <a:t>네트워크 없이 직접 네트워크 경로를 설정하여 성능이 뛰어남</a:t>
            </a:r>
            <a:endParaRPr lang="en-US" altLang="ko-KR" dirty="0"/>
          </a:p>
          <a:p>
            <a:pPr lvl="3"/>
            <a:r>
              <a:rPr lang="en-US" altLang="ko-KR" dirty="0"/>
              <a:t>IP-in-IP (Overlay)</a:t>
            </a:r>
          </a:p>
          <a:p>
            <a:pPr lvl="4"/>
            <a:r>
              <a:rPr lang="ko-KR" altLang="en-US" dirty="0"/>
              <a:t>네트워크 노드가 서로 다른 서브넷에 있을 경우</a:t>
            </a:r>
            <a:r>
              <a:rPr lang="en-US" altLang="ko-KR" dirty="0"/>
              <a:t>, IP-in-IP </a:t>
            </a:r>
            <a:r>
              <a:rPr lang="ko-KR" altLang="en-US" dirty="0"/>
              <a:t>터널링을 사용하여 패킷을 전달</a:t>
            </a:r>
            <a:endParaRPr lang="en-US" altLang="ko-KR" dirty="0"/>
          </a:p>
          <a:p>
            <a:pPr lvl="4"/>
            <a:r>
              <a:rPr lang="en-US" altLang="ko-KR" dirty="0" err="1"/>
              <a:t>BGP</a:t>
            </a:r>
            <a:r>
              <a:rPr lang="en-US" altLang="ko-KR" dirty="0"/>
              <a:t> </a:t>
            </a:r>
            <a:r>
              <a:rPr lang="ko-KR" altLang="en-US" dirty="0"/>
              <a:t>라우팅을 사용할 수 없는 경우 유용하며</a:t>
            </a:r>
            <a:r>
              <a:rPr lang="en-US" altLang="ko-KR" dirty="0"/>
              <a:t>, </a:t>
            </a:r>
            <a:r>
              <a:rPr lang="ko-KR" altLang="en-US" dirty="0"/>
              <a:t>기본 설정에서 활성화</a:t>
            </a:r>
            <a:endParaRPr lang="en-US" altLang="ko-KR" dirty="0"/>
          </a:p>
          <a:p>
            <a:pPr lvl="2"/>
            <a:r>
              <a:rPr lang="ko-KR" altLang="en-US" dirty="0"/>
              <a:t>네트워크 정책</a:t>
            </a:r>
            <a:r>
              <a:rPr lang="en-US" altLang="ko-KR" dirty="0"/>
              <a:t>(Network Policy ) </a:t>
            </a:r>
            <a:r>
              <a:rPr lang="ko-KR" altLang="en-US" dirty="0"/>
              <a:t>지원</a:t>
            </a:r>
            <a:endParaRPr lang="en-US" altLang="ko-KR" dirty="0"/>
          </a:p>
          <a:p>
            <a:pPr lvl="3"/>
            <a:r>
              <a:rPr lang="en-US" altLang="ko-KR" dirty="0"/>
              <a:t>Kubernetes </a:t>
            </a:r>
            <a:r>
              <a:rPr lang="ko-KR" altLang="en-US" dirty="0"/>
              <a:t>기본 </a:t>
            </a:r>
            <a:r>
              <a:rPr lang="en-US" altLang="ko-KR" dirty="0" err="1"/>
              <a:t>NetworkPolicy</a:t>
            </a:r>
            <a:r>
              <a:rPr lang="en-US" altLang="ko-KR" dirty="0"/>
              <a:t> API</a:t>
            </a:r>
            <a:r>
              <a:rPr lang="ko-KR" altLang="en-US" dirty="0"/>
              <a:t>와 완벽하게 호환됨</a:t>
            </a:r>
            <a:endParaRPr lang="en-US" altLang="ko-KR" dirty="0"/>
          </a:p>
          <a:p>
            <a:pPr lvl="3"/>
            <a:r>
              <a:rPr lang="en-US" altLang="ko-KR" dirty="0"/>
              <a:t>IP </a:t>
            </a:r>
            <a:r>
              <a:rPr lang="ko-KR" altLang="en-US" dirty="0"/>
              <a:t>주소 기반</a:t>
            </a:r>
            <a:r>
              <a:rPr lang="en-US" altLang="ko-KR" dirty="0"/>
              <a:t>, Namespace </a:t>
            </a:r>
            <a:r>
              <a:rPr lang="ko-KR" altLang="en-US" dirty="0"/>
              <a:t>기반</a:t>
            </a:r>
            <a:r>
              <a:rPr lang="en-US" altLang="ko-KR" dirty="0"/>
              <a:t>, Service </a:t>
            </a:r>
            <a:r>
              <a:rPr lang="ko-KR" altLang="en-US" dirty="0"/>
              <a:t>기반으로 트래픽을 제어 가능</a:t>
            </a:r>
            <a:endParaRPr lang="en-US" altLang="ko-KR" dirty="0"/>
          </a:p>
          <a:p>
            <a:pPr lvl="3"/>
            <a:r>
              <a:rPr lang="en-US" altLang="ko-KR" dirty="0"/>
              <a:t>Ingress(</a:t>
            </a:r>
            <a:r>
              <a:rPr lang="ko-KR" altLang="en-US" dirty="0"/>
              <a:t>수신</a:t>
            </a:r>
            <a:r>
              <a:rPr lang="en-US" altLang="ko-KR" dirty="0"/>
              <a:t>) </a:t>
            </a:r>
            <a:r>
              <a:rPr lang="ko-KR" altLang="en-US" dirty="0"/>
              <a:t>및 </a:t>
            </a:r>
            <a:r>
              <a:rPr lang="en-US" altLang="ko-KR" dirty="0"/>
              <a:t>Egress(</a:t>
            </a:r>
            <a:r>
              <a:rPr lang="ko-KR" altLang="en-US" dirty="0"/>
              <a:t>송신</a:t>
            </a:r>
            <a:r>
              <a:rPr lang="en-US" altLang="ko-KR" dirty="0"/>
              <a:t>) </a:t>
            </a:r>
            <a:r>
              <a:rPr lang="ko-KR" altLang="en-US" dirty="0"/>
              <a:t>정책을 모두 적용할 수 있음</a:t>
            </a:r>
            <a:endParaRPr lang="en-US" altLang="ko-KR" dirty="0"/>
          </a:p>
          <a:p>
            <a:pPr lvl="2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3211555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80BD8-7EA7-76B1-4020-DBFD17291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118020-9B8D-FC11-1A80-813C6973B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Calico </a:t>
            </a:r>
            <a:r>
              <a:rPr lang="en-US" altLang="ko-KR" dirty="0" err="1"/>
              <a:t>CNI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8E563F-A0F1-5458-49EE-FF82EC872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 dirty="0"/>
              <a:t>특징</a:t>
            </a:r>
            <a:r>
              <a:rPr lang="en-US" altLang="ko-KR" dirty="0"/>
              <a:t>(</a:t>
            </a:r>
            <a:r>
              <a:rPr lang="ko-KR" altLang="en-US" dirty="0"/>
              <a:t>이어서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두가지 </a:t>
            </a:r>
            <a:r>
              <a:rPr lang="en-US" altLang="ko-KR" dirty="0" err="1"/>
              <a:t>IPAM</a:t>
            </a:r>
            <a:r>
              <a:rPr lang="en-US" altLang="ko-KR" dirty="0"/>
              <a:t>(IP</a:t>
            </a:r>
            <a:r>
              <a:rPr lang="ko-KR" altLang="en-US" dirty="0"/>
              <a:t> </a:t>
            </a:r>
            <a:r>
              <a:rPr lang="en-US" altLang="ko-KR" dirty="0"/>
              <a:t>Address</a:t>
            </a:r>
            <a:r>
              <a:rPr lang="ko-KR" altLang="en-US" dirty="0"/>
              <a:t> </a:t>
            </a:r>
            <a:r>
              <a:rPr lang="en-US" altLang="ko-KR" dirty="0"/>
              <a:t>Management) </a:t>
            </a:r>
            <a:r>
              <a:rPr lang="ko-KR" altLang="en-US" dirty="0"/>
              <a:t>지원</a:t>
            </a:r>
            <a:endParaRPr lang="en-US" altLang="ko-KR" dirty="0"/>
          </a:p>
          <a:p>
            <a:pPr lvl="3"/>
            <a:r>
              <a:rPr lang="en-US" altLang="ko-KR" dirty="0"/>
              <a:t>Calico</a:t>
            </a:r>
            <a:r>
              <a:rPr lang="ko-KR" altLang="en-US" dirty="0"/>
              <a:t> </a:t>
            </a:r>
            <a:r>
              <a:rPr lang="en-US" altLang="ko-KR" dirty="0" err="1"/>
              <a:t>IPAM</a:t>
            </a:r>
            <a:endParaRPr lang="en-US" altLang="ko-KR" dirty="0"/>
          </a:p>
          <a:p>
            <a:pPr lvl="4"/>
            <a:r>
              <a:rPr lang="en-US" altLang="ko-KR" dirty="0"/>
              <a:t>Calico </a:t>
            </a:r>
            <a:r>
              <a:rPr lang="ko-KR" altLang="en-US" dirty="0"/>
              <a:t>자체 </a:t>
            </a:r>
            <a:r>
              <a:rPr lang="en-US" altLang="ko-KR" dirty="0" err="1"/>
              <a:t>IPAM</a:t>
            </a:r>
            <a:r>
              <a:rPr lang="ko-KR" altLang="en-US" dirty="0"/>
              <a:t>을 사용하여 </a:t>
            </a:r>
            <a:r>
              <a:rPr lang="en-US" altLang="ko-KR" dirty="0"/>
              <a:t>Pod IP </a:t>
            </a:r>
            <a:r>
              <a:rPr lang="ko-KR" altLang="en-US" dirty="0"/>
              <a:t>주소를 관리</a:t>
            </a:r>
            <a:endParaRPr lang="en-US" altLang="ko-KR" dirty="0"/>
          </a:p>
          <a:p>
            <a:pPr lvl="4"/>
            <a:r>
              <a:rPr lang="ko-KR" altLang="en-US" dirty="0"/>
              <a:t>각 노드에 일정한 블록 크기의 </a:t>
            </a:r>
            <a:r>
              <a:rPr lang="en-US" altLang="ko-KR" dirty="0"/>
              <a:t>IP</a:t>
            </a:r>
            <a:r>
              <a:rPr lang="ko-KR" altLang="en-US" dirty="0"/>
              <a:t>를 할당하여 관리 효율성을 높임</a:t>
            </a:r>
            <a:endParaRPr lang="en-US" altLang="ko-KR" dirty="0"/>
          </a:p>
          <a:p>
            <a:pPr lvl="3"/>
            <a:r>
              <a:rPr lang="en-US" altLang="ko-KR" dirty="0"/>
              <a:t>Kubernetes </a:t>
            </a:r>
            <a:r>
              <a:rPr lang="en-US" altLang="ko-KR" dirty="0" err="1"/>
              <a:t>IPAM</a:t>
            </a:r>
            <a:endParaRPr lang="en-US" altLang="ko-KR" dirty="0"/>
          </a:p>
          <a:p>
            <a:pPr lvl="4"/>
            <a:r>
              <a:rPr lang="en-US" altLang="ko-KR" dirty="0"/>
              <a:t>Kubernetes</a:t>
            </a:r>
            <a:r>
              <a:rPr lang="ko-KR" altLang="en-US" dirty="0"/>
              <a:t>에서 제공하는 기본 </a:t>
            </a:r>
            <a:r>
              <a:rPr lang="en-US" altLang="ko-KR" dirty="0" err="1"/>
              <a:t>IPAM</a:t>
            </a:r>
            <a:r>
              <a:rPr lang="ko-KR" altLang="en-US" dirty="0"/>
              <a:t>을 사용 가능</a:t>
            </a:r>
            <a:endParaRPr lang="en-US" altLang="ko-KR" dirty="0"/>
          </a:p>
          <a:p>
            <a:pPr lvl="4"/>
            <a:r>
              <a:rPr lang="en-US" altLang="ko-KR" dirty="0"/>
              <a:t>Calico</a:t>
            </a:r>
            <a:r>
              <a:rPr lang="ko-KR" altLang="en-US" dirty="0"/>
              <a:t>의 고급 기능과 함께 사용할 수 없으므로 권장되지 않음</a:t>
            </a:r>
            <a:endParaRPr lang="en-US" altLang="ko-KR" dirty="0"/>
          </a:p>
          <a:p>
            <a:pPr lvl="2"/>
            <a:r>
              <a:rPr lang="ko-KR" altLang="en-US" dirty="0"/>
              <a:t>서비스 메시와 통합 가능</a:t>
            </a:r>
            <a:endParaRPr lang="en-US" altLang="ko-KR" dirty="0"/>
          </a:p>
          <a:p>
            <a:pPr lvl="3"/>
            <a:r>
              <a:rPr lang="en-US" altLang="ko-KR" dirty="0"/>
              <a:t>Calico</a:t>
            </a:r>
            <a:r>
              <a:rPr lang="ko-KR" altLang="en-US" dirty="0"/>
              <a:t>는 </a:t>
            </a:r>
            <a:r>
              <a:rPr lang="en-US" altLang="ko-KR" dirty="0"/>
              <a:t>Istio, </a:t>
            </a:r>
            <a:r>
              <a:rPr lang="en-US" altLang="ko-KR" dirty="0" err="1"/>
              <a:t>Linkerd</a:t>
            </a:r>
            <a:r>
              <a:rPr lang="ko-KR" altLang="en-US" dirty="0"/>
              <a:t>와 같은 서비스 메시와 쉽게 통합 가능</a:t>
            </a:r>
            <a:endParaRPr lang="en-US" altLang="ko-KR" dirty="0"/>
          </a:p>
          <a:p>
            <a:pPr lvl="3"/>
            <a:r>
              <a:rPr lang="en-US" altLang="ko-KR" dirty="0"/>
              <a:t>Application Layer </a:t>
            </a:r>
            <a:r>
              <a:rPr lang="ko-KR" altLang="en-US" dirty="0"/>
              <a:t>네트워크 정책 적용 가능</a:t>
            </a:r>
            <a:endParaRPr lang="en-US" altLang="ko-KR" dirty="0"/>
          </a:p>
          <a:p>
            <a:pPr lvl="2"/>
            <a:r>
              <a:rPr lang="ko-KR" altLang="en-US" dirty="0"/>
              <a:t>로깅 및 모니터링</a:t>
            </a:r>
            <a:endParaRPr lang="en-US" altLang="ko-KR" dirty="0"/>
          </a:p>
          <a:p>
            <a:pPr lvl="3"/>
            <a:r>
              <a:rPr lang="en-US" altLang="ko-KR" dirty="0"/>
              <a:t>Calico</a:t>
            </a:r>
            <a:r>
              <a:rPr lang="ko-KR" altLang="en-US" dirty="0"/>
              <a:t>는 네트워크 트래픽을 모니터링하고 로깅할 수 있는 기능을 제공</a:t>
            </a:r>
            <a:endParaRPr lang="en-US" altLang="ko-KR" dirty="0"/>
          </a:p>
          <a:p>
            <a:pPr lvl="3"/>
            <a:r>
              <a:rPr lang="en-US" altLang="ko-KR" dirty="0"/>
              <a:t>Felix </a:t>
            </a:r>
            <a:r>
              <a:rPr lang="ko-KR" altLang="en-US" dirty="0"/>
              <a:t>에이전트가 네트워크 정책을 실행하고 로깅 기능을 제공</a:t>
            </a:r>
            <a:r>
              <a:rPr lang="en-US" altLang="ko-KR" dirty="0"/>
              <a:t>.</a:t>
            </a:r>
          </a:p>
          <a:p>
            <a:pPr lvl="3"/>
            <a:r>
              <a:rPr lang="en-US" altLang="ko-KR" dirty="0"/>
              <a:t>Prometheus, Grafana</a:t>
            </a:r>
            <a:r>
              <a:rPr lang="ko-KR" altLang="en-US" dirty="0"/>
              <a:t>와 통합하여 네트워크 상태를 시각적으로 모니터링 가능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157416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6A8BFE-36FB-E150-E5E2-59C646576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4.4 AWS </a:t>
            </a:r>
            <a:r>
              <a:rPr lang="en-US" altLang="ko-KR" dirty="0" err="1"/>
              <a:t>VPC</a:t>
            </a:r>
            <a:r>
              <a:rPr lang="en-US" altLang="ko-KR" dirty="0"/>
              <a:t> </a:t>
            </a:r>
            <a:r>
              <a:rPr lang="en-US" altLang="ko-KR" dirty="0" err="1"/>
              <a:t>CNI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ADB804-9351-FCBF-FC00-F8AE9CD3D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AWS </a:t>
            </a:r>
            <a:r>
              <a:rPr lang="en-US" altLang="ko-KR" dirty="0" err="1"/>
              <a:t>EKS</a:t>
            </a:r>
            <a:r>
              <a:rPr lang="ko-KR" altLang="en-US" dirty="0"/>
              <a:t>에 기본 탑재되는 </a:t>
            </a:r>
            <a:r>
              <a:rPr lang="en-US" altLang="ko-KR" dirty="0" err="1"/>
              <a:t>CNI</a:t>
            </a:r>
            <a:endParaRPr lang="en-US" altLang="ko-KR" dirty="0"/>
          </a:p>
          <a:p>
            <a:r>
              <a:rPr lang="ko-KR" altLang="en-US" dirty="0"/>
              <a:t>특징</a:t>
            </a:r>
            <a:endParaRPr lang="en-US" altLang="ko-KR" dirty="0"/>
          </a:p>
          <a:p>
            <a:pPr lvl="1"/>
            <a:r>
              <a:rPr lang="ko-KR" altLang="en-US" dirty="0"/>
              <a:t>비 오버레이 네트워크 모델</a:t>
            </a:r>
            <a:endParaRPr lang="en-US" altLang="ko-KR" dirty="0"/>
          </a:p>
          <a:p>
            <a:pPr lvl="1"/>
            <a:r>
              <a:rPr lang="ko-KR" altLang="en-US" dirty="0"/>
              <a:t>각 노드의 </a:t>
            </a:r>
            <a:r>
              <a:rPr lang="en-US" altLang="ko-KR" dirty="0"/>
              <a:t>IP </a:t>
            </a:r>
            <a:r>
              <a:rPr lang="ko-KR" altLang="en-US" dirty="0"/>
              <a:t>대역과 </a:t>
            </a:r>
            <a:r>
              <a:rPr lang="en-US" altLang="ko-KR" dirty="0"/>
              <a:t>Pod</a:t>
            </a:r>
            <a:r>
              <a:rPr lang="ko-KR" altLang="en-US" dirty="0"/>
              <a:t>에 할당되는 </a:t>
            </a:r>
            <a:r>
              <a:rPr lang="en-US" altLang="ko-KR" dirty="0"/>
              <a:t>IP </a:t>
            </a:r>
            <a:r>
              <a:rPr lang="ko-KR" altLang="en-US" dirty="0"/>
              <a:t>대역이 동일함</a:t>
            </a:r>
            <a:endParaRPr lang="en-US" altLang="ko-KR" dirty="0"/>
          </a:p>
          <a:p>
            <a:pPr lvl="2"/>
            <a:r>
              <a:rPr lang="en-US" altLang="ko-KR" dirty="0" err="1"/>
              <a:t>VPC</a:t>
            </a:r>
            <a:r>
              <a:rPr lang="en-US" altLang="ko-KR" dirty="0"/>
              <a:t>(Virtual </a:t>
            </a:r>
            <a:r>
              <a:rPr lang="en-US" altLang="ko-KR"/>
              <a:t>Private Cloud)</a:t>
            </a:r>
            <a:r>
              <a:rPr lang="ko-KR" altLang="en-US" dirty="0"/>
              <a:t>에 할당되는 </a:t>
            </a:r>
            <a:r>
              <a:rPr lang="en-US" altLang="ko-KR" dirty="0"/>
              <a:t>IP</a:t>
            </a:r>
            <a:r>
              <a:rPr lang="ko-KR" altLang="en-US" dirty="0"/>
              <a:t> 대역의 </a:t>
            </a:r>
            <a:r>
              <a:rPr lang="en-US" altLang="ko-KR" dirty="0"/>
              <a:t>IP </a:t>
            </a:r>
            <a:r>
              <a:rPr lang="ko-KR" altLang="en-US" dirty="0"/>
              <a:t>주소를 </a:t>
            </a:r>
            <a:r>
              <a:rPr lang="en-US" altLang="ko-KR" dirty="0"/>
              <a:t>Pod</a:t>
            </a:r>
            <a:r>
              <a:rPr lang="ko-KR" altLang="en-US" dirty="0"/>
              <a:t>에 직접 할당함</a:t>
            </a:r>
            <a:endParaRPr lang="en-US" altLang="ko-KR" dirty="0"/>
          </a:p>
          <a:p>
            <a:pPr lvl="2"/>
            <a:r>
              <a:rPr lang="ko-KR" altLang="en-US" dirty="0"/>
              <a:t>이를 위해 각 </a:t>
            </a:r>
            <a:r>
              <a:rPr lang="en-US" altLang="ko-KR" dirty="0"/>
              <a:t>Worker Node(</a:t>
            </a:r>
            <a:r>
              <a:rPr lang="en-US" altLang="ko-KR" dirty="0" err="1"/>
              <a:t>EC2</a:t>
            </a:r>
            <a:r>
              <a:rPr lang="en-US" altLang="ko-KR" dirty="0"/>
              <a:t>)</a:t>
            </a:r>
            <a:r>
              <a:rPr lang="ko-KR" altLang="en-US" dirty="0"/>
              <a:t>에 </a:t>
            </a:r>
            <a:r>
              <a:rPr lang="en-US" altLang="ko-KR" dirty="0"/>
              <a:t>ENI(Elastic Network Interface: </a:t>
            </a:r>
            <a:r>
              <a:rPr lang="ko-KR" altLang="en-US" dirty="0"/>
              <a:t>가상 네트워크 인터페이스</a:t>
            </a:r>
            <a:r>
              <a:rPr lang="en-US" altLang="ko-KR" dirty="0"/>
              <a:t>)</a:t>
            </a:r>
            <a:r>
              <a:rPr lang="ko-KR" altLang="en-US" dirty="0"/>
              <a:t>를 연결함</a:t>
            </a:r>
            <a:endParaRPr lang="en-US" altLang="ko-KR" dirty="0"/>
          </a:p>
          <a:p>
            <a:pPr lvl="1"/>
            <a:r>
              <a:rPr lang="ko-KR" altLang="en-US" dirty="0"/>
              <a:t>네트워크 성능에는 장점이 있지만 </a:t>
            </a:r>
            <a:r>
              <a:rPr lang="en-US" altLang="ko-KR" dirty="0" err="1"/>
              <a:t>VPC</a:t>
            </a:r>
            <a:r>
              <a:rPr lang="ko-KR" altLang="en-US" dirty="0"/>
              <a:t>의 </a:t>
            </a:r>
            <a:r>
              <a:rPr lang="en-US" altLang="ko-KR" dirty="0"/>
              <a:t>IP </a:t>
            </a:r>
            <a:r>
              <a:rPr lang="ko-KR" altLang="en-US" dirty="0"/>
              <a:t>주소가 빠르게 고갈될 수 있음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참고</a:t>
            </a:r>
            <a:endParaRPr lang="en-US" altLang="ko-KR" dirty="0"/>
          </a:p>
          <a:p>
            <a:pPr lvl="1"/>
            <a:r>
              <a:rPr lang="en-US" altLang="ko-KR" dirty="0" err="1"/>
              <a:t>VPC</a:t>
            </a:r>
            <a:r>
              <a:rPr lang="ko-KR" altLang="en-US" dirty="0"/>
              <a:t>와 </a:t>
            </a:r>
            <a:r>
              <a:rPr lang="en-US" altLang="ko-KR" dirty="0" err="1"/>
              <a:t>EKS</a:t>
            </a:r>
            <a:r>
              <a:rPr lang="ko-KR" altLang="en-US" dirty="0"/>
              <a:t>에 대해</a:t>
            </a:r>
            <a:r>
              <a:rPr lang="en-US" altLang="ko-KR" dirty="0"/>
              <a:t>...</a:t>
            </a:r>
          </a:p>
          <a:p>
            <a:pPr lvl="2"/>
            <a:r>
              <a:rPr lang="en-US" altLang="ko-KR" dirty="0"/>
              <a:t>AWS</a:t>
            </a:r>
            <a:r>
              <a:rPr lang="ko-KR" altLang="en-US" dirty="0"/>
              <a:t>에 구성하는 가상의 사설 네트워크</a:t>
            </a:r>
            <a:endParaRPr lang="en-US" altLang="ko-KR" dirty="0"/>
          </a:p>
          <a:p>
            <a:pPr lvl="2"/>
            <a:r>
              <a:rPr lang="en-US" altLang="ko-KR" dirty="0"/>
              <a:t>AWS</a:t>
            </a:r>
            <a:r>
              <a:rPr lang="ko-KR" altLang="en-US" dirty="0"/>
              <a:t>에서 </a:t>
            </a:r>
            <a:r>
              <a:rPr lang="en-US" altLang="ko-KR" dirty="0" err="1"/>
              <a:t>EC2</a:t>
            </a:r>
            <a:r>
              <a:rPr lang="ko-KR" altLang="en-US" dirty="0"/>
              <a:t>와 같은 가상머신을 생성하기 위해 </a:t>
            </a:r>
            <a:r>
              <a:rPr lang="en-US" altLang="ko-KR" dirty="0" err="1"/>
              <a:t>VPC</a:t>
            </a:r>
            <a:r>
              <a:rPr lang="ko-KR" altLang="en-US" dirty="0"/>
              <a:t>를 생성하고 내부에 가용영역</a:t>
            </a:r>
            <a:r>
              <a:rPr lang="en-US" altLang="ko-KR" dirty="0"/>
              <a:t>(Availability Zone)</a:t>
            </a:r>
            <a:r>
              <a:rPr lang="ko-KR" altLang="en-US" dirty="0"/>
              <a:t> 별로 서브넷이라는 네트웍을 구성한 다음 서브넷에 </a:t>
            </a:r>
            <a:r>
              <a:rPr lang="en-US" altLang="ko-KR" dirty="0" err="1"/>
              <a:t>EC2</a:t>
            </a:r>
            <a:r>
              <a:rPr lang="en-US" altLang="ko-KR" dirty="0"/>
              <a:t> </a:t>
            </a:r>
            <a:r>
              <a:rPr lang="ko-KR" altLang="en-US" dirty="0"/>
              <a:t>가상머신을 생성함</a:t>
            </a:r>
            <a:endParaRPr lang="en-US" altLang="ko-KR" dirty="0"/>
          </a:p>
          <a:p>
            <a:pPr lvl="2"/>
            <a:r>
              <a:rPr lang="en-US" altLang="ko-KR" dirty="0"/>
              <a:t>AWS</a:t>
            </a:r>
            <a:r>
              <a:rPr lang="ko-KR" altLang="en-US" dirty="0"/>
              <a:t> </a:t>
            </a:r>
            <a:r>
              <a:rPr lang="en-US" altLang="ko-KR" dirty="0" err="1"/>
              <a:t>EKS</a:t>
            </a:r>
            <a:r>
              <a:rPr lang="ko-KR" altLang="en-US" dirty="0"/>
              <a:t>에서의 </a:t>
            </a:r>
            <a:r>
              <a:rPr lang="en-US" altLang="ko-KR" dirty="0"/>
              <a:t>Worker Node </a:t>
            </a:r>
            <a:r>
              <a:rPr lang="ko-KR" altLang="en-US" dirty="0"/>
              <a:t>역할을 </a:t>
            </a:r>
            <a:r>
              <a:rPr lang="en-US" altLang="ko-KR" dirty="0" err="1"/>
              <a:t>EC2</a:t>
            </a:r>
            <a:r>
              <a:rPr lang="en-US" altLang="ko-KR" dirty="0"/>
              <a:t> </a:t>
            </a:r>
            <a:r>
              <a:rPr lang="ko-KR" altLang="en-US" dirty="0"/>
              <a:t>가상머신이 담당함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028061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201A93-C5FC-B383-86C2-E021E498A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4.5 Azure</a:t>
            </a:r>
            <a:r>
              <a:rPr lang="ko-KR" altLang="en-US" dirty="0"/>
              <a:t> </a:t>
            </a:r>
            <a:r>
              <a:rPr lang="en-US" altLang="ko-KR" dirty="0"/>
              <a:t>AKS</a:t>
            </a:r>
            <a:r>
              <a:rPr lang="ko-KR" altLang="en-US" dirty="0"/>
              <a:t>의 </a:t>
            </a:r>
            <a:r>
              <a:rPr lang="en-US" altLang="ko-KR" dirty="0" err="1"/>
              <a:t>CNI</a:t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E867AE-72B3-6D13-5517-8F91309BB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지원하는 </a:t>
            </a:r>
            <a:r>
              <a:rPr lang="en-US" altLang="ko-KR" dirty="0" err="1"/>
              <a:t>CNI</a:t>
            </a:r>
            <a:r>
              <a:rPr lang="en-US" altLang="ko-KR" dirty="0"/>
              <a:t> </a:t>
            </a:r>
            <a:r>
              <a:rPr lang="ko-KR" altLang="en-US" dirty="0"/>
              <a:t>종류</a:t>
            </a:r>
            <a:endParaRPr lang="en-US" altLang="ko-KR" dirty="0"/>
          </a:p>
          <a:p>
            <a:pPr lvl="1"/>
            <a:r>
              <a:rPr lang="en-US" altLang="ko-KR" dirty="0"/>
              <a:t>Azure </a:t>
            </a:r>
            <a:r>
              <a:rPr lang="en-US" altLang="ko-KR" dirty="0" err="1"/>
              <a:t>CNI</a:t>
            </a:r>
            <a:endParaRPr lang="en-US" altLang="ko-KR" dirty="0"/>
          </a:p>
          <a:p>
            <a:pPr lvl="2"/>
            <a:r>
              <a:rPr lang="ko-KR" altLang="en-US" dirty="0"/>
              <a:t>비 오버레이 네트워크 방식</a:t>
            </a:r>
            <a:endParaRPr lang="en-US" altLang="ko-KR" dirty="0"/>
          </a:p>
          <a:p>
            <a:pPr lvl="2"/>
            <a:r>
              <a:rPr lang="en-US" altLang="ko-KR" dirty="0"/>
              <a:t>Pod</a:t>
            </a:r>
            <a:r>
              <a:rPr lang="ko-KR" altLang="en-US" dirty="0"/>
              <a:t>에 </a:t>
            </a:r>
            <a:r>
              <a:rPr lang="en-US" altLang="ko-KR" dirty="0" err="1"/>
              <a:t>VNET</a:t>
            </a:r>
            <a:r>
              <a:rPr lang="en-US" altLang="ko-KR" dirty="0"/>
              <a:t> </a:t>
            </a:r>
            <a:r>
              <a:rPr lang="ko-KR" altLang="en-US" dirty="0"/>
              <a:t>의 </a:t>
            </a:r>
            <a:r>
              <a:rPr lang="en-US" altLang="ko-KR" dirty="0"/>
              <a:t>IP </a:t>
            </a:r>
            <a:r>
              <a:rPr lang="ko-KR" altLang="en-US" dirty="0"/>
              <a:t>할당</a:t>
            </a:r>
            <a:endParaRPr lang="en-US" altLang="ko-KR" dirty="0"/>
          </a:p>
          <a:p>
            <a:pPr lvl="1"/>
            <a:r>
              <a:rPr lang="en-US" altLang="ko-KR" dirty="0"/>
              <a:t>Azure </a:t>
            </a:r>
            <a:r>
              <a:rPr lang="en-US" altLang="ko-KR" dirty="0" err="1"/>
              <a:t>CNI</a:t>
            </a:r>
            <a:r>
              <a:rPr lang="en-US" altLang="ko-KR" dirty="0"/>
              <a:t> </a:t>
            </a:r>
            <a:r>
              <a:rPr lang="en-US" altLang="ko-KR" dirty="0" err="1"/>
              <a:t>Overay</a:t>
            </a:r>
            <a:endParaRPr lang="en-US" altLang="ko-KR" dirty="0"/>
          </a:p>
          <a:p>
            <a:pPr lvl="2"/>
            <a:r>
              <a:rPr lang="en-US" altLang="ko-KR" dirty="0" err="1"/>
              <a:t>VXLAN</a:t>
            </a:r>
            <a:r>
              <a:rPr lang="en-US" altLang="ko-KR" dirty="0"/>
              <a:t> </a:t>
            </a:r>
            <a:r>
              <a:rPr lang="ko-KR" altLang="en-US" dirty="0"/>
              <a:t>기반의 오버레이 네트워크 방식</a:t>
            </a:r>
            <a:endParaRPr lang="en-US" altLang="ko-KR" dirty="0"/>
          </a:p>
          <a:p>
            <a:pPr lvl="2"/>
            <a:r>
              <a:rPr lang="ko-KR" altLang="en-US" dirty="0"/>
              <a:t>약간의 성능 저하 있을 수 있음</a:t>
            </a:r>
            <a:endParaRPr lang="en-US" altLang="ko-KR" dirty="0"/>
          </a:p>
          <a:p>
            <a:pPr lvl="1"/>
            <a:r>
              <a:rPr lang="en-US" altLang="ko-KR" dirty="0"/>
              <a:t>Azure </a:t>
            </a:r>
            <a:r>
              <a:rPr lang="en-US" altLang="ko-KR" dirty="0" err="1"/>
              <a:t>CNI</a:t>
            </a:r>
            <a:r>
              <a:rPr lang="en-US" altLang="ko-KR" dirty="0"/>
              <a:t> with Calico</a:t>
            </a:r>
          </a:p>
          <a:p>
            <a:pPr lvl="2"/>
            <a:r>
              <a:rPr lang="en-US" altLang="ko-KR" dirty="0"/>
              <a:t>Azure </a:t>
            </a:r>
            <a:r>
              <a:rPr lang="en-US" altLang="ko-KR" dirty="0" err="1"/>
              <a:t>CNI</a:t>
            </a:r>
            <a:r>
              <a:rPr lang="en-US" altLang="ko-KR" dirty="0"/>
              <a:t> </a:t>
            </a:r>
            <a:r>
              <a:rPr lang="ko-KR" altLang="en-US" dirty="0"/>
              <a:t>또는 </a:t>
            </a:r>
            <a:r>
              <a:rPr lang="en-US" altLang="ko-KR" dirty="0"/>
              <a:t>Azure </a:t>
            </a:r>
            <a:r>
              <a:rPr lang="en-US" altLang="ko-KR" dirty="0" err="1"/>
              <a:t>CNI</a:t>
            </a:r>
            <a:r>
              <a:rPr lang="en-US" altLang="ko-KR" dirty="0"/>
              <a:t> </a:t>
            </a:r>
            <a:r>
              <a:rPr lang="en-US" altLang="ko-KR" dirty="0" err="1"/>
              <a:t>Overay</a:t>
            </a:r>
            <a:r>
              <a:rPr lang="ko-KR" altLang="en-US" dirty="0"/>
              <a:t>와 </a:t>
            </a:r>
            <a:r>
              <a:rPr lang="en-US" altLang="ko-KR" dirty="0"/>
              <a:t>Calico</a:t>
            </a:r>
            <a:r>
              <a:rPr lang="ko-KR" altLang="en-US" dirty="0"/>
              <a:t>을 결합하여 네트워크 정책을 추가하는 네트워크 방식</a:t>
            </a:r>
            <a:endParaRPr lang="en-US" altLang="ko-KR" dirty="0"/>
          </a:p>
          <a:p>
            <a:pPr lvl="1"/>
            <a:r>
              <a:rPr lang="en-US" altLang="ko-KR" dirty="0" err="1"/>
              <a:t>Kubenet</a:t>
            </a:r>
            <a:endParaRPr lang="en-US" altLang="ko-KR" dirty="0"/>
          </a:p>
          <a:p>
            <a:pPr lvl="2"/>
            <a:r>
              <a:rPr lang="ko-KR" altLang="en-US" dirty="0"/>
              <a:t>기본 </a:t>
            </a:r>
            <a:r>
              <a:rPr lang="en-US" altLang="ko-KR" dirty="0"/>
              <a:t>Kubernetes </a:t>
            </a:r>
            <a:r>
              <a:rPr lang="ko-KR" altLang="en-US" dirty="0"/>
              <a:t>네트워크 방식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861866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330CFE-602E-4299-A479-4BA28613C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4.6 Calico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이용한 네트워크 보안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962AFE-D92F-0DBA-488B-72FC09544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일반적인 방화벽</a:t>
            </a:r>
            <a:endParaRPr lang="en-US" altLang="ko-KR" dirty="0"/>
          </a:p>
          <a:p>
            <a:pPr lvl="1"/>
            <a:r>
              <a:rPr lang="en-US" altLang="ko-KR" dirty="0"/>
              <a:t>Node </a:t>
            </a:r>
            <a:r>
              <a:rPr lang="ko-KR" altLang="en-US" dirty="0"/>
              <a:t>수준의 접근 제어</a:t>
            </a:r>
            <a:endParaRPr lang="en-US" altLang="ko-KR" dirty="0"/>
          </a:p>
          <a:p>
            <a:pPr lvl="1"/>
            <a:r>
              <a:rPr lang="en-US" altLang="ko-KR" dirty="0"/>
              <a:t>IP, TCP </a:t>
            </a:r>
            <a:r>
              <a:rPr lang="ko-KR" altLang="en-US" dirty="0"/>
              <a:t>포트 정보를 이용한 접근제어</a:t>
            </a:r>
            <a:endParaRPr lang="en-US" altLang="ko-KR" dirty="0"/>
          </a:p>
          <a:p>
            <a:r>
              <a:rPr lang="en-US" altLang="ko-KR" dirty="0"/>
              <a:t>k8s </a:t>
            </a:r>
            <a:r>
              <a:rPr lang="ko-KR" altLang="en-US" dirty="0"/>
              <a:t>환경에서 필요한 보안</a:t>
            </a:r>
            <a:endParaRPr lang="en-US" altLang="ko-KR" dirty="0"/>
          </a:p>
          <a:p>
            <a:pPr lvl="1"/>
            <a:r>
              <a:rPr lang="en-US" altLang="ko-KR" dirty="0"/>
              <a:t>Pod </a:t>
            </a:r>
            <a:r>
              <a:rPr lang="ko-KR" altLang="en-US" dirty="0"/>
              <a:t>수준의 접근제어</a:t>
            </a:r>
            <a:endParaRPr lang="en-US" altLang="ko-KR" dirty="0"/>
          </a:p>
          <a:p>
            <a:pPr lvl="1"/>
            <a:r>
              <a:rPr lang="en-US" altLang="ko-KR" dirty="0"/>
              <a:t>Label</a:t>
            </a:r>
            <a:r>
              <a:rPr lang="ko-KR" altLang="en-US" dirty="0"/>
              <a:t>을 이용한 접근 제어</a:t>
            </a:r>
            <a:endParaRPr lang="en-US" altLang="ko-KR" dirty="0"/>
          </a:p>
          <a:p>
            <a:pPr lvl="1"/>
            <a:r>
              <a:rPr lang="ko-KR" altLang="en-US" dirty="0"/>
              <a:t>이를 위해 </a:t>
            </a:r>
            <a:r>
              <a:rPr lang="en-US" altLang="ko-KR" dirty="0"/>
              <a:t>Calico Network Policy</a:t>
            </a:r>
            <a:r>
              <a:rPr lang="ko-KR" altLang="en-US" dirty="0"/>
              <a:t>를 사용할 수 있음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857412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9C5E1C-6AFE-3FA6-2AB9-5B787D521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4.6 Calico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이용한 네트워크 보안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630179-8224-A6F3-6A77-D7F33362B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Calico</a:t>
            </a:r>
            <a:r>
              <a:rPr lang="ko-KR" altLang="en-US" dirty="0"/>
              <a:t> </a:t>
            </a:r>
            <a:r>
              <a:rPr lang="en-US" altLang="ko-KR" dirty="0"/>
              <a:t>Network </a:t>
            </a:r>
            <a:r>
              <a:rPr lang="ko-KR" altLang="en-US" dirty="0"/>
              <a:t>보안 예제 실습</a:t>
            </a:r>
            <a:endParaRPr lang="en-US" altLang="ko-KR" dirty="0"/>
          </a:p>
          <a:p>
            <a:pPr lvl="1"/>
            <a:r>
              <a:rPr lang="ko-KR" altLang="en-US" dirty="0"/>
              <a:t>예제 파일 준비</a:t>
            </a:r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생성된 리소스 확인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62EAA-D005-392E-EAC0-082CABB3BC75}"/>
              </a:ext>
            </a:extLst>
          </p:cNvPr>
          <p:cNvSpPr txBox="1"/>
          <p:nvPr/>
        </p:nvSpPr>
        <p:spPr>
          <a:xfrm>
            <a:off x="805725" y="1916832"/>
            <a:ext cx="11148860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예제 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git clone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후 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backend, frontend, test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용도의 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pod(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-pod)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준비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git clone https://github.com/stepanowon/calico-policy-sample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cd calico-policy-sample</a:t>
            </a: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apply -f backend-web/k8s-backend.yaml</a:t>
            </a: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ko-KR" altLang="en-US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apply</a:t>
            </a:r>
            <a:r>
              <a:rPr lang="ko-KR" altLang="en-US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-f</a:t>
            </a:r>
            <a:r>
              <a:rPr lang="ko-KR" altLang="en-US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frontend-web/k8s-frontend.yaml</a:t>
            </a: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apply -f backend-web/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nodeapp-pod.yaml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639036-1381-E2F9-9DFF-1866B3F90E80}"/>
              </a:ext>
            </a:extLst>
          </p:cNvPr>
          <p:cNvSpPr txBox="1"/>
          <p:nvPr/>
        </p:nvSpPr>
        <p:spPr>
          <a:xfrm>
            <a:off x="805725" y="3934795"/>
            <a:ext cx="11148860" cy="255454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$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get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pods,services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NAME                                READY   STATUS    RESTARTS   AGE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pod/backend-web-68bdf65dc5-wnmcr    1/1     Running   0          49s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pod/frontend-web-644c49c747-xs5lf   2/2     Running   0          49s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pod/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           1/1     Running   0          48s</a:t>
            </a:r>
          </a:p>
          <a:p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NAME                   TYPE           CLUSTER-IP       EXTERNAL-IP     PORT(S)                       AGE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service/backend-web   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ClusterIP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10.100.24.205    &lt;none&gt;          8080/TCP                      49s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service/frontend-web  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LoadBalancer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10.101.224.240   192.168.56.51   8000:31049/TCP,80:31392/TCP   49s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service/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kubernetes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ClusterIP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    10.96.0.1        &lt;none&gt;          443/TCP                       9d</a:t>
            </a:r>
          </a:p>
        </p:txBody>
      </p:sp>
    </p:spTree>
    <p:extLst>
      <p:ext uri="{BB962C8B-B14F-4D97-AF65-F5344CB8AC3E}">
        <p14:creationId xmlns:p14="http://schemas.microsoft.com/office/powerpoint/2010/main" val="66215355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E87C1B-4ACF-2286-DAD4-8E756A99F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4.6 Calico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이용한 네트워크 보안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62CA90-275F-399E-B317-EE8DD6E9E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 아키텍처</a:t>
            </a:r>
          </a:p>
        </p:txBody>
      </p:sp>
      <p:grpSp>
        <p:nvGrpSpPr>
          <p:cNvPr id="1024" name="그룹 1023">
            <a:extLst>
              <a:ext uri="{FF2B5EF4-FFF2-40B4-BE49-F238E27FC236}">
                <a16:creationId xmlns:a16="http://schemas.microsoft.com/office/drawing/2014/main" id="{805B0AD0-AFEE-98C6-AC9A-11D82D76733C}"/>
              </a:ext>
            </a:extLst>
          </p:cNvPr>
          <p:cNvGrpSpPr/>
          <p:nvPr/>
        </p:nvGrpSpPr>
        <p:grpSpPr>
          <a:xfrm>
            <a:off x="667787" y="1556792"/>
            <a:ext cx="10712703" cy="5004557"/>
            <a:chOff x="667787" y="1556792"/>
            <a:chExt cx="10712703" cy="5004557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5C3C5226-1389-2B04-FCA2-869BE3522B18}"/>
                </a:ext>
              </a:extLst>
            </p:cNvPr>
            <p:cNvSpPr/>
            <p:nvPr/>
          </p:nvSpPr>
          <p:spPr>
            <a:xfrm>
              <a:off x="2351584" y="1556792"/>
              <a:ext cx="6264696" cy="500455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C4ABAFC-0C61-9DFA-37E5-3B6E271572A4}"/>
                </a:ext>
              </a:extLst>
            </p:cNvPr>
            <p:cNvSpPr/>
            <p:nvPr/>
          </p:nvSpPr>
          <p:spPr>
            <a:xfrm>
              <a:off x="2675620" y="2846391"/>
              <a:ext cx="5652628" cy="357094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00A09661-7247-4762-449F-E56FAC7B10A0}"/>
                </a:ext>
              </a:extLst>
            </p:cNvPr>
            <p:cNvGrpSpPr/>
            <p:nvPr/>
          </p:nvGrpSpPr>
          <p:grpSpPr>
            <a:xfrm>
              <a:off x="2675620" y="1693245"/>
              <a:ext cx="1076078" cy="1001115"/>
              <a:chOff x="2891644" y="2007678"/>
              <a:chExt cx="1076078" cy="1001115"/>
            </a:xfrm>
          </p:grpSpPr>
          <p:sp>
            <p:nvSpPr>
              <p:cNvPr id="7" name="Rounded Rectangle 11">
                <a:extLst>
                  <a:ext uri="{FF2B5EF4-FFF2-40B4-BE49-F238E27FC236}">
                    <a16:creationId xmlns:a16="http://schemas.microsoft.com/office/drawing/2014/main" id="{26EC4700-CAA1-5A9D-EE9B-F319E27BFE31}"/>
                  </a:ext>
                </a:extLst>
              </p:cNvPr>
              <p:cNvSpPr/>
              <p:nvPr/>
            </p:nvSpPr>
            <p:spPr>
              <a:xfrm>
                <a:off x="2891644" y="2007678"/>
                <a:ext cx="1076078" cy="1001115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bIns="0" rtlCol="0" anchor="b" anchorCtr="0"/>
              <a:lstStyle/>
              <a:p>
                <a:pPr algn="ctr" rtl="0"/>
                <a:r>
                  <a:rPr lang="en-US" altLang="ko-KR" sz="1600" b="1" dirty="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rPr>
                  <a:t>Calico</a:t>
                </a:r>
              </a:p>
            </p:txBody>
          </p:sp>
          <p:pic>
            <p:nvPicPr>
              <p:cNvPr id="8" name="Content Placeholder 5">
                <a:extLst>
                  <a:ext uri="{FF2B5EF4-FFF2-40B4-BE49-F238E27FC236}">
                    <a16:creationId xmlns:a16="http://schemas.microsoft.com/office/drawing/2014/main" id="{067D864A-7603-70D0-C5F2-674E7465C7F7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29614" y="2085975"/>
                <a:ext cx="623206" cy="623206"/>
              </a:xfrm>
              <a:prstGeom prst="rect">
                <a:avLst/>
              </a:prstGeom>
            </p:spPr>
          </p:pic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904A121-0EA3-A299-2315-6520F2987A45}"/>
                </a:ext>
              </a:extLst>
            </p:cNvPr>
            <p:cNvSpPr txBox="1"/>
            <p:nvPr/>
          </p:nvSpPr>
          <p:spPr>
            <a:xfrm>
              <a:off x="6476781" y="2464364"/>
              <a:ext cx="19848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dirty="0"/>
                <a:t>default</a:t>
              </a:r>
              <a:r>
                <a:rPr lang="ko-KR" altLang="en-US" sz="1600" b="1" dirty="0"/>
                <a:t> </a:t>
              </a:r>
              <a:r>
                <a:rPr lang="en-US" altLang="ko-KR" sz="1600" b="1" dirty="0"/>
                <a:t>namespace</a:t>
              </a:r>
              <a:endParaRPr lang="ko-KR" altLang="en-US" sz="1600" b="1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B04A14E-4410-8EF4-4D9B-9F0476B06C7F}"/>
                </a:ext>
              </a:extLst>
            </p:cNvPr>
            <p:cNvSpPr/>
            <p:nvPr/>
          </p:nvSpPr>
          <p:spPr>
            <a:xfrm>
              <a:off x="3435101" y="3447343"/>
              <a:ext cx="1862105" cy="234703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67D5064-0FF1-67FE-1D41-37D847E0F3D6}"/>
                </a:ext>
              </a:extLst>
            </p:cNvPr>
            <p:cNvSpPr/>
            <p:nvPr/>
          </p:nvSpPr>
          <p:spPr>
            <a:xfrm>
              <a:off x="3590320" y="3712090"/>
              <a:ext cx="1574073" cy="75175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nginx</a:t>
              </a:r>
            </a:p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80 port</a:t>
              </a:r>
              <a:endParaRPr lang="ko-KR" altLang="en-US" sz="16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F5FC4B8-0403-FEDF-924D-3777CDA6D7B0}"/>
                </a:ext>
              </a:extLst>
            </p:cNvPr>
            <p:cNvSpPr/>
            <p:nvPr/>
          </p:nvSpPr>
          <p:spPr>
            <a:xfrm>
              <a:off x="3587501" y="4719373"/>
              <a:ext cx="1574073" cy="81712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frontend-web</a:t>
              </a:r>
            </a:p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8000 port</a:t>
              </a:r>
              <a:endParaRPr lang="ko-KR" altLang="en-US" sz="16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58BD4C2E-580B-1F10-A637-B4AC04AE9D13}"/>
                </a:ext>
              </a:extLst>
            </p:cNvPr>
            <p:cNvGrpSpPr/>
            <p:nvPr/>
          </p:nvGrpSpPr>
          <p:grpSpPr>
            <a:xfrm>
              <a:off x="6236209" y="4803979"/>
              <a:ext cx="1862105" cy="1330529"/>
              <a:chOff x="7781621" y="4339082"/>
              <a:chExt cx="1862105" cy="1330529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8C8178B4-2355-5FB7-3FA9-94C25E83A19E}"/>
                  </a:ext>
                </a:extLst>
              </p:cNvPr>
              <p:cNvSpPr/>
              <p:nvPr/>
            </p:nvSpPr>
            <p:spPr>
              <a:xfrm>
                <a:off x="7781621" y="4339082"/>
                <a:ext cx="1862105" cy="133052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endParaRPr>
              </a:p>
            </p:txBody>
          </p:sp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DC75E2F1-1F60-E222-09C6-1332C2C5B2F3}"/>
                  </a:ext>
                </a:extLst>
              </p:cNvPr>
              <p:cNvSpPr/>
              <p:nvPr/>
            </p:nvSpPr>
            <p:spPr>
              <a:xfrm>
                <a:off x="7941297" y="4584100"/>
                <a:ext cx="1574073" cy="82763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rPr>
                  <a:t>backend-web</a:t>
                </a:r>
              </a:p>
              <a:p>
                <a:pPr algn="ctr"/>
                <a:r>
                  <a:rPr lang="en-US" altLang="ko-KR" sz="1600" b="1" dirty="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rPr>
                  <a:t>8080 port</a:t>
                </a:r>
                <a:endParaRPr lang="ko-KR" altLang="en-US" sz="16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endParaRPr>
              </a:p>
            </p:txBody>
          </p:sp>
        </p:grp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FB8520A5-4C07-4608-A8FC-96C16EDDD00D}"/>
                </a:ext>
              </a:extLst>
            </p:cNvPr>
            <p:cNvCxnSpPr>
              <a:cxnSpLocks/>
              <a:endCxn id="12" idx="1"/>
            </p:cNvCxnSpPr>
            <p:nvPr/>
          </p:nvCxnSpPr>
          <p:spPr>
            <a:xfrm flipV="1">
              <a:off x="1615811" y="4087969"/>
              <a:ext cx="1974509" cy="453158"/>
            </a:xfrm>
            <a:prstGeom prst="straightConnector1">
              <a:avLst/>
            </a:prstGeom>
            <a:ln w="25400">
              <a:solidFill>
                <a:srgbClr val="0070C0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33A8E686-AF13-8A53-DF3B-487DC4609FA4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1615811" y="4541127"/>
              <a:ext cx="1971690" cy="586809"/>
            </a:xfrm>
            <a:prstGeom prst="straightConnector1">
              <a:avLst/>
            </a:prstGeom>
            <a:ln w="25400">
              <a:solidFill>
                <a:srgbClr val="0070C0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841D832C-DFB7-1168-871F-07C03D947B02}"/>
                </a:ext>
              </a:extLst>
            </p:cNvPr>
            <p:cNvCxnSpPr>
              <a:cxnSpLocks/>
              <a:stCxn id="13" idx="3"/>
              <a:endCxn id="15" idx="1"/>
            </p:cNvCxnSpPr>
            <p:nvPr/>
          </p:nvCxnSpPr>
          <p:spPr>
            <a:xfrm>
              <a:off x="5161574" y="5127936"/>
              <a:ext cx="1234311" cy="334878"/>
            </a:xfrm>
            <a:prstGeom prst="straightConnector1">
              <a:avLst/>
            </a:prstGeom>
            <a:ln w="25400">
              <a:solidFill>
                <a:srgbClr val="0070C0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13848422-4055-4309-46F5-CFAF83BA8642}"/>
                </a:ext>
              </a:extLst>
            </p:cNvPr>
            <p:cNvGrpSpPr/>
            <p:nvPr/>
          </p:nvGrpSpPr>
          <p:grpSpPr>
            <a:xfrm>
              <a:off x="6251241" y="3133318"/>
              <a:ext cx="1862105" cy="1330529"/>
              <a:chOff x="7781621" y="4339082"/>
              <a:chExt cx="1862105" cy="1330529"/>
            </a:xfrm>
          </p:grpSpPr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2FE9A1A9-A1B7-CA76-A55C-81BA934252B1}"/>
                  </a:ext>
                </a:extLst>
              </p:cNvPr>
              <p:cNvSpPr/>
              <p:nvPr/>
            </p:nvSpPr>
            <p:spPr>
              <a:xfrm>
                <a:off x="7781621" y="4339082"/>
                <a:ext cx="1862105" cy="133052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endParaRP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463021D8-646D-1B97-EC19-33B77C664F85}"/>
                  </a:ext>
                </a:extLst>
              </p:cNvPr>
              <p:cNvSpPr/>
              <p:nvPr/>
            </p:nvSpPr>
            <p:spPr>
              <a:xfrm>
                <a:off x="7941297" y="4584100"/>
                <a:ext cx="1574073" cy="82763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 err="1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rPr>
                  <a:t>nodeapp</a:t>
                </a:r>
                <a:endParaRPr lang="en-US" altLang="ko-KR" sz="16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endParaRPr>
              </a:p>
              <a:p>
                <a:pPr algn="ctr"/>
                <a:r>
                  <a:rPr lang="en-US" altLang="ko-KR" sz="1600" b="1" dirty="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rPr>
                  <a:t>&lt;</a:t>
                </a:r>
                <a:r>
                  <a:rPr lang="ko-KR" altLang="en-US" sz="1600" b="1" dirty="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rPr>
                  <a:t>테스트 </a:t>
                </a:r>
                <a:r>
                  <a:rPr lang="en-US" altLang="ko-KR" sz="1600" b="1" dirty="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rPr>
                  <a:t>Pod&gt;</a:t>
                </a:r>
                <a:endParaRPr lang="ko-KR" altLang="en-US" sz="16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endParaRPr>
              </a:p>
            </p:txBody>
          </p:sp>
        </p:grp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E1249132-EE02-B048-4060-563552241215}"/>
                </a:ext>
              </a:extLst>
            </p:cNvPr>
            <p:cNvCxnSpPr>
              <a:cxnSpLocks/>
              <a:stCxn id="49" idx="2"/>
              <a:endCxn id="15" idx="0"/>
            </p:cNvCxnSpPr>
            <p:nvPr/>
          </p:nvCxnSpPr>
          <p:spPr>
            <a:xfrm flipH="1">
              <a:off x="7182922" y="4205970"/>
              <a:ext cx="15032" cy="843027"/>
            </a:xfrm>
            <a:prstGeom prst="straightConnector1">
              <a:avLst/>
            </a:prstGeom>
            <a:ln w="25400">
              <a:solidFill>
                <a:srgbClr val="0070C0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28" name="Picture 4" descr="사람 - 무료 사용자개 아이콘">
              <a:extLst>
                <a:ext uri="{FF2B5EF4-FFF2-40B4-BE49-F238E27FC236}">
                  <a16:creationId xmlns:a16="http://schemas.microsoft.com/office/drawing/2014/main" id="{A76A5360-FA1A-7477-07E7-2C5D6A7273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7787" y="3906585"/>
              <a:ext cx="1114523" cy="11145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1139A3E-9194-0D63-2E44-B1F330CB4359}"/>
                </a:ext>
              </a:extLst>
            </p:cNvPr>
            <p:cNvSpPr txBox="1"/>
            <p:nvPr/>
          </p:nvSpPr>
          <p:spPr>
            <a:xfrm>
              <a:off x="842385" y="4958658"/>
              <a:ext cx="79060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/>
                <a:t>사용자</a:t>
              </a:r>
              <a:endParaRPr lang="ko-KR" altLang="en-US" sz="1600" b="1" dirty="0"/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8A840BDD-6DB7-9340-D371-A8D616062EDD}"/>
                </a:ext>
              </a:extLst>
            </p:cNvPr>
            <p:cNvGrpSpPr/>
            <p:nvPr/>
          </p:nvGrpSpPr>
          <p:grpSpPr>
            <a:xfrm>
              <a:off x="10265967" y="3236856"/>
              <a:ext cx="1114523" cy="1390627"/>
              <a:chOff x="9154085" y="3147707"/>
              <a:chExt cx="1114523" cy="1390627"/>
            </a:xfrm>
          </p:grpSpPr>
          <p:pic>
            <p:nvPicPr>
              <p:cNvPr id="54" name="Picture 4" descr="사람 - 무료 사용자개 아이콘">
                <a:extLst>
                  <a:ext uri="{FF2B5EF4-FFF2-40B4-BE49-F238E27FC236}">
                    <a16:creationId xmlns:a16="http://schemas.microsoft.com/office/drawing/2014/main" id="{3428E3B1-035C-FD61-F617-92407674D2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54085" y="3147707"/>
                <a:ext cx="1114523" cy="11145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F5E19FE-1E19-738A-B66A-E0D957E62436}"/>
                  </a:ext>
                </a:extLst>
              </p:cNvPr>
              <p:cNvSpPr txBox="1"/>
              <p:nvPr/>
            </p:nvSpPr>
            <p:spPr>
              <a:xfrm>
                <a:off x="9328683" y="4199780"/>
                <a:ext cx="79060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600" b="1" dirty="0"/>
                  <a:t>테스터</a:t>
                </a:r>
              </a:p>
            </p:txBody>
          </p:sp>
        </p:grp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AAB76532-8BFE-F84A-4C8E-3E56DDEC25C7}"/>
                </a:ext>
              </a:extLst>
            </p:cNvPr>
            <p:cNvCxnSpPr>
              <a:cxnSpLocks/>
              <a:stCxn id="48" idx="3"/>
              <a:endCxn id="54" idx="1"/>
            </p:cNvCxnSpPr>
            <p:nvPr/>
          </p:nvCxnSpPr>
          <p:spPr>
            <a:xfrm flipV="1">
              <a:off x="8113346" y="3794118"/>
              <a:ext cx="2152621" cy="4465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dash"/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8288CB8-AE46-EFF2-A17E-A0DDACB237A4}"/>
                </a:ext>
              </a:extLst>
            </p:cNvPr>
            <p:cNvSpPr txBox="1"/>
            <p:nvPr/>
          </p:nvSpPr>
          <p:spPr>
            <a:xfrm>
              <a:off x="8872827" y="3154955"/>
              <a:ext cx="119455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/>
                <a:t>가상터미널</a:t>
              </a:r>
              <a:endParaRPr lang="en-US" altLang="ko-KR" sz="1600" b="1" dirty="0"/>
            </a:p>
            <a:p>
              <a:r>
                <a:rPr lang="ko-KR" altLang="en-US" sz="1600" b="1" dirty="0"/>
                <a:t>에뮬레이션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38FD01C-7B8D-02E4-3F9A-9DF9135DCC97}"/>
                </a:ext>
              </a:extLst>
            </p:cNvPr>
            <p:cNvSpPr txBox="1"/>
            <p:nvPr/>
          </p:nvSpPr>
          <p:spPr>
            <a:xfrm>
              <a:off x="3379713" y="5812117"/>
              <a:ext cx="198964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b="1" dirty="0">
                  <a:solidFill>
                    <a:schemeClr val="tx2"/>
                  </a:solidFill>
                </a:rPr>
                <a:t>label -&gt; app: frontend-web</a:t>
              </a:r>
              <a:endParaRPr lang="ko-KR" altLang="en-US" sz="1100" b="1" dirty="0">
                <a:solidFill>
                  <a:schemeClr val="tx2"/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5A18A14-24E9-C176-234A-DEB2D1B384E2}"/>
                </a:ext>
              </a:extLst>
            </p:cNvPr>
            <p:cNvSpPr txBox="1"/>
            <p:nvPr/>
          </p:nvSpPr>
          <p:spPr>
            <a:xfrm>
              <a:off x="6163814" y="6147945"/>
              <a:ext cx="199926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b="1" dirty="0">
                  <a:solidFill>
                    <a:schemeClr val="tx2"/>
                  </a:solidFill>
                </a:rPr>
                <a:t>label -&gt; app: backend-web</a:t>
              </a:r>
              <a:endParaRPr lang="ko-KR" altLang="en-US" sz="1100" b="1" dirty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896812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D7ADBA-4A27-1C66-FB69-C7266DBF6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4.6 Calico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이용한 네트워크 보안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1DF753-EF5B-EB1C-0FCE-9DCEF9F0B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 dirty="0"/>
              <a:t>테스트용 </a:t>
            </a:r>
            <a:r>
              <a:rPr lang="en-US" altLang="ko-KR" dirty="0"/>
              <a:t>Pod</a:t>
            </a:r>
            <a:r>
              <a:rPr lang="ko-KR" altLang="en-US" dirty="0"/>
              <a:t>에서 </a:t>
            </a:r>
            <a:r>
              <a:rPr lang="en-US" altLang="ko-KR" dirty="0"/>
              <a:t>backend-web</a:t>
            </a:r>
            <a:r>
              <a:rPr lang="ko-KR" altLang="en-US" dirty="0"/>
              <a:t> 접근 테스트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frontend-web</a:t>
            </a:r>
            <a:r>
              <a:rPr lang="ko-KR" altLang="en-US" dirty="0"/>
              <a:t>으로 직접 요청해 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CFD32A-3161-1C17-880F-DA40D85F07D1}"/>
              </a:ext>
            </a:extLst>
          </p:cNvPr>
          <p:cNvSpPr txBox="1"/>
          <p:nvPr/>
        </p:nvSpPr>
        <p:spPr>
          <a:xfrm>
            <a:off x="815793" y="1520788"/>
            <a:ext cx="11148860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Pod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에 대해 가상 터미널을 에뮬레이션해서 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backend-web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으로 직접 </a:t>
            </a:r>
            <a:r>
              <a:rPr lang="ko-KR" altLang="en-US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요청해봄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$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exec -it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-- /bin/bash</a:t>
            </a: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root@nodeapp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:/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usr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/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src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/app# 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curl http://backend-web.default.svc:8080/countries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[{"country":"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japan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","region":"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asia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","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visited":true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},{"country":"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laos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","region":"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asia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","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visited":false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},{"country":"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france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","region":"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europe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","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visited":false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},{"country":"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spain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","region":"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europe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","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visited":true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},{"country":"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egypt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","region":"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africa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","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visited":false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},{"country":"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morocco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","region":"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africa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","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visited":true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}]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4A53AA-E13F-103B-C816-3DAF7D573509}"/>
              </a:ext>
            </a:extLst>
          </p:cNvPr>
          <p:cNvSpPr txBox="1"/>
          <p:nvPr/>
        </p:nvSpPr>
        <p:spPr>
          <a:xfrm>
            <a:off x="815793" y="3779521"/>
            <a:ext cx="11148860" cy="28007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앞서 확인된 리소스에서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LoadBalancer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의 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External IP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를 이용해 접근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$ 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curl http://192.168.56.51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......(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생략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 nginx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웹서버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)</a:t>
            </a:r>
          </a:p>
          <a:p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</a:t>
            </a:r>
            <a:r>
              <a:rPr lang="ko-KR" altLang="en-US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백엔드로부터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ko-KR" altLang="en-US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응답받은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데이터로 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HTML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데이터 응답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$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curl http://192.168.56.51:8000</a:t>
            </a:r>
          </a:p>
          <a:p>
            <a:r>
              <a:rPr lang="it-IT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&lt;div&gt;</a:t>
            </a:r>
          </a:p>
          <a:p>
            <a:r>
              <a:rPr lang="it-IT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&lt;h2&gt;frontend-web sample&lt;/h2&gt;</a:t>
            </a:r>
          </a:p>
          <a:p>
            <a:r>
              <a:rPr lang="it-IT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&lt;hr /&gt;</a:t>
            </a:r>
          </a:p>
          <a:p>
            <a:r>
              <a:rPr lang="it-IT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......(</a:t>
            </a:r>
            <a:r>
              <a:rPr lang="ko-KR" altLang="en-US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생략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)</a:t>
            </a:r>
            <a:endParaRPr lang="it-IT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it-IT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&lt;/div&gt;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903992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87F5A0-A979-4410-229E-F336DEF96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4.6 Calico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이용한 네트워크 보안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9CDAE8-8FE0-649A-6596-9FC8C1480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all-</a:t>
            </a:r>
            <a:r>
              <a:rPr lang="en-US" altLang="ko-KR" dirty="0" err="1"/>
              <a:t>deny.yaml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all-</a:t>
            </a:r>
            <a:r>
              <a:rPr lang="en-US" altLang="ko-KR" dirty="0" err="1"/>
              <a:t>deny.yaml</a:t>
            </a:r>
            <a:r>
              <a:rPr lang="en-US" altLang="ko-KR" dirty="0"/>
              <a:t> </a:t>
            </a:r>
            <a:r>
              <a:rPr lang="ko-KR" altLang="en-US" dirty="0"/>
              <a:t>적용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A9E849-24BC-298B-D639-78A5D016904D}"/>
              </a:ext>
            </a:extLst>
          </p:cNvPr>
          <p:cNvSpPr txBox="1"/>
          <p:nvPr/>
        </p:nvSpPr>
        <p:spPr>
          <a:xfrm>
            <a:off x="623392" y="1592796"/>
            <a:ext cx="7812868" cy="255454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apiVersion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: networking.k8s.io/v1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kind: 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NetworkPolicy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metadata: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name: all-deny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namespace: default</a:t>
            </a:r>
          </a:p>
          <a:p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spec: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podSelector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 {}		#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모든 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Pod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선택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</a:t>
            </a:r>
            <a:r>
              <a:rPr lang="en-US" altLang="ko-KR" sz="16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policyTypes</a:t>
            </a:r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		# Ingress, Egress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모두 접근이 불가능함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- Ingress</a:t>
            </a: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- Egress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15B0FE-F06A-0456-1DFD-BB6E5E8F36CB}"/>
              </a:ext>
            </a:extLst>
          </p:cNvPr>
          <p:cNvSpPr txBox="1"/>
          <p:nvPr/>
        </p:nvSpPr>
        <p:spPr>
          <a:xfrm>
            <a:off x="611652" y="5095927"/>
            <a:ext cx="7812868" cy="132343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모두 거부 정책 적용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apply -f calico-policy/all-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deny.yaml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테스트 후 반드시 제거할 것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ko-KR" altLang="en-US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delete -f calico-policy/all-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deny.yaml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395487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582BCC-D1EE-A557-D487-FCEA3D9BF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4.6 Calico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이용한 네트워크 보안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7AD8DA-19D5-B87F-EBE2-BD336EA8F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all-</a:t>
            </a:r>
            <a:r>
              <a:rPr lang="en-US" altLang="ko-KR" dirty="0" err="1"/>
              <a:t>deny.yaml</a:t>
            </a:r>
            <a:r>
              <a:rPr lang="en-US" altLang="ko-KR" dirty="0"/>
              <a:t> </a:t>
            </a:r>
            <a:r>
              <a:rPr lang="ko-KR" altLang="en-US" dirty="0"/>
              <a:t>적용 결과</a:t>
            </a:r>
            <a:r>
              <a:rPr lang="en-US" altLang="ko-KR" dirty="0"/>
              <a:t> </a:t>
            </a:r>
            <a:endParaRPr lang="ko-KR" altLang="en-US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370CFE8-FE3F-51DA-09C8-B1F2EC9012C4}"/>
              </a:ext>
            </a:extLst>
          </p:cNvPr>
          <p:cNvGrpSpPr/>
          <p:nvPr/>
        </p:nvGrpSpPr>
        <p:grpSpPr>
          <a:xfrm>
            <a:off x="667787" y="1556792"/>
            <a:ext cx="10712703" cy="5004557"/>
            <a:chOff x="667787" y="1556792"/>
            <a:chExt cx="10712703" cy="5004557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348F40B3-2496-D0D7-A20D-6B17D9022851}"/>
                </a:ext>
              </a:extLst>
            </p:cNvPr>
            <p:cNvSpPr/>
            <p:nvPr/>
          </p:nvSpPr>
          <p:spPr>
            <a:xfrm>
              <a:off x="2351584" y="1556792"/>
              <a:ext cx="6264696" cy="500455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EC51D1FC-0328-C531-93EC-A3BF77427EF8}"/>
                </a:ext>
              </a:extLst>
            </p:cNvPr>
            <p:cNvSpPr/>
            <p:nvPr/>
          </p:nvSpPr>
          <p:spPr>
            <a:xfrm>
              <a:off x="2675620" y="2846391"/>
              <a:ext cx="5652628" cy="357094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55BE6233-B638-5707-27F7-850136D68F7A}"/>
                </a:ext>
              </a:extLst>
            </p:cNvPr>
            <p:cNvGrpSpPr/>
            <p:nvPr/>
          </p:nvGrpSpPr>
          <p:grpSpPr>
            <a:xfrm>
              <a:off x="2675620" y="1713114"/>
              <a:ext cx="1076078" cy="1001115"/>
              <a:chOff x="2891644" y="2027547"/>
              <a:chExt cx="1076078" cy="1001115"/>
            </a:xfrm>
          </p:grpSpPr>
          <p:sp>
            <p:nvSpPr>
              <p:cNvPr id="62" name="Rounded Rectangle 11">
                <a:extLst>
                  <a:ext uri="{FF2B5EF4-FFF2-40B4-BE49-F238E27FC236}">
                    <a16:creationId xmlns:a16="http://schemas.microsoft.com/office/drawing/2014/main" id="{6E640C6C-D5F4-E4E7-6BC7-7B0DE9270CED}"/>
                  </a:ext>
                </a:extLst>
              </p:cNvPr>
              <p:cNvSpPr/>
              <p:nvPr/>
            </p:nvSpPr>
            <p:spPr>
              <a:xfrm>
                <a:off x="2891644" y="2027547"/>
                <a:ext cx="1076078" cy="1001115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bIns="0" rtlCol="0" anchor="b" anchorCtr="0"/>
              <a:lstStyle/>
              <a:p>
                <a:pPr algn="ctr" rtl="0"/>
                <a:r>
                  <a:rPr lang="en-US" altLang="ko-KR" sz="1600" b="1" dirty="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rPr>
                  <a:t>Calico</a:t>
                </a:r>
              </a:p>
            </p:txBody>
          </p:sp>
          <p:pic>
            <p:nvPicPr>
              <p:cNvPr id="63" name="Content Placeholder 5">
                <a:extLst>
                  <a:ext uri="{FF2B5EF4-FFF2-40B4-BE49-F238E27FC236}">
                    <a16:creationId xmlns:a16="http://schemas.microsoft.com/office/drawing/2014/main" id="{AE50C77D-E5A5-9337-A96A-BD0AFC3C8225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29614" y="2105844"/>
                <a:ext cx="623206" cy="623206"/>
              </a:xfrm>
              <a:prstGeom prst="rect">
                <a:avLst/>
              </a:prstGeom>
            </p:spPr>
          </p:pic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747C916-3F88-838E-6007-2216B9FFAC6B}"/>
                </a:ext>
              </a:extLst>
            </p:cNvPr>
            <p:cNvSpPr txBox="1"/>
            <p:nvPr/>
          </p:nvSpPr>
          <p:spPr>
            <a:xfrm>
              <a:off x="6423899" y="2506178"/>
              <a:ext cx="19848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dirty="0"/>
                <a:t>default</a:t>
              </a:r>
              <a:r>
                <a:rPr lang="ko-KR" altLang="en-US" sz="1600" b="1" dirty="0"/>
                <a:t> </a:t>
              </a:r>
              <a:r>
                <a:rPr lang="en-US" altLang="ko-KR" sz="1600" b="1" dirty="0"/>
                <a:t>namespace</a:t>
              </a:r>
              <a:endParaRPr lang="ko-KR" altLang="en-US" sz="1600" b="1" dirty="0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24CFA523-63B1-B04F-0EDE-10F7630F5112}"/>
                </a:ext>
              </a:extLst>
            </p:cNvPr>
            <p:cNvSpPr/>
            <p:nvPr/>
          </p:nvSpPr>
          <p:spPr>
            <a:xfrm>
              <a:off x="3435101" y="3447343"/>
              <a:ext cx="1862105" cy="234703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36E87D5C-B309-37A4-879F-6481C36A0C53}"/>
                </a:ext>
              </a:extLst>
            </p:cNvPr>
            <p:cNvSpPr/>
            <p:nvPr/>
          </p:nvSpPr>
          <p:spPr>
            <a:xfrm>
              <a:off x="3590320" y="3712090"/>
              <a:ext cx="1574073" cy="75175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nginx</a:t>
              </a:r>
            </a:p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80 port</a:t>
              </a:r>
              <a:endParaRPr lang="ko-KR" altLang="en-US" sz="16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F76A5A2E-23AE-FAC4-7B39-0C3E5F187AE6}"/>
                </a:ext>
              </a:extLst>
            </p:cNvPr>
            <p:cNvSpPr/>
            <p:nvPr/>
          </p:nvSpPr>
          <p:spPr>
            <a:xfrm>
              <a:off x="3587501" y="4719373"/>
              <a:ext cx="1574073" cy="81712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frontend-web</a:t>
              </a:r>
            </a:p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8000 port</a:t>
              </a:r>
              <a:endParaRPr lang="ko-KR" altLang="en-US" sz="16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2D89F178-6530-40BB-6A0A-A822DE932C82}"/>
                </a:ext>
              </a:extLst>
            </p:cNvPr>
            <p:cNvGrpSpPr/>
            <p:nvPr/>
          </p:nvGrpSpPr>
          <p:grpSpPr>
            <a:xfrm>
              <a:off x="6236209" y="4803979"/>
              <a:ext cx="1862105" cy="1330529"/>
              <a:chOff x="7781621" y="4339082"/>
              <a:chExt cx="1862105" cy="1330529"/>
            </a:xfrm>
          </p:grpSpPr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7FA29C25-FABA-8271-DB6C-E8758C94A94F}"/>
                  </a:ext>
                </a:extLst>
              </p:cNvPr>
              <p:cNvSpPr/>
              <p:nvPr/>
            </p:nvSpPr>
            <p:spPr>
              <a:xfrm>
                <a:off x="7781621" y="4339082"/>
                <a:ext cx="1862105" cy="133052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endParaRPr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56FD7732-BB28-D403-EBCC-CD96750F321C}"/>
                  </a:ext>
                </a:extLst>
              </p:cNvPr>
              <p:cNvSpPr/>
              <p:nvPr/>
            </p:nvSpPr>
            <p:spPr>
              <a:xfrm>
                <a:off x="7941297" y="4584100"/>
                <a:ext cx="1574073" cy="82763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rPr>
                  <a:t>backend-web</a:t>
                </a:r>
              </a:p>
              <a:p>
                <a:pPr algn="ctr"/>
                <a:r>
                  <a:rPr lang="en-US" altLang="ko-KR" sz="1600" b="1" dirty="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rPr>
                  <a:t>8080 port</a:t>
                </a:r>
                <a:endParaRPr lang="ko-KR" altLang="en-US" sz="16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endParaRPr>
              </a:p>
            </p:txBody>
          </p:sp>
        </p:grp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301658E5-A365-1AAD-A4F4-B313ED1E6E50}"/>
                </a:ext>
              </a:extLst>
            </p:cNvPr>
            <p:cNvCxnSpPr>
              <a:cxnSpLocks/>
              <a:endCxn id="41" idx="1"/>
            </p:cNvCxnSpPr>
            <p:nvPr/>
          </p:nvCxnSpPr>
          <p:spPr>
            <a:xfrm flipV="1">
              <a:off x="1615811" y="4087969"/>
              <a:ext cx="1974509" cy="453158"/>
            </a:xfrm>
            <a:prstGeom prst="straightConnector1">
              <a:avLst/>
            </a:prstGeom>
            <a:ln w="25400">
              <a:solidFill>
                <a:srgbClr val="0070C0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BE81108E-DE7C-43B3-687E-DA482F584E5F}"/>
                </a:ext>
              </a:extLst>
            </p:cNvPr>
            <p:cNvCxnSpPr>
              <a:cxnSpLocks/>
              <a:endCxn id="42" idx="1"/>
            </p:cNvCxnSpPr>
            <p:nvPr/>
          </p:nvCxnSpPr>
          <p:spPr>
            <a:xfrm>
              <a:off x="1615811" y="4541127"/>
              <a:ext cx="1971690" cy="586809"/>
            </a:xfrm>
            <a:prstGeom prst="straightConnector1">
              <a:avLst/>
            </a:prstGeom>
            <a:ln w="25400">
              <a:solidFill>
                <a:srgbClr val="0070C0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0D1BE5E3-F5FB-85F1-9FC2-1F151175FB80}"/>
                </a:ext>
              </a:extLst>
            </p:cNvPr>
            <p:cNvCxnSpPr>
              <a:cxnSpLocks/>
              <a:stCxn id="42" idx="3"/>
              <a:endCxn id="61" idx="1"/>
            </p:cNvCxnSpPr>
            <p:nvPr/>
          </p:nvCxnSpPr>
          <p:spPr>
            <a:xfrm>
              <a:off x="5161574" y="5127936"/>
              <a:ext cx="1234311" cy="334878"/>
            </a:xfrm>
            <a:prstGeom prst="straightConnector1">
              <a:avLst/>
            </a:prstGeom>
            <a:ln w="25400">
              <a:solidFill>
                <a:srgbClr val="0070C0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1A9C7971-F12A-8E3B-603F-A359FD5B45C0}"/>
                </a:ext>
              </a:extLst>
            </p:cNvPr>
            <p:cNvGrpSpPr/>
            <p:nvPr/>
          </p:nvGrpSpPr>
          <p:grpSpPr>
            <a:xfrm>
              <a:off x="6251241" y="3133318"/>
              <a:ext cx="1862105" cy="1330529"/>
              <a:chOff x="7781621" y="4339082"/>
              <a:chExt cx="1862105" cy="1330529"/>
            </a:xfrm>
          </p:grpSpPr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52DE9F59-2DBC-3C8A-E8B6-A81AE1E86DF3}"/>
                  </a:ext>
                </a:extLst>
              </p:cNvPr>
              <p:cNvSpPr/>
              <p:nvPr/>
            </p:nvSpPr>
            <p:spPr>
              <a:xfrm>
                <a:off x="7781621" y="4339082"/>
                <a:ext cx="1862105" cy="133052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endParaRPr>
              </a:p>
            </p:txBody>
          </p:sp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CF83626B-1CF4-A204-2B81-6A95C74D2E21}"/>
                  </a:ext>
                </a:extLst>
              </p:cNvPr>
              <p:cNvSpPr/>
              <p:nvPr/>
            </p:nvSpPr>
            <p:spPr>
              <a:xfrm>
                <a:off x="7941297" y="4584100"/>
                <a:ext cx="1574073" cy="82763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 err="1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rPr>
                  <a:t>nodeapp</a:t>
                </a:r>
                <a:endParaRPr lang="en-US" altLang="ko-KR" sz="16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endParaRPr>
              </a:p>
              <a:p>
                <a:pPr algn="ctr"/>
                <a:r>
                  <a:rPr lang="en-US" altLang="ko-KR" sz="1600" b="1" dirty="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rPr>
                  <a:t>&lt;</a:t>
                </a:r>
                <a:r>
                  <a:rPr lang="ko-KR" altLang="en-US" sz="1600" b="1" dirty="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rPr>
                  <a:t>테스트 </a:t>
                </a:r>
                <a:r>
                  <a:rPr lang="en-US" altLang="ko-KR" sz="1600" b="1" dirty="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rPr>
                  <a:t>Pod&gt;</a:t>
                </a:r>
                <a:endParaRPr lang="ko-KR" altLang="en-US" sz="16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endParaRPr>
              </a:p>
            </p:txBody>
          </p:sp>
        </p:grp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DA2B31E6-F24F-874E-FEEA-44C27015F48A}"/>
                </a:ext>
              </a:extLst>
            </p:cNvPr>
            <p:cNvCxnSpPr>
              <a:cxnSpLocks/>
              <a:stCxn id="59" idx="2"/>
              <a:endCxn id="61" idx="0"/>
            </p:cNvCxnSpPr>
            <p:nvPr/>
          </p:nvCxnSpPr>
          <p:spPr>
            <a:xfrm flipH="1">
              <a:off x="7182922" y="4205970"/>
              <a:ext cx="15032" cy="843027"/>
            </a:xfrm>
            <a:prstGeom prst="straightConnector1">
              <a:avLst/>
            </a:prstGeom>
            <a:ln w="25400">
              <a:solidFill>
                <a:srgbClr val="0070C0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9" name="Picture 4" descr="사람 - 무료 사용자개 아이콘">
              <a:extLst>
                <a:ext uri="{FF2B5EF4-FFF2-40B4-BE49-F238E27FC236}">
                  <a16:creationId xmlns:a16="http://schemas.microsoft.com/office/drawing/2014/main" id="{407C4915-019A-96AA-55ED-695DB793DA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7787" y="3906585"/>
              <a:ext cx="1114523" cy="11145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9904F86-0CB4-7597-816F-0DFF6A6463B6}"/>
                </a:ext>
              </a:extLst>
            </p:cNvPr>
            <p:cNvSpPr txBox="1"/>
            <p:nvPr/>
          </p:nvSpPr>
          <p:spPr>
            <a:xfrm>
              <a:off x="842385" y="4958658"/>
              <a:ext cx="79060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/>
                <a:t>사용자</a:t>
              </a:r>
              <a:endParaRPr lang="ko-KR" altLang="en-US" sz="1600" b="1" dirty="0"/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D750A9C1-6749-58E9-1820-2259821AAF75}"/>
                </a:ext>
              </a:extLst>
            </p:cNvPr>
            <p:cNvGrpSpPr/>
            <p:nvPr/>
          </p:nvGrpSpPr>
          <p:grpSpPr>
            <a:xfrm>
              <a:off x="10265967" y="3236856"/>
              <a:ext cx="1114523" cy="1390627"/>
              <a:chOff x="9154085" y="3147707"/>
              <a:chExt cx="1114523" cy="1390627"/>
            </a:xfrm>
          </p:grpSpPr>
          <p:pic>
            <p:nvPicPr>
              <p:cNvPr id="56" name="Picture 4" descr="사람 - 무료 사용자개 아이콘">
                <a:extLst>
                  <a:ext uri="{FF2B5EF4-FFF2-40B4-BE49-F238E27FC236}">
                    <a16:creationId xmlns:a16="http://schemas.microsoft.com/office/drawing/2014/main" id="{CBE0694F-5F39-873B-60AE-0561A0CFA7E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54085" y="3147707"/>
                <a:ext cx="1114523" cy="11145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71777E6-AD87-B9F0-5733-E6A1996E3BE0}"/>
                  </a:ext>
                </a:extLst>
              </p:cNvPr>
              <p:cNvSpPr txBox="1"/>
              <p:nvPr/>
            </p:nvSpPr>
            <p:spPr>
              <a:xfrm>
                <a:off x="9328683" y="4199780"/>
                <a:ext cx="79060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600" b="1" dirty="0"/>
                  <a:t>테스터</a:t>
                </a:r>
              </a:p>
            </p:txBody>
          </p:sp>
        </p:grp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DAE2D4D3-4737-2A69-BA8A-EF446F42281A}"/>
                </a:ext>
              </a:extLst>
            </p:cNvPr>
            <p:cNvCxnSpPr>
              <a:cxnSpLocks/>
              <a:stCxn id="58" idx="3"/>
              <a:endCxn id="56" idx="1"/>
            </p:cNvCxnSpPr>
            <p:nvPr/>
          </p:nvCxnSpPr>
          <p:spPr>
            <a:xfrm flipV="1">
              <a:off x="8113346" y="3794118"/>
              <a:ext cx="2152621" cy="4465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dash"/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9D1E9E2-BCB4-793C-7AF5-2D4CB98FF877}"/>
                </a:ext>
              </a:extLst>
            </p:cNvPr>
            <p:cNvSpPr txBox="1"/>
            <p:nvPr/>
          </p:nvSpPr>
          <p:spPr>
            <a:xfrm>
              <a:off x="8872827" y="3154955"/>
              <a:ext cx="119455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/>
                <a:t>가상터미널</a:t>
              </a:r>
              <a:endParaRPr lang="en-US" altLang="ko-KR" sz="1600" b="1" dirty="0"/>
            </a:p>
            <a:p>
              <a:r>
                <a:rPr lang="ko-KR" altLang="en-US" sz="1600" b="1" dirty="0"/>
                <a:t>에뮬레이션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48D77DD-B744-97D7-3625-721896FE2803}"/>
                </a:ext>
              </a:extLst>
            </p:cNvPr>
            <p:cNvSpPr txBox="1"/>
            <p:nvPr/>
          </p:nvSpPr>
          <p:spPr>
            <a:xfrm>
              <a:off x="3379713" y="5812117"/>
              <a:ext cx="198964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b="1" dirty="0">
                  <a:solidFill>
                    <a:schemeClr val="tx2"/>
                  </a:solidFill>
                </a:rPr>
                <a:t>label -&gt; app: frontend-web</a:t>
              </a:r>
              <a:endParaRPr lang="ko-KR" altLang="en-US" sz="1100" b="1" dirty="0">
                <a:solidFill>
                  <a:schemeClr val="tx2"/>
                </a:solidFill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7A28DF5-BC08-5F19-9D11-D161BF3A2C4A}"/>
                </a:ext>
              </a:extLst>
            </p:cNvPr>
            <p:cNvSpPr txBox="1"/>
            <p:nvPr/>
          </p:nvSpPr>
          <p:spPr>
            <a:xfrm>
              <a:off x="6163814" y="6147945"/>
              <a:ext cx="199926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b="1" dirty="0">
                  <a:solidFill>
                    <a:schemeClr val="tx2"/>
                  </a:solidFill>
                </a:rPr>
                <a:t>label -&gt; app: backend-web</a:t>
              </a:r>
              <a:endParaRPr lang="ko-KR" altLang="en-US" sz="1100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64" name="&quot;허용 안 됨&quot; 기호 63">
            <a:extLst>
              <a:ext uri="{FF2B5EF4-FFF2-40B4-BE49-F238E27FC236}">
                <a16:creationId xmlns:a16="http://schemas.microsoft.com/office/drawing/2014/main" id="{9E172ED0-C87F-DCB8-9BFC-026F4F7A9C01}"/>
              </a:ext>
            </a:extLst>
          </p:cNvPr>
          <p:cNvSpPr/>
          <p:nvPr/>
        </p:nvSpPr>
        <p:spPr>
          <a:xfrm>
            <a:off x="2616912" y="4015960"/>
            <a:ext cx="468052" cy="468053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5" name="&quot;허용 안 됨&quot; 기호 64">
            <a:extLst>
              <a:ext uri="{FF2B5EF4-FFF2-40B4-BE49-F238E27FC236}">
                <a16:creationId xmlns:a16="http://schemas.microsoft.com/office/drawing/2014/main" id="{6A30472F-4397-E631-F54F-E8594D399C79}"/>
              </a:ext>
            </a:extLst>
          </p:cNvPr>
          <p:cNvSpPr/>
          <p:nvPr/>
        </p:nvSpPr>
        <p:spPr>
          <a:xfrm>
            <a:off x="2616912" y="4625865"/>
            <a:ext cx="468052" cy="468053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6" name="&quot;허용 안 됨&quot; 기호 65">
            <a:extLst>
              <a:ext uri="{FF2B5EF4-FFF2-40B4-BE49-F238E27FC236}">
                <a16:creationId xmlns:a16="http://schemas.microsoft.com/office/drawing/2014/main" id="{FCE89825-06FC-ABFB-732C-54CEFDD17178}"/>
              </a:ext>
            </a:extLst>
          </p:cNvPr>
          <p:cNvSpPr/>
          <p:nvPr/>
        </p:nvSpPr>
        <p:spPr>
          <a:xfrm>
            <a:off x="5501934" y="5068445"/>
            <a:ext cx="468052" cy="468053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7" name="&quot;허용 안 됨&quot; 기호 66">
            <a:extLst>
              <a:ext uri="{FF2B5EF4-FFF2-40B4-BE49-F238E27FC236}">
                <a16:creationId xmlns:a16="http://schemas.microsoft.com/office/drawing/2014/main" id="{F304684D-893F-6B1F-2C29-D5039CDCD5DD}"/>
              </a:ext>
            </a:extLst>
          </p:cNvPr>
          <p:cNvSpPr/>
          <p:nvPr/>
        </p:nvSpPr>
        <p:spPr>
          <a:xfrm>
            <a:off x="6948267" y="4399887"/>
            <a:ext cx="468052" cy="468053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89212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9C0037-0FFF-0E96-5347-E1608C0A6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4.6 Calico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이용한 네트워크 보안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6796C5-12C1-DDA5-1B56-633D6B9CB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원하는 네트워크 보안 정책의 기능</a:t>
            </a:r>
            <a:endParaRPr lang="en-US" altLang="ko-KR" dirty="0"/>
          </a:p>
          <a:p>
            <a:pPr lvl="1"/>
            <a:r>
              <a:rPr lang="en-US" altLang="ko-KR" dirty="0"/>
              <a:t>frontend-web</a:t>
            </a:r>
          </a:p>
          <a:p>
            <a:pPr lvl="2"/>
            <a:r>
              <a:rPr lang="ko-KR" altLang="en-US" dirty="0"/>
              <a:t>외부에서 </a:t>
            </a:r>
            <a:r>
              <a:rPr lang="en-US" altLang="ko-KR" dirty="0"/>
              <a:t>8000 </a:t>
            </a:r>
            <a:r>
              <a:rPr lang="ko-KR" altLang="en-US" dirty="0"/>
              <a:t>포트만 접근 가능하도록 설정</a:t>
            </a:r>
            <a:endParaRPr lang="en-US" altLang="ko-KR" dirty="0"/>
          </a:p>
          <a:p>
            <a:pPr lvl="1"/>
            <a:r>
              <a:rPr lang="en-US" altLang="ko-KR" dirty="0"/>
              <a:t>backend-web</a:t>
            </a:r>
          </a:p>
          <a:p>
            <a:pPr lvl="2"/>
            <a:r>
              <a:rPr lang="en-US" altLang="ko-KR" dirty="0"/>
              <a:t>app: frontend-web </a:t>
            </a:r>
            <a:r>
              <a:rPr lang="ko-KR" altLang="en-US" dirty="0"/>
              <a:t>레이블을 가진 </a:t>
            </a:r>
            <a:r>
              <a:rPr lang="en-US" altLang="ko-KR" dirty="0"/>
              <a:t>Pod</a:t>
            </a:r>
            <a:r>
              <a:rPr lang="ko-KR" altLang="en-US" dirty="0"/>
              <a:t>만 </a:t>
            </a:r>
            <a:r>
              <a:rPr lang="en-US" altLang="ko-KR" dirty="0"/>
              <a:t>app: backend-web </a:t>
            </a:r>
            <a:r>
              <a:rPr lang="ko-KR" altLang="en-US" dirty="0"/>
              <a:t>레이블을 가진 </a:t>
            </a:r>
            <a:r>
              <a:rPr lang="en-US" altLang="ko-KR" dirty="0"/>
              <a:t>Pod</a:t>
            </a:r>
            <a:r>
              <a:rPr lang="ko-KR" altLang="en-US" dirty="0"/>
              <a:t>에 접근할 수 있도록 함</a:t>
            </a:r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E165AD-01DD-FD4E-E00A-9D28FE16B64C}"/>
              </a:ext>
            </a:extLst>
          </p:cNvPr>
          <p:cNvSpPr txBox="1"/>
          <p:nvPr/>
        </p:nvSpPr>
        <p:spPr>
          <a:xfrm>
            <a:off x="849656" y="3056252"/>
            <a:ext cx="5246344" cy="310854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apply -f calico-policy/frontend-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policy.yaml</a:t>
            </a:r>
            <a:endParaRPr lang="en-US" altLang="ko-KR" sz="14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apiVersion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 networking.k8s.io/v1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kind: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NetworkPolicy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metadata: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name: frontend-policy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namespace: default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spec: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podSelector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matchLabels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app: frontend-web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ingress: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- ports: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- port: 8000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from: []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F3F179-ECFF-49FD-520B-B1E69B601802}"/>
              </a:ext>
            </a:extLst>
          </p:cNvPr>
          <p:cNvSpPr txBox="1"/>
          <p:nvPr/>
        </p:nvSpPr>
        <p:spPr>
          <a:xfrm>
            <a:off x="6253991" y="3059516"/>
            <a:ext cx="5721903" cy="332398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apply -f calico-policy/backend-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policy.yaml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apiVersion</a:t>
            </a:r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: networking.k8s.io/v1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kind: </a:t>
            </a:r>
            <a:r>
              <a:rPr lang="en-US" altLang="ko-KR" sz="14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NetworkPolicy</a:t>
            </a:r>
            <a:endParaRPr lang="en-US" altLang="ko-KR" sz="14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metadata: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name: backend-policy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  namespace: default</a:t>
            </a:r>
          </a:p>
          <a:p>
            <a:r>
              <a:rPr lang="en-US" altLang="ko-KR" sz="1400" dirty="0">
                <a:latin typeface="굴림체" panose="020B0609000101010101" pitchFamily="49" charset="-127"/>
                <a:ea typeface="굴림체" panose="020B0609000101010101" pitchFamily="49" charset="-127"/>
              </a:rPr>
              <a:t>spec: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podSelector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matchLabels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app: backend-web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ingress: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- from: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-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podSelector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</a:t>
            </a:r>
            <a:r>
              <a:rPr lang="en-US" altLang="ko-KR" sz="14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matchLabels</a:t>
            </a:r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</a:p>
          <a:p>
            <a:r>
              <a:rPr lang="en-US" altLang="ko-KR" sz="14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             app: frontend-web</a:t>
            </a:r>
          </a:p>
        </p:txBody>
      </p:sp>
    </p:spTree>
    <p:extLst>
      <p:ext uri="{BB962C8B-B14F-4D97-AF65-F5344CB8AC3E}">
        <p14:creationId xmlns:p14="http://schemas.microsoft.com/office/powerpoint/2010/main" val="36708251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CFC65-0084-4C69-FA36-3742756F2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376C8C-6239-03C3-3869-EF2808C6C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4.6 Calico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이용한 네트워크 보안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67693F-D0AE-C96E-1466-E71E83CC6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frontend-</a:t>
            </a:r>
            <a:r>
              <a:rPr lang="en-US" altLang="ko-KR" dirty="0" err="1"/>
              <a:t>policy.yaml</a:t>
            </a:r>
            <a:r>
              <a:rPr lang="en-US" altLang="ko-KR" dirty="0"/>
              <a:t>, backend-</a:t>
            </a:r>
            <a:r>
              <a:rPr lang="en-US" altLang="ko-KR" dirty="0" err="1"/>
              <a:t>policy.yaml</a:t>
            </a:r>
            <a:r>
              <a:rPr lang="en-US" altLang="ko-KR" dirty="0"/>
              <a:t> </a:t>
            </a:r>
            <a:r>
              <a:rPr lang="ko-KR" altLang="en-US" dirty="0"/>
              <a:t>적용 결과</a:t>
            </a:r>
            <a:r>
              <a:rPr lang="en-US" altLang="ko-KR" dirty="0"/>
              <a:t> </a:t>
            </a:r>
            <a:endParaRPr lang="ko-KR" altLang="en-US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C69FC4C-9412-F9A9-D2DB-0B8AF0E81EB6}"/>
              </a:ext>
            </a:extLst>
          </p:cNvPr>
          <p:cNvGrpSpPr/>
          <p:nvPr/>
        </p:nvGrpSpPr>
        <p:grpSpPr>
          <a:xfrm>
            <a:off x="667787" y="1556792"/>
            <a:ext cx="10712703" cy="5004557"/>
            <a:chOff x="667787" y="1556792"/>
            <a:chExt cx="10712703" cy="5004557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4D1AC42A-A01C-BA3B-9377-FC2CB41D5F45}"/>
                </a:ext>
              </a:extLst>
            </p:cNvPr>
            <p:cNvSpPr/>
            <p:nvPr/>
          </p:nvSpPr>
          <p:spPr>
            <a:xfrm>
              <a:off x="2351584" y="1556792"/>
              <a:ext cx="6264696" cy="500455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B1FC7D0B-A7D4-8D19-E7D9-4E3F2FA7EC2D}"/>
                </a:ext>
              </a:extLst>
            </p:cNvPr>
            <p:cNvSpPr/>
            <p:nvPr/>
          </p:nvSpPr>
          <p:spPr>
            <a:xfrm>
              <a:off x="2675620" y="2846391"/>
              <a:ext cx="5652628" cy="357094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D6ADE63F-CCF8-4186-3975-0089A82105F8}"/>
                </a:ext>
              </a:extLst>
            </p:cNvPr>
            <p:cNvGrpSpPr/>
            <p:nvPr/>
          </p:nvGrpSpPr>
          <p:grpSpPr>
            <a:xfrm>
              <a:off x="2634684" y="1709080"/>
              <a:ext cx="1076078" cy="1001115"/>
              <a:chOff x="2850708" y="2023513"/>
              <a:chExt cx="1076078" cy="1001115"/>
            </a:xfrm>
          </p:grpSpPr>
          <p:sp>
            <p:nvSpPr>
              <p:cNvPr id="62" name="Rounded Rectangle 11">
                <a:extLst>
                  <a:ext uri="{FF2B5EF4-FFF2-40B4-BE49-F238E27FC236}">
                    <a16:creationId xmlns:a16="http://schemas.microsoft.com/office/drawing/2014/main" id="{C4A704CC-0AEB-1E8A-C755-2E2F13995460}"/>
                  </a:ext>
                </a:extLst>
              </p:cNvPr>
              <p:cNvSpPr/>
              <p:nvPr/>
            </p:nvSpPr>
            <p:spPr>
              <a:xfrm>
                <a:off x="2850708" y="2023513"/>
                <a:ext cx="1076078" cy="1001115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bIns="0" rtlCol="0" anchor="b" anchorCtr="0"/>
              <a:lstStyle/>
              <a:p>
                <a:pPr algn="ctr" rtl="0"/>
                <a:r>
                  <a:rPr lang="en-US" altLang="ko-KR" sz="1600" b="1" dirty="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rPr>
                  <a:t>Calico</a:t>
                </a:r>
              </a:p>
            </p:txBody>
          </p:sp>
          <p:pic>
            <p:nvPicPr>
              <p:cNvPr id="63" name="Content Placeholder 5">
                <a:extLst>
                  <a:ext uri="{FF2B5EF4-FFF2-40B4-BE49-F238E27FC236}">
                    <a16:creationId xmlns:a16="http://schemas.microsoft.com/office/drawing/2014/main" id="{D4DA9999-3360-A958-9918-D36D5D640EA8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88678" y="2101810"/>
                <a:ext cx="623206" cy="623206"/>
              </a:xfrm>
              <a:prstGeom prst="rect">
                <a:avLst/>
              </a:prstGeom>
            </p:spPr>
          </p:pic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246B0C6-3EEC-7615-E98B-47249AE3AC04}"/>
                </a:ext>
              </a:extLst>
            </p:cNvPr>
            <p:cNvSpPr txBox="1"/>
            <p:nvPr/>
          </p:nvSpPr>
          <p:spPr>
            <a:xfrm>
              <a:off x="6383113" y="2423817"/>
              <a:ext cx="19848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dirty="0"/>
                <a:t>default</a:t>
              </a:r>
              <a:r>
                <a:rPr lang="ko-KR" altLang="en-US" sz="1600" b="1" dirty="0"/>
                <a:t> </a:t>
              </a:r>
              <a:r>
                <a:rPr lang="en-US" altLang="ko-KR" sz="1600" b="1" dirty="0"/>
                <a:t>namespace</a:t>
              </a:r>
              <a:endParaRPr lang="ko-KR" altLang="en-US" sz="1600" b="1" dirty="0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E7185723-3F54-1A4B-BD1A-BC36EC579EF8}"/>
                </a:ext>
              </a:extLst>
            </p:cNvPr>
            <p:cNvSpPr/>
            <p:nvPr/>
          </p:nvSpPr>
          <p:spPr>
            <a:xfrm>
              <a:off x="3435101" y="3447343"/>
              <a:ext cx="1862105" cy="234703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E0C6DF5D-4E27-B697-948B-2B48AE69C6EB}"/>
                </a:ext>
              </a:extLst>
            </p:cNvPr>
            <p:cNvSpPr/>
            <p:nvPr/>
          </p:nvSpPr>
          <p:spPr>
            <a:xfrm>
              <a:off x="3590320" y="3712090"/>
              <a:ext cx="1574073" cy="75175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nginx</a:t>
              </a:r>
            </a:p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80 port</a:t>
              </a:r>
              <a:endParaRPr lang="ko-KR" altLang="en-US" sz="16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1DF31A6D-A70E-E606-34FD-EA6CBFC9A70D}"/>
                </a:ext>
              </a:extLst>
            </p:cNvPr>
            <p:cNvSpPr/>
            <p:nvPr/>
          </p:nvSpPr>
          <p:spPr>
            <a:xfrm>
              <a:off x="3587501" y="4719373"/>
              <a:ext cx="1574073" cy="81712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frontend-web</a:t>
              </a:r>
            </a:p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8000 port</a:t>
              </a:r>
              <a:endParaRPr lang="ko-KR" altLang="en-US" sz="1600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3A23AE23-6DD4-A92A-CA0D-038C2E988EDF}"/>
                </a:ext>
              </a:extLst>
            </p:cNvPr>
            <p:cNvGrpSpPr/>
            <p:nvPr/>
          </p:nvGrpSpPr>
          <p:grpSpPr>
            <a:xfrm>
              <a:off x="6236209" y="4803979"/>
              <a:ext cx="1862105" cy="1330529"/>
              <a:chOff x="7781621" y="4339082"/>
              <a:chExt cx="1862105" cy="1330529"/>
            </a:xfrm>
          </p:grpSpPr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9238C7BE-408A-8494-C1E5-99FDD1B9202E}"/>
                  </a:ext>
                </a:extLst>
              </p:cNvPr>
              <p:cNvSpPr/>
              <p:nvPr/>
            </p:nvSpPr>
            <p:spPr>
              <a:xfrm>
                <a:off x="7781621" y="4339082"/>
                <a:ext cx="1862105" cy="133052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endParaRPr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FB437E87-0088-672A-92CD-2E532816C3DB}"/>
                  </a:ext>
                </a:extLst>
              </p:cNvPr>
              <p:cNvSpPr/>
              <p:nvPr/>
            </p:nvSpPr>
            <p:spPr>
              <a:xfrm>
                <a:off x="7941297" y="4584100"/>
                <a:ext cx="1574073" cy="82763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rPr>
                  <a:t>backend-web</a:t>
                </a:r>
              </a:p>
              <a:p>
                <a:pPr algn="ctr"/>
                <a:r>
                  <a:rPr lang="en-US" altLang="ko-KR" sz="1600" b="1" dirty="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rPr>
                  <a:t>8080 port</a:t>
                </a:r>
                <a:endParaRPr lang="ko-KR" altLang="en-US" sz="16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endParaRPr>
              </a:p>
            </p:txBody>
          </p:sp>
        </p:grp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34CFA2FE-5005-01DC-FE9C-B4A5C126B40C}"/>
                </a:ext>
              </a:extLst>
            </p:cNvPr>
            <p:cNvCxnSpPr>
              <a:cxnSpLocks/>
              <a:endCxn id="41" idx="1"/>
            </p:cNvCxnSpPr>
            <p:nvPr/>
          </p:nvCxnSpPr>
          <p:spPr>
            <a:xfrm flipV="1">
              <a:off x="1615811" y="4087969"/>
              <a:ext cx="1974509" cy="453158"/>
            </a:xfrm>
            <a:prstGeom prst="straightConnector1">
              <a:avLst/>
            </a:prstGeom>
            <a:ln w="25400">
              <a:solidFill>
                <a:srgbClr val="0070C0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56201263-2D1B-4603-FA98-93D2ABF8DB0C}"/>
                </a:ext>
              </a:extLst>
            </p:cNvPr>
            <p:cNvCxnSpPr>
              <a:cxnSpLocks/>
              <a:endCxn id="42" idx="1"/>
            </p:cNvCxnSpPr>
            <p:nvPr/>
          </p:nvCxnSpPr>
          <p:spPr>
            <a:xfrm>
              <a:off x="1615811" y="4541127"/>
              <a:ext cx="1971690" cy="586809"/>
            </a:xfrm>
            <a:prstGeom prst="straightConnector1">
              <a:avLst/>
            </a:prstGeom>
            <a:ln w="25400">
              <a:solidFill>
                <a:srgbClr val="0070C0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FBC5574C-230D-287F-A3BD-03A58827F48D}"/>
                </a:ext>
              </a:extLst>
            </p:cNvPr>
            <p:cNvCxnSpPr>
              <a:cxnSpLocks/>
              <a:stCxn id="42" idx="3"/>
              <a:endCxn id="61" idx="1"/>
            </p:cNvCxnSpPr>
            <p:nvPr/>
          </p:nvCxnSpPr>
          <p:spPr>
            <a:xfrm>
              <a:off x="5161574" y="5127936"/>
              <a:ext cx="1234311" cy="334878"/>
            </a:xfrm>
            <a:prstGeom prst="straightConnector1">
              <a:avLst/>
            </a:prstGeom>
            <a:ln w="25400">
              <a:solidFill>
                <a:srgbClr val="0070C0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CE9E5C6F-E26F-69F9-FEF6-ABE412D83D68}"/>
                </a:ext>
              </a:extLst>
            </p:cNvPr>
            <p:cNvGrpSpPr/>
            <p:nvPr/>
          </p:nvGrpSpPr>
          <p:grpSpPr>
            <a:xfrm>
              <a:off x="6251241" y="3133318"/>
              <a:ext cx="1862105" cy="1330529"/>
              <a:chOff x="7781621" y="4339082"/>
              <a:chExt cx="1862105" cy="1330529"/>
            </a:xfrm>
          </p:grpSpPr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802D0DEE-B699-5F2C-33E8-E1EE81953821}"/>
                  </a:ext>
                </a:extLst>
              </p:cNvPr>
              <p:cNvSpPr/>
              <p:nvPr/>
            </p:nvSpPr>
            <p:spPr>
              <a:xfrm>
                <a:off x="7781621" y="4339082"/>
                <a:ext cx="1862105" cy="133052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endParaRPr>
              </a:p>
            </p:txBody>
          </p:sp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11C16ED6-B1B9-DF06-DBA1-7F3852AD184A}"/>
                  </a:ext>
                </a:extLst>
              </p:cNvPr>
              <p:cNvSpPr/>
              <p:nvPr/>
            </p:nvSpPr>
            <p:spPr>
              <a:xfrm>
                <a:off x="7941297" y="4584100"/>
                <a:ext cx="1574073" cy="82763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 err="1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rPr>
                  <a:t>nodeapp</a:t>
                </a:r>
                <a:endParaRPr lang="en-US" altLang="ko-KR" sz="16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endParaRPr>
              </a:p>
              <a:p>
                <a:pPr algn="ctr"/>
                <a:r>
                  <a:rPr lang="en-US" altLang="ko-KR" sz="1600" b="1" dirty="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rPr>
                  <a:t>&lt;</a:t>
                </a:r>
                <a:r>
                  <a:rPr lang="ko-KR" altLang="en-US" sz="1600" b="1" dirty="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rPr>
                  <a:t>테스트 </a:t>
                </a:r>
                <a:r>
                  <a:rPr lang="en-US" altLang="ko-KR" sz="1600" b="1" dirty="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rPr>
                  <a:t>Pod&gt;</a:t>
                </a:r>
                <a:endParaRPr lang="ko-KR" altLang="en-US" sz="1600" b="1" dirty="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endParaRPr>
              </a:p>
            </p:txBody>
          </p:sp>
        </p:grp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5523788B-7641-025B-C605-3B98D2C09EAD}"/>
                </a:ext>
              </a:extLst>
            </p:cNvPr>
            <p:cNvCxnSpPr>
              <a:cxnSpLocks/>
              <a:stCxn id="59" idx="2"/>
              <a:endCxn id="61" idx="0"/>
            </p:cNvCxnSpPr>
            <p:nvPr/>
          </p:nvCxnSpPr>
          <p:spPr>
            <a:xfrm flipH="1">
              <a:off x="7182922" y="4205970"/>
              <a:ext cx="15032" cy="843027"/>
            </a:xfrm>
            <a:prstGeom prst="straightConnector1">
              <a:avLst/>
            </a:prstGeom>
            <a:ln w="25400">
              <a:solidFill>
                <a:srgbClr val="0070C0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9" name="Picture 4" descr="사람 - 무료 사용자개 아이콘">
              <a:extLst>
                <a:ext uri="{FF2B5EF4-FFF2-40B4-BE49-F238E27FC236}">
                  <a16:creationId xmlns:a16="http://schemas.microsoft.com/office/drawing/2014/main" id="{959591C1-0167-595C-FD9A-A7056D62FF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7787" y="3906585"/>
              <a:ext cx="1114523" cy="11145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C81F751-CC57-6A8C-602B-C9E712B880C1}"/>
                </a:ext>
              </a:extLst>
            </p:cNvPr>
            <p:cNvSpPr txBox="1"/>
            <p:nvPr/>
          </p:nvSpPr>
          <p:spPr>
            <a:xfrm>
              <a:off x="842385" y="4958658"/>
              <a:ext cx="79060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/>
                <a:t>사용자</a:t>
              </a:r>
              <a:endParaRPr lang="ko-KR" altLang="en-US" sz="1600" b="1" dirty="0"/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6B47EB97-1F4D-AAA2-E8A4-7A17C19A6A76}"/>
                </a:ext>
              </a:extLst>
            </p:cNvPr>
            <p:cNvGrpSpPr/>
            <p:nvPr/>
          </p:nvGrpSpPr>
          <p:grpSpPr>
            <a:xfrm>
              <a:off x="10265967" y="3236856"/>
              <a:ext cx="1114523" cy="1390627"/>
              <a:chOff x="9154085" y="3147707"/>
              <a:chExt cx="1114523" cy="1390627"/>
            </a:xfrm>
          </p:grpSpPr>
          <p:pic>
            <p:nvPicPr>
              <p:cNvPr id="56" name="Picture 4" descr="사람 - 무료 사용자개 아이콘">
                <a:extLst>
                  <a:ext uri="{FF2B5EF4-FFF2-40B4-BE49-F238E27FC236}">
                    <a16:creationId xmlns:a16="http://schemas.microsoft.com/office/drawing/2014/main" id="{547437CF-FD7D-D173-4BC1-046B4B7546E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54085" y="3147707"/>
                <a:ext cx="1114523" cy="11145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6F0CBFB-7335-D32A-1E32-405EABE87511}"/>
                  </a:ext>
                </a:extLst>
              </p:cNvPr>
              <p:cNvSpPr txBox="1"/>
              <p:nvPr/>
            </p:nvSpPr>
            <p:spPr>
              <a:xfrm>
                <a:off x="9328683" y="4199780"/>
                <a:ext cx="79060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600" b="1" dirty="0"/>
                  <a:t>테스터</a:t>
                </a:r>
              </a:p>
            </p:txBody>
          </p:sp>
        </p:grp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A68F5590-0132-5BD9-44B0-A71DF68309D6}"/>
                </a:ext>
              </a:extLst>
            </p:cNvPr>
            <p:cNvCxnSpPr>
              <a:cxnSpLocks/>
              <a:stCxn id="58" idx="3"/>
              <a:endCxn id="56" idx="1"/>
            </p:cNvCxnSpPr>
            <p:nvPr/>
          </p:nvCxnSpPr>
          <p:spPr>
            <a:xfrm flipV="1">
              <a:off x="8113346" y="3794118"/>
              <a:ext cx="2152621" cy="4465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dash"/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451B491-1062-21D3-2086-21FC84D12118}"/>
                </a:ext>
              </a:extLst>
            </p:cNvPr>
            <p:cNvSpPr txBox="1"/>
            <p:nvPr/>
          </p:nvSpPr>
          <p:spPr>
            <a:xfrm>
              <a:off x="8872827" y="3154955"/>
              <a:ext cx="119455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/>
                <a:t>가상터미널</a:t>
              </a:r>
              <a:endParaRPr lang="en-US" altLang="ko-KR" sz="1600" b="1" dirty="0"/>
            </a:p>
            <a:p>
              <a:r>
                <a:rPr lang="ko-KR" altLang="en-US" sz="1600" b="1" dirty="0"/>
                <a:t>에뮬레이션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ACCEA0F-D00B-90BF-146B-7552E60D910C}"/>
                </a:ext>
              </a:extLst>
            </p:cNvPr>
            <p:cNvSpPr txBox="1"/>
            <p:nvPr/>
          </p:nvSpPr>
          <p:spPr>
            <a:xfrm>
              <a:off x="3379713" y="5812117"/>
              <a:ext cx="198964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b="1" dirty="0">
                  <a:solidFill>
                    <a:schemeClr val="tx2"/>
                  </a:solidFill>
                </a:rPr>
                <a:t>label -&gt; app: frontend-web</a:t>
              </a:r>
              <a:endParaRPr lang="ko-KR" altLang="en-US" sz="1100" b="1" dirty="0">
                <a:solidFill>
                  <a:schemeClr val="tx2"/>
                </a:solidFill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0D8632E-FCF9-5109-B825-19026AEBE02D}"/>
                </a:ext>
              </a:extLst>
            </p:cNvPr>
            <p:cNvSpPr txBox="1"/>
            <p:nvPr/>
          </p:nvSpPr>
          <p:spPr>
            <a:xfrm>
              <a:off x="6163814" y="6147945"/>
              <a:ext cx="199926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b="1" dirty="0">
                  <a:solidFill>
                    <a:schemeClr val="tx2"/>
                  </a:solidFill>
                </a:rPr>
                <a:t>label -&gt; app: backend-web</a:t>
              </a:r>
              <a:endParaRPr lang="ko-KR" altLang="en-US" sz="1100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64" name="&quot;허용 안 됨&quot; 기호 63">
            <a:extLst>
              <a:ext uri="{FF2B5EF4-FFF2-40B4-BE49-F238E27FC236}">
                <a16:creationId xmlns:a16="http://schemas.microsoft.com/office/drawing/2014/main" id="{32B8F0EC-91C5-8B49-2CF6-AE11A6E63A8E}"/>
              </a:ext>
            </a:extLst>
          </p:cNvPr>
          <p:cNvSpPr/>
          <p:nvPr/>
        </p:nvSpPr>
        <p:spPr>
          <a:xfrm>
            <a:off x="2616912" y="4015960"/>
            <a:ext cx="468052" cy="468053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7" name="&quot;허용 안 됨&quot; 기호 66">
            <a:extLst>
              <a:ext uri="{FF2B5EF4-FFF2-40B4-BE49-F238E27FC236}">
                <a16:creationId xmlns:a16="http://schemas.microsoft.com/office/drawing/2014/main" id="{A17A01BA-45EA-7D66-0C87-8E2E4308E7EE}"/>
              </a:ext>
            </a:extLst>
          </p:cNvPr>
          <p:cNvSpPr/>
          <p:nvPr/>
        </p:nvSpPr>
        <p:spPr>
          <a:xfrm>
            <a:off x="6948267" y="4399887"/>
            <a:ext cx="468052" cy="468053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56398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AEEEAF-A646-12FF-5E76-165D09555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4.6 Calico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이용한 네트워크 보안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114E61-3690-C0D5-55A0-ABABA66E5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테스트 완료 후 리소스 정리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5E3F6-DE17-6689-A85F-FA45F74FCCBC}"/>
              </a:ext>
            </a:extLst>
          </p:cNvPr>
          <p:cNvSpPr txBox="1"/>
          <p:nvPr/>
        </p:nvSpPr>
        <p:spPr>
          <a:xfrm>
            <a:off x="515380" y="1520788"/>
            <a:ext cx="7812868" cy="20621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 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정책 삭제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delete -f calico-policy/backend-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policy.yaml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delete -f calico-policy/frontend-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policy.yaml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#</a:t>
            </a:r>
            <a:r>
              <a:rPr lang="ko-KR" altLang="en-US" sz="16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리소스 삭제</a:t>
            </a:r>
            <a:endParaRPr lang="en-US" altLang="ko-KR" sz="1600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delete -f backend-web/k8s-backend.yaml</a:t>
            </a: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delete -f backend-web/</a:t>
            </a:r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nodeapp-pod.yaml</a:t>
            </a:r>
            <a:endParaRPr lang="en-US" altLang="ko-KR" sz="1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1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kubectl</a:t>
            </a:r>
            <a:r>
              <a:rPr lang="en-US" altLang="ko-KR" sz="1600" dirty="0">
                <a:latin typeface="굴림체" panose="020B0609000101010101" pitchFamily="49" charset="-127"/>
                <a:ea typeface="굴림체" panose="020B0609000101010101" pitchFamily="49" charset="-127"/>
              </a:rPr>
              <a:t> delete -f frontend-web/k8s-frontend.yaml</a:t>
            </a:r>
          </a:p>
        </p:txBody>
      </p:sp>
    </p:spTree>
    <p:extLst>
      <p:ext uri="{BB962C8B-B14F-4D97-AF65-F5344CB8AC3E}">
        <p14:creationId xmlns:p14="http://schemas.microsoft.com/office/powerpoint/2010/main" val="2011749329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임원세미나">
      <a:dk1>
        <a:sysClr val="windowText" lastClr="000000"/>
      </a:dk1>
      <a:lt1>
        <a:sysClr val="window" lastClr="FFFFFF"/>
      </a:lt1>
      <a:dk2>
        <a:srgbClr val="004E8E"/>
      </a:dk2>
      <a:lt2>
        <a:srgbClr val="FF8919"/>
      </a:lt2>
      <a:accent1>
        <a:srgbClr val="00A4F6"/>
      </a:accent1>
      <a:accent2>
        <a:srgbClr val="F33F1B"/>
      </a:accent2>
      <a:accent3>
        <a:srgbClr val="6FB628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51192</TotalTime>
  <Words>8738</Words>
  <Application>Microsoft Office PowerPoint</Application>
  <PresentationFormat>와이드스크린</PresentationFormat>
  <Paragraphs>1770</Paragraphs>
  <Slides>87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87</vt:i4>
      </vt:variant>
    </vt:vector>
  </HeadingPairs>
  <TitlesOfParts>
    <vt:vector size="100" baseType="lpstr">
      <vt:lpstr>Arial Unicode MS</vt:lpstr>
      <vt:lpstr>D2Coding</vt:lpstr>
      <vt:lpstr>굴림</vt:lpstr>
      <vt:lpstr>굴림체</vt:lpstr>
      <vt:lpstr>나눔고딕</vt:lpstr>
      <vt:lpstr>맑은 고딕</vt:lpstr>
      <vt:lpstr>한컴산뜻돋움</vt:lpstr>
      <vt:lpstr>휴먼모음T</vt:lpstr>
      <vt:lpstr>휴먼엑스포</vt:lpstr>
      <vt:lpstr>Arial</vt:lpstr>
      <vt:lpstr>open sans</vt:lpstr>
      <vt:lpstr>Wingdings</vt:lpstr>
      <vt:lpstr>3_Office 테마</vt:lpstr>
      <vt:lpstr>PowerPoint 프레젠테이션</vt:lpstr>
      <vt:lpstr>1. 리소스 관리</vt:lpstr>
      <vt:lpstr>1.1 Pod 리소스 관리 개요</vt:lpstr>
      <vt:lpstr>1.2 k8s metric-server 설치</vt:lpstr>
      <vt:lpstr>1.2 limits와 requests</vt:lpstr>
      <vt:lpstr>1.2 limits와 requests</vt:lpstr>
      <vt:lpstr>1.2 limits와 requests</vt:lpstr>
      <vt:lpstr>1.2 limits와 requests</vt:lpstr>
      <vt:lpstr>1.2 limits와 requests</vt:lpstr>
      <vt:lpstr>1.2 limits와 requests</vt:lpstr>
      <vt:lpstr>1.2 limits와 requests</vt:lpstr>
      <vt:lpstr>1.2 limits와 requests</vt:lpstr>
      <vt:lpstr>1.3 QoS</vt:lpstr>
      <vt:lpstr>1.3 QoS</vt:lpstr>
      <vt:lpstr>1.3 QoS</vt:lpstr>
      <vt:lpstr>1.4 CPU와 메모리에 대한 리소스 관리</vt:lpstr>
      <vt:lpstr>1.5 Resource Quota와 Limit Range</vt:lpstr>
      <vt:lpstr>1.5 Resource Quota와 Limit Range</vt:lpstr>
      <vt:lpstr>1.5 Resource Quota와 Limit Range</vt:lpstr>
      <vt:lpstr>1.5 Resource Quota와 Limit Range</vt:lpstr>
      <vt:lpstr>2. 스케줄링</vt:lpstr>
      <vt:lpstr>2.1 스케줄링 개요</vt:lpstr>
      <vt:lpstr>2.2 스케줄링 처리 흐름</vt:lpstr>
      <vt:lpstr>2.2 스케줄링 처리 흐름</vt:lpstr>
      <vt:lpstr>2.3 kube-scheduler</vt:lpstr>
      <vt:lpstr>2.3 kube-scheduler</vt:lpstr>
      <vt:lpstr>2.4 nodeSelector</vt:lpstr>
      <vt:lpstr>2.4 nodeSelector</vt:lpstr>
      <vt:lpstr>2.5 affinity, anti-affinity </vt:lpstr>
      <vt:lpstr>2.5 affinity, anti-affinity</vt:lpstr>
      <vt:lpstr>2.5 affinity, anti-affinity</vt:lpstr>
      <vt:lpstr>2.5 affinity, anti-affinity</vt:lpstr>
      <vt:lpstr>2.5 affinity, anti-affinity</vt:lpstr>
      <vt:lpstr>2.5 affinity, anti-affinity</vt:lpstr>
      <vt:lpstr>2.5 affinity, anti-affinity</vt:lpstr>
      <vt:lpstr>2.5 affinity, anti-affinity</vt:lpstr>
      <vt:lpstr>2.5 affinity, anti-affinity</vt:lpstr>
      <vt:lpstr>2.5 affinity, anti-affinity</vt:lpstr>
      <vt:lpstr>2.5 affinity, anti-affinity</vt:lpstr>
      <vt:lpstr>2.6 taints, tolerations</vt:lpstr>
      <vt:lpstr>2.6 taints, tolerations</vt:lpstr>
      <vt:lpstr>2.6 taints, tolerations</vt:lpstr>
      <vt:lpstr>2.7 priority</vt:lpstr>
      <vt:lpstr>2.7 priority</vt:lpstr>
      <vt:lpstr>2.7 priority</vt:lpstr>
      <vt:lpstr>2.7 priority</vt:lpstr>
      <vt:lpstr>3. Node 관리와 안정성 관리</vt:lpstr>
      <vt:lpstr>3.1 Cordon, Drain</vt:lpstr>
      <vt:lpstr>3.1 Cordon, Drain</vt:lpstr>
      <vt:lpstr>3.1 Cordon, Drain</vt:lpstr>
      <vt:lpstr>3.1 Cordon, Drain</vt:lpstr>
      <vt:lpstr>3.1 Cordon, Drain</vt:lpstr>
      <vt:lpstr>3.2 PDB</vt:lpstr>
      <vt:lpstr>3.2 PDB</vt:lpstr>
      <vt:lpstr>3.2 PDB</vt:lpstr>
      <vt:lpstr>3.2 PDB</vt:lpstr>
      <vt:lpstr>3.3 HPA</vt:lpstr>
      <vt:lpstr>3.3 HPA</vt:lpstr>
      <vt:lpstr>2.9 HPA</vt:lpstr>
      <vt:lpstr>3.3 HPA</vt:lpstr>
      <vt:lpstr>3.4 VPA</vt:lpstr>
      <vt:lpstr>3.4 VPA</vt:lpstr>
      <vt:lpstr>3.4 VPA</vt:lpstr>
      <vt:lpstr>3.4 VPA</vt:lpstr>
      <vt:lpstr>3.4 VPA</vt:lpstr>
      <vt:lpstr>3.4 VPA</vt:lpstr>
      <vt:lpstr>4. k8s 네트워킹</vt:lpstr>
      <vt:lpstr>4.1 k8s 네트워킹 개요</vt:lpstr>
      <vt:lpstr>4.1 k8s 네트워킹 개요</vt:lpstr>
      <vt:lpstr>4.2 CNI</vt:lpstr>
      <vt:lpstr>4.2 CNI</vt:lpstr>
      <vt:lpstr>4.2 CNI</vt:lpstr>
      <vt:lpstr>4.2 CNI</vt:lpstr>
      <vt:lpstr>4.2 CNI</vt:lpstr>
      <vt:lpstr>4.3 Calico CNI</vt:lpstr>
      <vt:lpstr>4.3 Calico CNI</vt:lpstr>
      <vt:lpstr>4.4 AWS VPC CNI</vt:lpstr>
      <vt:lpstr>4.5 Azure AKS의 CNI </vt:lpstr>
      <vt:lpstr>4.6 Calico를 이용한 네트워크 보안</vt:lpstr>
      <vt:lpstr>4.6 Calico를 이용한 네트워크 보안</vt:lpstr>
      <vt:lpstr>4.6 Calico를 이용한 네트워크 보안</vt:lpstr>
      <vt:lpstr>4.6 Calico를 이용한 네트워크 보안</vt:lpstr>
      <vt:lpstr>4.6 Calico를 이용한 네트워크 보안</vt:lpstr>
      <vt:lpstr>4.6 Calico를 이용한 네트워크 보안</vt:lpstr>
      <vt:lpstr>4.6 Calico를 이용한 네트워크 보안</vt:lpstr>
      <vt:lpstr>4.6 Calico를 이용한 네트워크 보안</vt:lpstr>
      <vt:lpstr>4.6 Calico를 이용한 네트워크 보안</vt:lpstr>
    </vt:vector>
  </TitlesOfParts>
  <Company>SDS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React_00_1_환경설정_ES2015</dc:title>
  <dc:subject>1. NOSQL</dc:subject>
  <dc:creator>Stephen Won</dc:creator>
  <cp:lastModifiedBy>Stephen Won</cp:lastModifiedBy>
  <cp:revision>4185</cp:revision>
  <dcterms:created xsi:type="dcterms:W3CDTF">2011-01-27T23:33:23Z</dcterms:created>
  <dcterms:modified xsi:type="dcterms:W3CDTF">2025-06-06T02:36:13Z</dcterms:modified>
</cp:coreProperties>
</file>